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presProps.xml" ContentType="application/vnd.openxmlformats-officedocument.presentationml.presProps+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dt" idx="1"/>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 </a:t>
            </a:r>
            <a:endParaRPr lang="en-IN" sz="1200" b="0" u="none" strike="noStrike">
              <a:solidFill>
                <a:srgbClr val="000000"/>
              </a:solidFill>
              <a:effectLst/>
              <a:uFillTx/>
              <a:latin typeface="Times New Roman"/>
            </a:endParaRPr>
          </a:p>
        </p:txBody>
      </p:sp>
      <p:sp>
        <p:nvSpPr>
          <p:cNvPr id="3" name="PlaceHolder 2"/>
          <p:cNvSpPr>
            <a:spLocks noGrp="1"/>
          </p:cNvSpPr>
          <p:nvPr>
            <p:ph type="ftr" idx="2"/>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4" name="PlaceHolder 3"/>
          <p:cNvSpPr>
            <a:spLocks noGrp="1"/>
          </p:cNvSpPr>
          <p:nvPr>
            <p:ph type="sldNum" idx="3"/>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B6B9747E-E079-4E17-9BFB-6F3F4C9D0439}" type="slidenum">
              <a:rPr lang="en-US" sz="1200" b="0" u="none" strike="noStrike">
                <a:solidFill>
                  <a:schemeClr val="dk1">
                    <a:tint val="75000"/>
                  </a:schemeClr>
                </a:solidFill>
                <a:effectLst/>
                <a:uFillTx/>
                <a:latin typeface="Calibri"/>
              </a:rPr>
              <a:t>8</a:t>
            </a:fld>
            <a:endParaRPr lang="en-IN" sz="1200" b="0" u="none" strike="noStrike">
              <a:solidFill>
                <a:srgbClr val="000000"/>
              </a:solidFill>
              <a:effectLst/>
              <a:uFillTx/>
              <a:latin typeface="Times New Roman"/>
            </a:endParaRPr>
          </a:p>
        </p:txBody>
      </p:sp>
      <p:sp>
        <p:nvSpPr>
          <p:cNvPr id="5" name="PlaceHolder 4"/>
          <p:cNvSpPr>
            <a:spLocks noGrp="1"/>
          </p:cNvSpPr>
          <p:nvPr>
            <p:ph type="title"/>
          </p:nvPr>
        </p:nvSpPr>
        <p:spPr>
          <a:xfrm>
            <a:off x="609480" y="273600"/>
            <a:ext cx="10971720" cy="1144440"/>
          </a:xfrm>
          <a:prstGeom prst="rect">
            <a:avLst/>
          </a:prstGeom>
          <a:noFill/>
          <a:ln w="0">
            <a:noFill/>
          </a:ln>
        </p:spPr>
        <p:txBody>
          <a:bodyPr lIns="0" tIns="0" rIns="0" bIns="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chemeClr val="dk1"/>
              </a:solidFill>
              <a:effectLst/>
              <a:uFillTx/>
              <a:latin typeface="Calibri"/>
            </a:endParaRPr>
          </a:p>
        </p:txBody>
      </p:sp>
      <p:sp>
        <p:nvSpPr>
          <p:cNvPr id="6" name="PlaceHolder 5"/>
          <p:cNvSpPr>
            <a:spLocks noGrp="1"/>
          </p:cNvSpPr>
          <p:nvPr>
            <p:ph type="body"/>
          </p:nvPr>
        </p:nvSpPr>
        <p:spPr>
          <a:xfrm>
            <a:off x="609480" y="1604520"/>
            <a:ext cx="10971720" cy="3976920"/>
          </a:xfrm>
          <a:prstGeom prst="rect">
            <a:avLst/>
          </a:prstGeom>
          <a:noFill/>
          <a:ln w="0">
            <a:noFill/>
          </a:ln>
        </p:spPr>
        <p:txBody>
          <a:bodyPr lIns="0" tIns="0" rIns="0" bIns="0" anchor="t">
            <a:norm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lnSpc>
                <a:spcPct val="100000"/>
              </a:lnSpc>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lnSpc>
                <a:spcPct val="100000"/>
              </a:lnSpc>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lnSpc>
                <a:spcPct val="100000"/>
              </a:lnSpc>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lnSpc>
                <a:spcPct val="100000"/>
              </a:lnSpc>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Ovr>
    <a:masterClrMapping/>
  </p:clrMapOvr>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2880"/>
            <a:ext cx="3007440" cy="116136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2000" b="1" u="none" strike="noStrike">
                <a:solidFill>
                  <a:schemeClr val="dk1"/>
                </a:solidFill>
                <a:effectLst/>
                <a:uFillTx/>
                <a:latin typeface="Calibri"/>
              </a:defRPr>
            </a:lvl1pPr>
          </a:lstStyle>
          <a:p>
            <a:pPr indent="0" algn="l" defTabSz="457200">
              <a:lnSpc>
                <a:spcPct val="100000"/>
              </a:lnSpc>
              <a:buNone/>
              <a:tabLst>
                <a:tab pos="0" algn="l"/>
              </a:tabLst>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8" name="PlaceHolder 2"/>
          <p:cNvSpPr>
            <a:spLocks noGrp="1"/>
          </p:cNvSpPr>
          <p:nvPr>
            <p:ph type="body"/>
          </p:nvPr>
        </p:nvSpPr>
        <p:spPr>
          <a:xfrm>
            <a:off x="3575160" y="272880"/>
            <a:ext cx="5110920" cy="585252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9" name="PlaceHolder 3"/>
          <p:cNvSpPr>
            <a:spLocks noGrp="1"/>
          </p:cNvSpPr>
          <p:nvPr>
            <p:ph type="body"/>
          </p:nvPr>
        </p:nvSpPr>
        <p:spPr>
          <a:xfrm>
            <a:off x="457200" y="1434960"/>
            <a:ext cx="3007440" cy="469044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10" name="PlaceHolder 4"/>
          <p:cNvSpPr>
            <a:spLocks noGrp="1"/>
          </p:cNvSpPr>
          <p:nvPr>
            <p:ph type="dt" idx="4"/>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11" name="PlaceHolder 5"/>
          <p:cNvSpPr>
            <a:spLocks noGrp="1"/>
          </p:cNvSpPr>
          <p:nvPr>
            <p:ph type="ftr" idx="5"/>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2" name="PlaceHolder 6"/>
          <p:cNvSpPr>
            <a:spLocks noGrp="1"/>
          </p:cNvSpPr>
          <p:nvPr>
            <p:ph type="sldNum" idx="6"/>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D00E329C-E3F7-47D5-82B2-DFEE7E4C8C9A}"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1792440" y="4800600"/>
            <a:ext cx="5485680" cy="56592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2000" b="1" u="none" strike="noStrike">
                <a:solidFill>
                  <a:schemeClr val="dk1"/>
                </a:solidFill>
                <a:effectLst/>
                <a:uFillTx/>
                <a:latin typeface="Calibri"/>
              </a:defRPr>
            </a:lvl1pPr>
          </a:lstStyle>
          <a:p>
            <a:pPr indent="0" algn="l" defTabSz="457200">
              <a:lnSpc>
                <a:spcPct val="100000"/>
              </a:lnSpc>
              <a:buNone/>
              <a:tabLst>
                <a:tab pos="0" algn="l"/>
              </a:tabLst>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14" name="PlaceHolder 2"/>
          <p:cNvSpPr>
            <a:spLocks noGrp="1"/>
          </p:cNvSpPr>
          <p:nvPr>
            <p:ph type="pic"/>
          </p:nvPr>
        </p:nvSpPr>
        <p:spPr>
          <a:xfrm>
            <a:off x="1792440" y="612720"/>
            <a:ext cx="5485680" cy="4114080"/>
          </a:xfrm>
          <a:prstGeom prst="rect">
            <a:avLst/>
          </a:prstGeom>
          <a:noFill/>
          <a:ln w="0">
            <a:noFill/>
          </a:ln>
        </p:spPr>
        <p:txBody>
          <a:bodyPr lIns="90000" tIns="45000" rIns="90000" bIns="45000" anchor="t">
            <a:noAutofit/>
          </a:bodyPr>
          <a:p>
            <a:pPr indent="0" algn="l">
              <a:buNone/>
            </a:pPr>
            <a:r>
              <a:rPr lang="en-IN" sz="1800" b="0" u="none" strike="noStrike">
                <a:solidFill>
                  <a:srgbClr val="000000"/>
                </a:solidFill>
                <a:effectLst/>
                <a:uFillTx/>
                <a:latin typeface="Arial"/>
              </a:rPr>
              <a:t>Double-click to add an Image</a:t>
            </a:r>
            <a:endParaRPr lang="en-IN" sz="1800" b="0" u="none" strike="noStrike">
              <a:solidFill>
                <a:srgbClr val="000000"/>
              </a:solidFill>
              <a:effectLst/>
              <a:uFillTx/>
              <a:latin typeface="Arial"/>
            </a:endParaRPr>
          </a:p>
        </p:txBody>
      </p:sp>
      <p:sp>
        <p:nvSpPr>
          <p:cNvPr id="15" name="PlaceHolder 3"/>
          <p:cNvSpPr>
            <a:spLocks noGrp="1"/>
          </p:cNvSpPr>
          <p:nvPr>
            <p:ph type="body"/>
          </p:nvPr>
        </p:nvSpPr>
        <p:spPr>
          <a:xfrm>
            <a:off x="1792440" y="5367240"/>
            <a:ext cx="5485680" cy="80424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16" name="PlaceHolder 4"/>
          <p:cNvSpPr>
            <a:spLocks noGrp="1"/>
          </p:cNvSpPr>
          <p:nvPr>
            <p:ph type="dt" idx="7"/>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17" name="PlaceHolder 5"/>
          <p:cNvSpPr>
            <a:spLocks noGrp="1"/>
          </p:cNvSpPr>
          <p:nvPr>
            <p:ph type="ftr" idx="8"/>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8" name="PlaceHolder 6"/>
          <p:cNvSpPr>
            <a:spLocks noGrp="1"/>
          </p:cNvSpPr>
          <p:nvPr>
            <p:ph type="sldNum" idx="9"/>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5770F488-E9ED-481D-B2C3-1735C57E0626}"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685800" y="2130480"/>
            <a:ext cx="7771680" cy="146916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0" name="PlaceHolder 2"/>
          <p:cNvSpPr>
            <a:spLocks noGrp="1"/>
          </p:cNvSpPr>
          <p:nvPr>
            <p:ph type="dt" idx="10"/>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21" name="PlaceHolder 3"/>
          <p:cNvSpPr>
            <a:spLocks noGrp="1"/>
          </p:cNvSpPr>
          <p:nvPr>
            <p:ph type="ftr" idx="11"/>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2" name="PlaceHolder 4"/>
          <p:cNvSpPr>
            <a:spLocks noGrp="1"/>
          </p:cNvSpPr>
          <p:nvPr>
            <p:ph type="sldNum" idx="12"/>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DE91E812-3182-4397-B08A-B9304858FC88}"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4" name="PlaceHolder 2"/>
          <p:cNvSpPr>
            <a:spLocks noGrp="1"/>
          </p:cNvSpPr>
          <p:nvPr>
            <p:ph type="body"/>
          </p:nvPr>
        </p:nvSpPr>
        <p:spPr>
          <a:xfrm>
            <a:off x="457200" y="1600200"/>
            <a:ext cx="8228880" cy="452520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25" name="PlaceHolder 3"/>
          <p:cNvSpPr>
            <a:spLocks noGrp="1"/>
          </p:cNvSpPr>
          <p:nvPr>
            <p:ph type="dt" idx="13"/>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26" name="PlaceHolder 4"/>
          <p:cNvSpPr>
            <a:spLocks noGrp="1"/>
          </p:cNvSpPr>
          <p:nvPr>
            <p:ph type="ftr" idx="14"/>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7" name="PlaceHolder 5"/>
          <p:cNvSpPr>
            <a:spLocks noGrp="1"/>
          </p:cNvSpPr>
          <p:nvPr>
            <p:ph type="sldNum" idx="15"/>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A381DB81-3DE7-4A39-BB25-11D3BA906A8C}"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6629400" y="274680"/>
            <a:ext cx="2056680" cy="5850720"/>
          </a:xfrm>
          <a:prstGeom prst="rect">
            <a:avLst/>
          </a:prstGeom>
          <a:noFill/>
          <a:ln w="0">
            <a:noFill/>
          </a:ln>
        </p:spPr>
        <p:txBody>
          <a:bodyPr lIns="91440" tIns="45720" rIns="91440" bIns="45720" anchor="ctr" vert="eaVert">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9" name="PlaceHolder 2"/>
          <p:cNvSpPr>
            <a:spLocks noGrp="1"/>
          </p:cNvSpPr>
          <p:nvPr>
            <p:ph type="body"/>
          </p:nvPr>
        </p:nvSpPr>
        <p:spPr>
          <a:xfrm>
            <a:off x="457200" y="274680"/>
            <a:ext cx="6019200" cy="585072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30" name="PlaceHolder 3"/>
          <p:cNvSpPr>
            <a:spLocks noGrp="1"/>
          </p:cNvSpPr>
          <p:nvPr>
            <p:ph type="dt" idx="16"/>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31" name="PlaceHolder 4"/>
          <p:cNvSpPr>
            <a:spLocks noGrp="1"/>
          </p:cNvSpPr>
          <p:nvPr>
            <p:ph type="ftr" idx="17"/>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2" name="PlaceHolder 5"/>
          <p:cNvSpPr>
            <a:spLocks noGrp="1"/>
          </p:cNvSpPr>
          <p:nvPr>
            <p:ph type="sldNum" idx="18"/>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372D9B06-5964-44F1-B928-954DAF66C729}"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4" name="PlaceHolder 2"/>
          <p:cNvSpPr>
            <a:spLocks noGrp="1"/>
          </p:cNvSpPr>
          <p:nvPr>
            <p:ph type="body"/>
          </p:nvPr>
        </p:nvSpPr>
        <p:spPr>
          <a:xfrm>
            <a:off x="457200" y="1600200"/>
            <a:ext cx="8228880" cy="452520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35" name="PlaceHolder 3"/>
          <p:cNvSpPr>
            <a:spLocks noGrp="1"/>
          </p:cNvSpPr>
          <p:nvPr>
            <p:ph type="dt" idx="19"/>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36" name="PlaceHolder 4"/>
          <p:cNvSpPr>
            <a:spLocks noGrp="1"/>
          </p:cNvSpPr>
          <p:nvPr>
            <p:ph type="ftr" idx="20"/>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7" name="PlaceHolder 5"/>
          <p:cNvSpPr>
            <a:spLocks noGrp="1"/>
          </p:cNvSpPr>
          <p:nvPr>
            <p:ph type="sldNum" idx="21"/>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DE7D1FE0-47B3-46CF-9FA0-03CE7E081443}"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722160" y="4406760"/>
            <a:ext cx="7771680" cy="136152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4000" b="1" u="none" strike="noStrike" cap="all">
                <a:solidFill>
                  <a:schemeClr val="dk1"/>
                </a:solidFill>
                <a:effectLst/>
                <a:uFillTx/>
                <a:latin typeface="Calibri"/>
              </a:defRPr>
            </a:lvl1pPr>
          </a:lstStyle>
          <a:p>
            <a:pPr indent="0" algn="l" defTabSz="457200">
              <a:lnSpc>
                <a:spcPct val="100000"/>
              </a:lnSpc>
              <a:buNone/>
              <a:tabLst>
                <a:tab pos="0" algn="l"/>
              </a:tabLst>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39" name="PlaceHolder 2"/>
          <p:cNvSpPr>
            <a:spLocks noGrp="1"/>
          </p:cNvSpPr>
          <p:nvPr>
            <p:ph type="body"/>
          </p:nvPr>
        </p:nvSpPr>
        <p:spPr>
          <a:xfrm>
            <a:off x="722160" y="2906640"/>
            <a:ext cx="7771680" cy="149940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40" name="PlaceHolder 3"/>
          <p:cNvSpPr>
            <a:spLocks noGrp="1"/>
          </p:cNvSpPr>
          <p:nvPr>
            <p:ph type="dt" idx="22"/>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41" name="PlaceHolder 4"/>
          <p:cNvSpPr>
            <a:spLocks noGrp="1"/>
          </p:cNvSpPr>
          <p:nvPr>
            <p:ph type="ftr" idx="23"/>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42" name="PlaceHolder 5"/>
          <p:cNvSpPr>
            <a:spLocks noGrp="1"/>
          </p:cNvSpPr>
          <p:nvPr>
            <p:ph type="sldNum" idx="24"/>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DE7FE2FB-18E7-4624-8F44-B6F40A19CB72}"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4" name="PlaceHolder 2"/>
          <p:cNvSpPr>
            <a:spLocks noGrp="1"/>
          </p:cNvSpPr>
          <p:nvPr>
            <p:ph type="body"/>
          </p:nvPr>
        </p:nvSpPr>
        <p:spPr>
          <a:xfrm>
            <a:off x="457200" y="1600200"/>
            <a:ext cx="4037760" cy="452520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45" name="PlaceHolder 3"/>
          <p:cNvSpPr>
            <a:spLocks noGrp="1"/>
          </p:cNvSpPr>
          <p:nvPr>
            <p:ph type="body"/>
          </p:nvPr>
        </p:nvSpPr>
        <p:spPr>
          <a:xfrm>
            <a:off x="4648320" y="1600200"/>
            <a:ext cx="4037760" cy="452520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46" name="PlaceHolder 4"/>
          <p:cNvSpPr>
            <a:spLocks noGrp="1"/>
          </p:cNvSpPr>
          <p:nvPr>
            <p:ph type="dt" idx="25"/>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47" name="PlaceHolder 5"/>
          <p:cNvSpPr>
            <a:spLocks noGrp="1"/>
          </p:cNvSpPr>
          <p:nvPr>
            <p:ph type="ftr" idx="26"/>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48" name="PlaceHolder 6"/>
          <p:cNvSpPr>
            <a:spLocks noGrp="1"/>
          </p:cNvSpPr>
          <p:nvPr>
            <p:ph type="sldNum" idx="27"/>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73B7E596-B749-4F64-82EC-30DF64D2A8EC}"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50" name="PlaceHolder 2"/>
          <p:cNvSpPr>
            <a:spLocks noGrp="1"/>
          </p:cNvSpPr>
          <p:nvPr>
            <p:ph type="body"/>
          </p:nvPr>
        </p:nvSpPr>
        <p:spPr>
          <a:xfrm>
            <a:off x="457200" y="1535040"/>
            <a:ext cx="4039560" cy="63900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51" name="PlaceHolder 3"/>
          <p:cNvSpPr>
            <a:spLocks noGrp="1"/>
          </p:cNvSpPr>
          <p:nvPr>
            <p:ph type="body"/>
          </p:nvPr>
        </p:nvSpPr>
        <p:spPr>
          <a:xfrm>
            <a:off x="457200" y="2174760"/>
            <a:ext cx="4039560" cy="395064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52" name="PlaceHolder 4"/>
          <p:cNvSpPr>
            <a:spLocks noGrp="1"/>
          </p:cNvSpPr>
          <p:nvPr>
            <p:ph type="body"/>
          </p:nvPr>
        </p:nvSpPr>
        <p:spPr>
          <a:xfrm>
            <a:off x="4645080" y="1535040"/>
            <a:ext cx="4041000" cy="63900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53" name="PlaceHolder 5"/>
          <p:cNvSpPr>
            <a:spLocks noGrp="1"/>
          </p:cNvSpPr>
          <p:nvPr>
            <p:ph type="body"/>
          </p:nvPr>
        </p:nvSpPr>
        <p:spPr>
          <a:xfrm>
            <a:off x="4645080" y="2174760"/>
            <a:ext cx="4041000" cy="395064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54" name="PlaceHolder 6"/>
          <p:cNvSpPr>
            <a:spLocks noGrp="1"/>
          </p:cNvSpPr>
          <p:nvPr>
            <p:ph type="dt" idx="28"/>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55" name="PlaceHolder 7"/>
          <p:cNvSpPr>
            <a:spLocks noGrp="1"/>
          </p:cNvSpPr>
          <p:nvPr>
            <p:ph type="ftr" idx="29"/>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56" name="PlaceHolder 8"/>
          <p:cNvSpPr>
            <a:spLocks noGrp="1"/>
          </p:cNvSpPr>
          <p:nvPr>
            <p:ph type="sldNum" idx="30"/>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CB0EFB2E-D2DC-4EA9-AB7A-6DF585B1EE7B}"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57"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58" name="PlaceHolder 2"/>
          <p:cNvSpPr>
            <a:spLocks noGrp="1"/>
          </p:cNvSpPr>
          <p:nvPr>
            <p:ph type="dt" idx="31"/>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59" name="PlaceHolder 3"/>
          <p:cNvSpPr>
            <a:spLocks noGrp="1"/>
          </p:cNvSpPr>
          <p:nvPr>
            <p:ph type="ftr" idx="32"/>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60" name="PlaceHolder 4"/>
          <p:cNvSpPr>
            <a:spLocks noGrp="1"/>
          </p:cNvSpPr>
          <p:nvPr>
            <p:ph type="sldNum" idx="33"/>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71A6FA6C-0194-4E2B-9E8F-D856D6084006}"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Rectangle 1"/>
          <p:cNvSpPr/>
          <p:nvPr/>
        </p:nvSpPr>
        <p:spPr>
          <a:xfrm>
            <a:off x="0" y="0"/>
            <a:ext cx="12191040" cy="6857280"/>
          </a:xfrm>
          <a:prstGeom prst="rect">
            <a:avLst/>
          </a:prstGeom>
          <a:solidFill>
            <a:srgbClr val="FCFBF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62" name="Oval 3"/>
          <p:cNvSpPr/>
          <p:nvPr/>
        </p:nvSpPr>
        <p:spPr>
          <a:xfrm>
            <a:off x="10607040" y="4480560"/>
            <a:ext cx="1828080" cy="1828080"/>
          </a:xfrm>
          <a:prstGeom prst="ellipse">
            <a:avLst/>
          </a:prstGeom>
          <a:solidFill>
            <a:srgbClr val="DDEC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63" name="Oval 2"/>
          <p:cNvSpPr/>
          <p:nvPr/>
        </p:nvSpPr>
        <p:spPr>
          <a:xfrm>
            <a:off x="9326880" y="-548640"/>
            <a:ext cx="2925360" cy="2925360"/>
          </a:xfrm>
          <a:prstGeom prst="ellipse">
            <a:avLst/>
          </a:prstGeom>
          <a:solidFill>
            <a:srgbClr val="F5E3D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64" name="Rectangle 4"/>
          <p:cNvSpPr/>
          <p:nvPr/>
        </p:nvSpPr>
        <p:spPr>
          <a:xfrm>
            <a:off x="0" y="0"/>
            <a:ext cx="163800" cy="6857280"/>
          </a:xfrm>
          <a:prstGeom prst="rect">
            <a:avLst/>
          </a:prstGeom>
          <a:solidFill>
            <a:srgbClr val="D96B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82080" tIns="45000" rIns="82080" bIns="45000" anchor="ctr">
            <a:noAutofit/>
          </a:bodyPr>
          <a:p>
            <a:pPr/>
            <a:endParaRPr lang="en-US" sz="1800" b="0" u="none" strike="noStrike">
              <a:solidFill>
                <a:schemeClr val="lt1"/>
              </a:solidFill>
              <a:effectLst/>
              <a:uFillTx/>
              <a:latin typeface="Calibri"/>
            </a:endParaRPr>
          </a:p>
        </p:txBody>
      </p:sp>
      <p:sp>
        <p:nvSpPr>
          <p:cNvPr id="65" name="TextBox 5"/>
          <p:cNvSpPr/>
          <p:nvPr/>
        </p:nvSpPr>
        <p:spPr>
          <a:xfrm>
            <a:off x="813960" y="900000"/>
            <a:ext cx="5485680" cy="3650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500" b="1" u="none" strike="noStrike">
                <a:solidFill>
                  <a:srgbClr val="D96B45"/>
                </a:solidFill>
                <a:effectLst/>
                <a:uFillTx/>
                <a:latin typeface="Segoe UI Semibold"/>
              </a:rPr>
              <a:t>CAPSTONE PROJECT</a:t>
            </a:r>
            <a:endParaRPr lang="en-IN" sz="1500" b="0" u="none" strike="noStrike">
              <a:solidFill>
                <a:srgbClr val="000000"/>
              </a:solidFill>
              <a:effectLst/>
              <a:uFillTx/>
              <a:latin typeface="Arial"/>
            </a:endParaRPr>
          </a:p>
        </p:txBody>
      </p:sp>
      <p:sp>
        <p:nvSpPr>
          <p:cNvPr id="66" name="TextBox 6"/>
          <p:cNvSpPr/>
          <p:nvPr/>
        </p:nvSpPr>
        <p:spPr>
          <a:xfrm>
            <a:off x="822960" y="2599920"/>
            <a:ext cx="10514880" cy="639720"/>
          </a:xfrm>
          <a:prstGeom prst="rect">
            <a:avLst/>
          </a:prstGeom>
          <a:noFill/>
          <a:ln w="0">
            <a:noFill/>
          </a:ln>
        </p:spPr>
        <p:style>
          <a:lnRef idx="0"/>
          <a:fillRef idx="0"/>
          <a:effectRef idx="0"/>
          <a:fontRef idx="minor"/>
        </p:style>
        <p:txBody>
          <a:bodyPr lIns="0" tIns="0" rIns="0" bIns="0" anchor="t">
            <a:spAutoFit/>
          </a:bodyPr>
          <a:p>
            <a:pPr defTabSz="457200">
              <a:lnSpc>
                <a:spcPct val="105000"/>
              </a:lnSpc>
            </a:pPr>
            <a:r>
              <a:rPr lang="en-US" sz="4000" b="1" u="none" strike="noStrike">
                <a:solidFill>
                  <a:srgbClr val="222B3A"/>
                </a:solidFill>
                <a:effectLst/>
                <a:uFillTx/>
                <a:latin typeface="Segoe UI Semibold"/>
              </a:rPr>
              <a:t>AI Powered Course Recommendation Engine</a:t>
            </a:r>
            <a:endParaRPr lang="en-IN" sz="4000" b="0" u="none" strike="noStrike">
              <a:solidFill>
                <a:srgbClr val="000000"/>
              </a:solidFill>
              <a:effectLst/>
              <a:uFillTx/>
              <a:latin typeface="Arial"/>
            </a:endParaRPr>
          </a:p>
        </p:txBody>
      </p:sp>
      <p:sp>
        <p:nvSpPr>
          <p:cNvPr id="67" name="TextBox 7"/>
          <p:cNvSpPr/>
          <p:nvPr/>
        </p:nvSpPr>
        <p:spPr>
          <a:xfrm>
            <a:off x="859320" y="3519000"/>
            <a:ext cx="9874800" cy="356400"/>
          </a:xfrm>
          <a:prstGeom prst="rect">
            <a:avLst/>
          </a:prstGeom>
          <a:noFill/>
          <a:ln w="0">
            <a:noFill/>
          </a:ln>
        </p:spPr>
        <p:style>
          <a:lnRef idx="0"/>
          <a:fillRef idx="0"/>
          <a:effectRef idx="0"/>
          <a:fontRef idx="minor"/>
        </p:style>
        <p:txBody>
          <a:bodyPr lIns="0" tIns="0" rIns="0" bIns="0" anchor="t">
            <a:spAutoFit/>
          </a:bodyPr>
          <a:p>
            <a:pPr defTabSz="457200">
              <a:lnSpc>
                <a:spcPct val="130000"/>
              </a:lnSpc>
            </a:pPr>
            <a:r>
              <a:rPr lang="en-US" sz="1800" b="0" u="none" strike="noStrike">
                <a:solidFill>
                  <a:srgbClr val="667080"/>
                </a:solidFill>
                <a:effectLst/>
                <a:uFillTx/>
                <a:latin typeface="Segoe UI"/>
              </a:rPr>
              <a:t>Matching employees to the right courses and proving why, every time.</a:t>
            </a:r>
            <a:endParaRPr lang="en-IN" sz="1800" b="0" u="none" strike="noStrike">
              <a:solidFill>
                <a:srgbClr val="000000"/>
              </a:solidFill>
              <a:effectLst/>
              <a:uFillTx/>
              <a:latin typeface="Arial"/>
            </a:endParaRPr>
          </a:p>
        </p:txBody>
      </p:sp>
      <p:sp>
        <p:nvSpPr>
          <p:cNvPr id="68" name="TextBox 8"/>
          <p:cNvSpPr/>
          <p:nvPr/>
        </p:nvSpPr>
        <p:spPr>
          <a:xfrm>
            <a:off x="843120" y="4680000"/>
            <a:ext cx="3565440" cy="1532520"/>
          </a:xfrm>
          <a:prstGeom prst="rect">
            <a:avLst/>
          </a:prstGeom>
          <a:noFill/>
          <a:ln w="0">
            <a:noFill/>
          </a:ln>
        </p:spPr>
        <p:style>
          <a:lnRef idx="0"/>
          <a:fillRef idx="0"/>
          <a:effectRef idx="0"/>
          <a:fontRef idx="minor"/>
        </p:style>
        <p:txBody>
          <a:bodyPr lIns="0" tIns="0" rIns="0" bIns="0" anchor="t">
            <a:spAutoFit/>
          </a:bodyPr>
          <a:p>
            <a:pPr defTabSz="457200">
              <a:lnSpc>
                <a:spcPct val="125000"/>
              </a:lnSpc>
            </a:pPr>
            <a:r>
              <a:rPr lang="en-US" sz="1800" b="1" u="none" strike="noStrike">
                <a:solidFill>
                  <a:srgbClr val="222B3A"/>
                </a:solidFill>
                <a:effectLst/>
                <a:uFillTx/>
                <a:latin typeface="Segoe UI Semibold"/>
              </a:rPr>
              <a:t>Team -9</a:t>
            </a:r>
            <a:endParaRPr lang="en-IN" sz="1800" b="0" u="none" strike="noStrike">
              <a:solidFill>
                <a:srgbClr val="000000"/>
              </a:solidFill>
              <a:effectLst/>
              <a:uFillTx/>
              <a:latin typeface="Arial"/>
            </a:endParaRPr>
          </a:p>
          <a:p>
            <a:pPr defTabSz="457200">
              <a:lnSpc>
                <a:spcPct val="125000"/>
              </a:lnSpc>
            </a:pPr>
            <a:r>
              <a:rPr lang="en-US" sz="1250" b="1" u="none" strike="noStrike">
                <a:solidFill>
                  <a:srgbClr val="222B3A"/>
                </a:solidFill>
                <a:effectLst/>
                <a:uFillTx/>
                <a:latin typeface="Segoe UI Semibold"/>
              </a:rPr>
              <a:t>1. Anabil Kanungoe</a:t>
            </a:r>
            <a:endParaRPr lang="en-IN" sz="1250" b="0" u="none" strike="noStrike">
              <a:solidFill>
                <a:srgbClr val="000000"/>
              </a:solidFill>
              <a:effectLst/>
              <a:uFillTx/>
              <a:latin typeface="Arial"/>
            </a:endParaRPr>
          </a:p>
          <a:p>
            <a:pPr defTabSz="457200">
              <a:lnSpc>
                <a:spcPct val="125000"/>
              </a:lnSpc>
            </a:pPr>
            <a:r>
              <a:rPr lang="en-US" sz="1250" b="1" u="none" strike="noStrike">
                <a:solidFill>
                  <a:srgbClr val="222B3A"/>
                </a:solidFill>
                <a:effectLst/>
                <a:uFillTx/>
                <a:latin typeface="Segoe UI Semibold"/>
              </a:rPr>
              <a:t>2. Bhoopendra Singh Thakur</a:t>
            </a:r>
            <a:endParaRPr lang="en-IN" sz="1250" b="0" u="none" strike="noStrike">
              <a:solidFill>
                <a:srgbClr val="000000"/>
              </a:solidFill>
              <a:effectLst/>
              <a:uFillTx/>
              <a:latin typeface="Arial"/>
            </a:endParaRPr>
          </a:p>
          <a:p>
            <a:pPr defTabSz="457200">
              <a:lnSpc>
                <a:spcPct val="125000"/>
              </a:lnSpc>
            </a:pPr>
            <a:r>
              <a:rPr lang="en-US" sz="1250" b="1" u="none" strike="noStrike">
                <a:solidFill>
                  <a:srgbClr val="222B3A"/>
                </a:solidFill>
                <a:effectLst/>
                <a:uFillTx/>
                <a:latin typeface="Segoe UI Semibold"/>
              </a:rPr>
              <a:t>3. Devansh Mehta</a:t>
            </a:r>
            <a:endParaRPr lang="en-IN" sz="1250" b="0" u="none" strike="noStrike">
              <a:solidFill>
                <a:srgbClr val="000000"/>
              </a:solidFill>
              <a:effectLst/>
              <a:uFillTx/>
              <a:latin typeface="Arial"/>
            </a:endParaRPr>
          </a:p>
          <a:p>
            <a:pPr defTabSz="457200">
              <a:lnSpc>
                <a:spcPct val="125000"/>
              </a:lnSpc>
            </a:pPr>
            <a:r>
              <a:rPr lang="en-US" sz="1250" b="1" u="none" strike="noStrike">
                <a:solidFill>
                  <a:srgbClr val="222B3A"/>
                </a:solidFill>
                <a:effectLst/>
                <a:uFillTx/>
                <a:latin typeface="Segoe UI Semibold"/>
              </a:rPr>
              <a:t>4. Meghana Thallapally</a:t>
            </a:r>
            <a:endParaRPr lang="en-IN" sz="1250" b="0" u="none" strike="noStrike">
              <a:solidFill>
                <a:srgbClr val="000000"/>
              </a:solidFill>
              <a:effectLst/>
              <a:uFillTx/>
              <a:latin typeface="Arial"/>
            </a:endParaRPr>
          </a:p>
          <a:p>
            <a:pPr defTabSz="457200">
              <a:lnSpc>
                <a:spcPct val="125000"/>
              </a:lnSpc>
            </a:pPr>
            <a:r>
              <a:rPr lang="en-US" sz="1250" b="1" u="none" strike="noStrike">
                <a:solidFill>
                  <a:srgbClr val="222B3A"/>
                </a:solidFill>
                <a:effectLst/>
                <a:uFillTx/>
                <a:latin typeface="Segoe UI Semibold"/>
              </a:rPr>
              <a:t>5. Purnima Vats</a:t>
            </a:r>
            <a:endParaRPr lang="en-IN" sz="1250" b="0" u="none" strike="noStrike">
              <a:solidFill>
                <a:srgbClr val="000000"/>
              </a:solidFill>
              <a:effectLst/>
              <a:uFillTx/>
              <a:latin typeface="Arial"/>
            </a:endParaRPr>
          </a:p>
        </p:txBody>
      </p:sp>
      <p:sp>
        <p:nvSpPr>
          <p:cNvPr id="69" name="TextBox 9"/>
          <p:cNvSpPr/>
          <p:nvPr/>
        </p:nvSpPr>
        <p:spPr>
          <a:xfrm>
            <a:off x="4572000" y="5532120"/>
            <a:ext cx="3656880" cy="428400"/>
          </a:xfrm>
          <a:prstGeom prst="rect">
            <a:avLst/>
          </a:prstGeom>
          <a:noFill/>
          <a:ln w="0">
            <a:noFill/>
          </a:ln>
        </p:spPr>
        <p:style>
          <a:lnRef idx="0"/>
          <a:fillRef idx="0"/>
          <a:effectRef idx="0"/>
          <a:fontRef idx="minor"/>
        </p:style>
        <p:txBody>
          <a:bodyPr lIns="0" tIns="0" rIns="0" bIns="0" anchor="t">
            <a:spAutoFit/>
          </a:bodyPr>
          <a:p>
            <a:pPr/>
            <a:endParaRPr lang="en-IN" sz="1800" b="0" u="none" strike="noStrike">
              <a:solidFill>
                <a:srgbClr val="000000"/>
              </a:solidFill>
              <a:effectLst/>
              <a:uFillTx/>
              <a:latin typeface="Arial"/>
            </a:endParaRPr>
          </a:p>
        </p:txBody>
      </p:sp>
      <p:sp>
        <p:nvSpPr>
          <p:cNvPr id="70" name="TextBox 10"/>
          <p:cNvSpPr/>
          <p:nvPr/>
        </p:nvSpPr>
        <p:spPr>
          <a:xfrm>
            <a:off x="822960" y="6537960"/>
            <a:ext cx="8228880" cy="159840"/>
          </a:xfrm>
          <a:prstGeom prst="rect">
            <a:avLst/>
          </a:prstGeom>
          <a:noFill/>
          <a:ln w="0">
            <a:noFill/>
          </a:ln>
        </p:spPr>
        <p:style>
          <a:lnRef idx="0"/>
          <a:fillRef idx="0"/>
          <a:effectRef idx="0"/>
          <a:fontRef idx="minor"/>
        </p:style>
        <p:txBody>
          <a:bodyPr lIns="0" tIns="0" rIns="0" bIns="0" anchor="t">
            <a:spAutoFit/>
          </a:bodyPr>
          <a:p>
            <a:pP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Rectangle 1"/>
          <p:cNvSpPr/>
          <p:nvPr/>
        </p:nvSpPr>
        <p:spPr>
          <a:xfrm>
            <a:off x="0" y="0"/>
            <a:ext cx="12191040" cy="6857280"/>
          </a:xfrm>
          <a:prstGeom prst="rect">
            <a:avLst/>
          </a:prstGeom>
          <a:solidFill>
            <a:srgbClr val="FCFBF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72" name="TextBox 2"/>
          <p:cNvSpPr/>
          <p:nvPr/>
        </p:nvSpPr>
        <p:spPr>
          <a:xfrm>
            <a:off x="640080" y="384120"/>
            <a:ext cx="822888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00" b="1" u="none" strike="noStrike">
                <a:solidFill>
                  <a:srgbClr val="D96B45"/>
                </a:solidFill>
                <a:effectLst/>
                <a:uFillTx/>
                <a:latin typeface="Segoe UI Semibold"/>
              </a:rPr>
              <a:t>OVERVIEW</a:t>
            </a:r>
            <a:endParaRPr lang="en-IN" sz="1300" b="0" u="none" strike="noStrike">
              <a:solidFill>
                <a:srgbClr val="000000"/>
              </a:solidFill>
              <a:effectLst/>
              <a:uFillTx/>
              <a:latin typeface="Arial"/>
            </a:endParaRPr>
          </a:p>
        </p:txBody>
      </p:sp>
      <p:sp>
        <p:nvSpPr>
          <p:cNvPr id="73" name="TextBox 3"/>
          <p:cNvSpPr/>
          <p:nvPr/>
        </p:nvSpPr>
        <p:spPr>
          <a:xfrm>
            <a:off x="640080" y="658440"/>
            <a:ext cx="9874800" cy="6850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3000" b="1" u="none" strike="noStrike">
                <a:solidFill>
                  <a:srgbClr val="222B3A"/>
                </a:solidFill>
                <a:effectLst/>
                <a:uFillTx/>
                <a:latin typeface="Segoe UI Semibold"/>
              </a:rPr>
              <a:t>Agenda</a:t>
            </a:r>
            <a:endParaRPr lang="en-IN" sz="3000" b="0" u="none" strike="noStrike">
              <a:solidFill>
                <a:srgbClr val="000000"/>
              </a:solidFill>
              <a:effectLst/>
              <a:uFillTx/>
              <a:latin typeface="Arial"/>
            </a:endParaRPr>
          </a:p>
        </p:txBody>
      </p:sp>
      <p:sp>
        <p:nvSpPr>
          <p:cNvPr id="74" name="Rectangle 4"/>
          <p:cNvSpPr/>
          <p:nvPr/>
        </p:nvSpPr>
        <p:spPr>
          <a:xfrm>
            <a:off x="640080" y="1298520"/>
            <a:ext cx="822240" cy="50040"/>
          </a:xfrm>
          <a:prstGeom prst="rect">
            <a:avLst/>
          </a:prstGeom>
          <a:solidFill>
            <a:srgbClr val="D96B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760" rIns="90000" bIns="5760" anchor="ctr">
            <a:noAutofit/>
          </a:bodyPr>
          <a:p>
            <a:pPr/>
            <a:endParaRPr lang="en-US" sz="1800" b="0" u="none" strike="noStrike">
              <a:solidFill>
                <a:schemeClr val="lt1"/>
              </a:solidFill>
              <a:effectLst/>
              <a:uFillTx/>
              <a:latin typeface="Calibri"/>
            </a:endParaRPr>
          </a:p>
        </p:txBody>
      </p:sp>
      <p:sp>
        <p:nvSpPr>
          <p:cNvPr id="75" name="TextBox 5"/>
          <p:cNvSpPr/>
          <p:nvPr/>
        </p:nvSpPr>
        <p:spPr>
          <a:xfrm>
            <a:off x="11155680" y="6355080"/>
            <a:ext cx="822240" cy="3650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1400" b="0" u="none" strike="noStrike">
                <a:solidFill>
                  <a:srgbClr val="667080"/>
                </a:solidFill>
                <a:effectLst/>
                <a:uFillTx/>
                <a:latin typeface="Segoe UI Semibold"/>
              </a:rPr>
              <a:t>02</a:t>
            </a:r>
            <a:endParaRPr lang="en-IN" sz="1400" b="0" u="none" strike="noStrike">
              <a:solidFill>
                <a:srgbClr val="000000"/>
              </a:solidFill>
              <a:effectLst/>
              <a:uFillTx/>
              <a:latin typeface="Arial"/>
            </a:endParaRPr>
          </a:p>
        </p:txBody>
      </p:sp>
      <p:sp>
        <p:nvSpPr>
          <p:cNvPr id="76" name="TextBox 6"/>
          <p:cNvSpPr/>
          <p:nvPr/>
        </p:nvSpPr>
        <p:spPr>
          <a:xfrm>
            <a:off x="640080" y="6473880"/>
            <a:ext cx="548568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endParaRPr lang="en-IN" sz="1800" b="0" u="none" strike="noStrike">
              <a:solidFill>
                <a:srgbClr val="000000"/>
              </a:solidFill>
              <a:effectLst/>
              <a:uFillTx/>
              <a:latin typeface="Arial"/>
            </a:endParaRPr>
          </a:p>
        </p:txBody>
      </p:sp>
      <p:sp>
        <p:nvSpPr>
          <p:cNvPr id="77" name="TextBox 7"/>
          <p:cNvSpPr/>
          <p:nvPr/>
        </p:nvSpPr>
        <p:spPr>
          <a:xfrm>
            <a:off x="640080" y="1600200"/>
            <a:ext cx="822240" cy="6577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000" b="1" u="none" strike="noStrike">
                <a:solidFill>
                  <a:srgbClr val="D96B45"/>
                </a:solidFill>
                <a:effectLst/>
                <a:uFillTx/>
                <a:latin typeface="Segoe UI Semibold"/>
              </a:rPr>
              <a:t>01</a:t>
            </a:r>
            <a:endParaRPr lang="en-IN" sz="2000" b="0" u="none" strike="noStrike">
              <a:solidFill>
                <a:srgbClr val="000000"/>
              </a:solidFill>
              <a:effectLst/>
              <a:uFillTx/>
              <a:latin typeface="Arial"/>
            </a:endParaRPr>
          </a:p>
        </p:txBody>
      </p:sp>
      <p:sp>
        <p:nvSpPr>
          <p:cNvPr id="78" name="TextBox 8"/>
          <p:cNvSpPr/>
          <p:nvPr/>
        </p:nvSpPr>
        <p:spPr>
          <a:xfrm>
            <a:off x="1463040" y="1618560"/>
            <a:ext cx="4205520" cy="3650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700" b="1" u="none" strike="noStrike">
                <a:solidFill>
                  <a:srgbClr val="222B3A"/>
                </a:solidFill>
                <a:effectLst/>
                <a:uFillTx/>
                <a:latin typeface="Segoe UI Semibold"/>
              </a:rPr>
              <a:t>Business Problem</a:t>
            </a:r>
            <a:endParaRPr lang="en-IN" sz="1700" b="0" u="none" strike="noStrike">
              <a:solidFill>
                <a:srgbClr val="000000"/>
              </a:solidFill>
              <a:effectLst/>
              <a:uFillTx/>
              <a:latin typeface="Arial"/>
            </a:endParaRPr>
          </a:p>
        </p:txBody>
      </p:sp>
      <p:sp>
        <p:nvSpPr>
          <p:cNvPr id="79" name="TextBox 9"/>
          <p:cNvSpPr/>
          <p:nvPr/>
        </p:nvSpPr>
        <p:spPr>
          <a:xfrm>
            <a:off x="1463040" y="1947600"/>
            <a:ext cx="594288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0" u="none" strike="noStrike">
                <a:solidFill>
                  <a:srgbClr val="667080"/>
                </a:solidFill>
                <a:effectLst/>
                <a:uFillTx/>
                <a:latin typeface="Segoe UI"/>
              </a:rPr>
              <a:t>Why generic training doesn't work</a:t>
            </a:r>
            <a:endParaRPr lang="en-IN" sz="1200" b="0" u="none" strike="noStrike">
              <a:solidFill>
                <a:srgbClr val="000000"/>
              </a:solidFill>
              <a:effectLst/>
              <a:uFillTx/>
              <a:latin typeface="Arial"/>
            </a:endParaRPr>
          </a:p>
        </p:txBody>
      </p:sp>
      <p:sp>
        <p:nvSpPr>
          <p:cNvPr id="80" name="Rectangle 10"/>
          <p:cNvSpPr/>
          <p:nvPr/>
        </p:nvSpPr>
        <p:spPr>
          <a:xfrm>
            <a:off x="640080" y="2203560"/>
            <a:ext cx="10880640" cy="8640"/>
          </a:xfrm>
          <a:prstGeom prst="rect">
            <a:avLst/>
          </a:prstGeom>
          <a:solidFill>
            <a:srgbClr val="E7E1D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5640" rIns="90000" bIns="-35640" anchor="ctr">
            <a:noAutofit/>
          </a:bodyPr>
          <a:p>
            <a:pPr/>
            <a:endParaRPr lang="en-US" sz="1800" b="0" u="none" strike="noStrike">
              <a:solidFill>
                <a:schemeClr val="lt1"/>
              </a:solidFill>
              <a:effectLst/>
              <a:uFillTx/>
              <a:latin typeface="Calibri"/>
            </a:endParaRPr>
          </a:p>
        </p:txBody>
      </p:sp>
      <p:sp>
        <p:nvSpPr>
          <p:cNvPr id="81" name="TextBox 11"/>
          <p:cNvSpPr/>
          <p:nvPr/>
        </p:nvSpPr>
        <p:spPr>
          <a:xfrm>
            <a:off x="640080" y="2258640"/>
            <a:ext cx="822240" cy="6577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000" b="1" u="none" strike="noStrike">
                <a:solidFill>
                  <a:srgbClr val="D96B45"/>
                </a:solidFill>
                <a:effectLst/>
                <a:uFillTx/>
                <a:latin typeface="Segoe UI Semibold"/>
              </a:rPr>
              <a:t>02</a:t>
            </a:r>
            <a:endParaRPr lang="en-IN" sz="2000" b="0" u="none" strike="noStrike">
              <a:solidFill>
                <a:srgbClr val="000000"/>
              </a:solidFill>
              <a:effectLst/>
              <a:uFillTx/>
              <a:latin typeface="Arial"/>
            </a:endParaRPr>
          </a:p>
        </p:txBody>
      </p:sp>
      <p:sp>
        <p:nvSpPr>
          <p:cNvPr id="82" name="TextBox 12"/>
          <p:cNvSpPr/>
          <p:nvPr/>
        </p:nvSpPr>
        <p:spPr>
          <a:xfrm>
            <a:off x="1463040" y="2277000"/>
            <a:ext cx="4205520" cy="3650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700" b="1" u="none" strike="noStrike">
                <a:solidFill>
                  <a:srgbClr val="222B3A"/>
                </a:solidFill>
                <a:effectLst/>
                <a:uFillTx/>
                <a:latin typeface="Segoe UI Semibold"/>
              </a:rPr>
              <a:t>Solution &amp; Architecture</a:t>
            </a:r>
            <a:endParaRPr lang="en-IN" sz="1700" b="0" u="none" strike="noStrike">
              <a:solidFill>
                <a:srgbClr val="000000"/>
              </a:solidFill>
              <a:effectLst/>
              <a:uFillTx/>
              <a:latin typeface="Arial"/>
            </a:endParaRPr>
          </a:p>
        </p:txBody>
      </p:sp>
      <p:sp>
        <p:nvSpPr>
          <p:cNvPr id="83" name="TextBox 13"/>
          <p:cNvSpPr/>
          <p:nvPr/>
        </p:nvSpPr>
        <p:spPr>
          <a:xfrm>
            <a:off x="1463040" y="2606040"/>
            <a:ext cx="594288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0" u="none" strike="noStrike">
                <a:solidFill>
                  <a:srgbClr val="667080"/>
                </a:solidFill>
                <a:effectLst/>
                <a:uFillTx/>
                <a:latin typeface="Segoe UI"/>
              </a:rPr>
              <a:t>Five deliverables, one shared engine</a:t>
            </a:r>
            <a:endParaRPr lang="en-IN" sz="1200" b="0" u="none" strike="noStrike">
              <a:solidFill>
                <a:srgbClr val="000000"/>
              </a:solidFill>
              <a:effectLst/>
              <a:uFillTx/>
              <a:latin typeface="Arial"/>
            </a:endParaRPr>
          </a:p>
        </p:txBody>
      </p:sp>
      <p:sp>
        <p:nvSpPr>
          <p:cNvPr id="84" name="Rectangle 14"/>
          <p:cNvSpPr/>
          <p:nvPr/>
        </p:nvSpPr>
        <p:spPr>
          <a:xfrm>
            <a:off x="640080" y="2862000"/>
            <a:ext cx="10880640" cy="8640"/>
          </a:xfrm>
          <a:prstGeom prst="rect">
            <a:avLst/>
          </a:prstGeom>
          <a:solidFill>
            <a:srgbClr val="E7E1D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5640" rIns="90000" bIns="-35640" anchor="ctr">
            <a:noAutofit/>
          </a:bodyPr>
          <a:p>
            <a:pPr/>
            <a:endParaRPr lang="en-US" sz="1800" b="0" u="none" strike="noStrike">
              <a:solidFill>
                <a:schemeClr val="lt1"/>
              </a:solidFill>
              <a:effectLst/>
              <a:uFillTx/>
              <a:latin typeface="Calibri"/>
            </a:endParaRPr>
          </a:p>
        </p:txBody>
      </p:sp>
      <p:sp>
        <p:nvSpPr>
          <p:cNvPr id="85" name="TextBox 15"/>
          <p:cNvSpPr/>
          <p:nvPr/>
        </p:nvSpPr>
        <p:spPr>
          <a:xfrm>
            <a:off x="640080" y="2917080"/>
            <a:ext cx="822240" cy="6577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000" b="1" u="none" strike="noStrike">
                <a:solidFill>
                  <a:srgbClr val="D96B45"/>
                </a:solidFill>
                <a:effectLst/>
                <a:uFillTx/>
                <a:latin typeface="Segoe UI Semibold"/>
              </a:rPr>
              <a:t>03</a:t>
            </a:r>
            <a:endParaRPr lang="en-IN" sz="2000" b="0" u="none" strike="noStrike">
              <a:solidFill>
                <a:srgbClr val="000000"/>
              </a:solidFill>
              <a:effectLst/>
              <a:uFillTx/>
              <a:latin typeface="Arial"/>
            </a:endParaRPr>
          </a:p>
        </p:txBody>
      </p:sp>
      <p:sp>
        <p:nvSpPr>
          <p:cNvPr id="86" name="TextBox 16"/>
          <p:cNvSpPr/>
          <p:nvPr/>
        </p:nvSpPr>
        <p:spPr>
          <a:xfrm>
            <a:off x="1463040" y="2935080"/>
            <a:ext cx="4205520" cy="3650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700" b="1" u="none" strike="noStrike">
                <a:solidFill>
                  <a:srgbClr val="222B3A"/>
                </a:solidFill>
                <a:effectLst/>
                <a:uFillTx/>
                <a:latin typeface="Segoe UI Semibold"/>
              </a:rPr>
              <a:t>Data Quality</a:t>
            </a:r>
            <a:endParaRPr lang="en-IN" sz="1700" b="0" u="none" strike="noStrike">
              <a:solidFill>
                <a:srgbClr val="000000"/>
              </a:solidFill>
              <a:effectLst/>
              <a:uFillTx/>
              <a:latin typeface="Arial"/>
            </a:endParaRPr>
          </a:p>
        </p:txBody>
      </p:sp>
      <p:sp>
        <p:nvSpPr>
          <p:cNvPr id="87" name="TextBox 17"/>
          <p:cNvSpPr/>
          <p:nvPr/>
        </p:nvSpPr>
        <p:spPr>
          <a:xfrm>
            <a:off x="1463040" y="3264480"/>
            <a:ext cx="594288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0" u="none" strike="noStrike">
                <a:solidFill>
                  <a:srgbClr val="667080"/>
                </a:solidFill>
                <a:effectLst/>
                <a:uFillTx/>
                <a:latin typeface="Segoe UI"/>
              </a:rPr>
              <a:t>Two repairs that mattered</a:t>
            </a:r>
            <a:endParaRPr lang="en-IN" sz="1200" b="0" u="none" strike="noStrike">
              <a:solidFill>
                <a:srgbClr val="000000"/>
              </a:solidFill>
              <a:effectLst/>
              <a:uFillTx/>
              <a:latin typeface="Arial"/>
            </a:endParaRPr>
          </a:p>
        </p:txBody>
      </p:sp>
      <p:sp>
        <p:nvSpPr>
          <p:cNvPr id="88" name="Rectangle 18"/>
          <p:cNvSpPr/>
          <p:nvPr/>
        </p:nvSpPr>
        <p:spPr>
          <a:xfrm>
            <a:off x="640080" y="3520440"/>
            <a:ext cx="10880640" cy="8640"/>
          </a:xfrm>
          <a:prstGeom prst="rect">
            <a:avLst/>
          </a:prstGeom>
          <a:solidFill>
            <a:srgbClr val="E7E1D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5640" rIns="90000" bIns="-35640" anchor="ctr">
            <a:noAutofit/>
          </a:bodyPr>
          <a:p>
            <a:pPr/>
            <a:endParaRPr lang="en-US" sz="1800" b="0" u="none" strike="noStrike">
              <a:solidFill>
                <a:schemeClr val="lt1"/>
              </a:solidFill>
              <a:effectLst/>
              <a:uFillTx/>
              <a:latin typeface="Calibri"/>
            </a:endParaRPr>
          </a:p>
        </p:txBody>
      </p:sp>
      <p:sp>
        <p:nvSpPr>
          <p:cNvPr id="89" name="TextBox 19"/>
          <p:cNvSpPr/>
          <p:nvPr/>
        </p:nvSpPr>
        <p:spPr>
          <a:xfrm>
            <a:off x="640080" y="3575160"/>
            <a:ext cx="822240" cy="6577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000" b="1" u="none" strike="noStrike">
                <a:solidFill>
                  <a:srgbClr val="D96B45"/>
                </a:solidFill>
                <a:effectLst/>
                <a:uFillTx/>
                <a:latin typeface="Segoe UI Semibold"/>
              </a:rPr>
              <a:t>04</a:t>
            </a:r>
            <a:endParaRPr lang="en-IN" sz="2000" b="0" u="none" strike="noStrike">
              <a:solidFill>
                <a:srgbClr val="000000"/>
              </a:solidFill>
              <a:effectLst/>
              <a:uFillTx/>
              <a:latin typeface="Arial"/>
            </a:endParaRPr>
          </a:p>
        </p:txBody>
      </p:sp>
      <p:sp>
        <p:nvSpPr>
          <p:cNvPr id="90" name="TextBox 20"/>
          <p:cNvSpPr/>
          <p:nvPr/>
        </p:nvSpPr>
        <p:spPr>
          <a:xfrm>
            <a:off x="1463040" y="3593520"/>
            <a:ext cx="4205520" cy="3650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700" b="1" u="none" strike="noStrike">
                <a:solidFill>
                  <a:srgbClr val="222B3A"/>
                </a:solidFill>
                <a:effectLst/>
                <a:uFillTx/>
                <a:latin typeface="Segoe UI Semibold"/>
              </a:rPr>
              <a:t>The Recommendation Engine</a:t>
            </a:r>
            <a:endParaRPr lang="en-IN" sz="1700" b="0" u="none" strike="noStrike">
              <a:solidFill>
                <a:srgbClr val="000000"/>
              </a:solidFill>
              <a:effectLst/>
              <a:uFillTx/>
              <a:latin typeface="Arial"/>
            </a:endParaRPr>
          </a:p>
        </p:txBody>
      </p:sp>
      <p:sp>
        <p:nvSpPr>
          <p:cNvPr id="91" name="TextBox 21"/>
          <p:cNvSpPr/>
          <p:nvPr/>
        </p:nvSpPr>
        <p:spPr>
          <a:xfrm>
            <a:off x="1463040" y="3922920"/>
            <a:ext cx="594288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0" u="none" strike="noStrike">
                <a:solidFill>
                  <a:srgbClr val="667080"/>
                </a:solidFill>
                <a:effectLst/>
                <a:uFillTx/>
                <a:latin typeface="Segoe UI"/>
              </a:rPr>
              <a:t>Skill bridge · 5 signals · MMR</a:t>
            </a:r>
            <a:endParaRPr lang="en-IN" sz="1200" b="0" u="none" strike="noStrike">
              <a:solidFill>
                <a:srgbClr val="000000"/>
              </a:solidFill>
              <a:effectLst/>
              <a:uFillTx/>
              <a:latin typeface="Arial"/>
            </a:endParaRPr>
          </a:p>
        </p:txBody>
      </p:sp>
      <p:sp>
        <p:nvSpPr>
          <p:cNvPr id="92" name="Rectangle 22"/>
          <p:cNvSpPr/>
          <p:nvPr/>
        </p:nvSpPr>
        <p:spPr>
          <a:xfrm>
            <a:off x="640080" y="4178880"/>
            <a:ext cx="10880640" cy="8640"/>
          </a:xfrm>
          <a:prstGeom prst="rect">
            <a:avLst/>
          </a:prstGeom>
          <a:solidFill>
            <a:srgbClr val="E7E1D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5640" rIns="90000" bIns="-35640" anchor="ctr">
            <a:noAutofit/>
          </a:bodyPr>
          <a:p>
            <a:pPr/>
            <a:endParaRPr lang="en-US" sz="1800" b="0" u="none" strike="noStrike">
              <a:solidFill>
                <a:schemeClr val="lt1"/>
              </a:solidFill>
              <a:effectLst/>
              <a:uFillTx/>
              <a:latin typeface="Calibri"/>
            </a:endParaRPr>
          </a:p>
        </p:txBody>
      </p:sp>
      <p:sp>
        <p:nvSpPr>
          <p:cNvPr id="93" name="TextBox 23"/>
          <p:cNvSpPr/>
          <p:nvPr/>
        </p:nvSpPr>
        <p:spPr>
          <a:xfrm>
            <a:off x="640080" y="4233600"/>
            <a:ext cx="822240" cy="6577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000" b="1" u="none" strike="noStrike">
                <a:solidFill>
                  <a:srgbClr val="D96B45"/>
                </a:solidFill>
                <a:effectLst/>
                <a:uFillTx/>
                <a:latin typeface="Segoe UI Semibold"/>
              </a:rPr>
              <a:t>05</a:t>
            </a:r>
            <a:endParaRPr lang="en-IN" sz="2000" b="0" u="none" strike="noStrike">
              <a:solidFill>
                <a:srgbClr val="000000"/>
              </a:solidFill>
              <a:effectLst/>
              <a:uFillTx/>
              <a:latin typeface="Arial"/>
            </a:endParaRPr>
          </a:p>
        </p:txBody>
      </p:sp>
      <p:sp>
        <p:nvSpPr>
          <p:cNvPr id="94" name="TextBox 24"/>
          <p:cNvSpPr/>
          <p:nvPr/>
        </p:nvSpPr>
        <p:spPr>
          <a:xfrm>
            <a:off x="1463040" y="4251960"/>
            <a:ext cx="4205520" cy="3650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700" b="1" u="none" strike="noStrike">
                <a:solidFill>
                  <a:srgbClr val="222B3A"/>
                </a:solidFill>
                <a:effectLst/>
                <a:uFillTx/>
                <a:latin typeface="Segoe UI Semibold"/>
              </a:rPr>
              <a:t>Evaluation</a:t>
            </a:r>
            <a:endParaRPr lang="en-IN" sz="1700" b="0" u="none" strike="noStrike">
              <a:solidFill>
                <a:srgbClr val="000000"/>
              </a:solidFill>
              <a:effectLst/>
              <a:uFillTx/>
              <a:latin typeface="Arial"/>
            </a:endParaRPr>
          </a:p>
        </p:txBody>
      </p:sp>
      <p:sp>
        <p:nvSpPr>
          <p:cNvPr id="95" name="TextBox 25"/>
          <p:cNvSpPr/>
          <p:nvPr/>
        </p:nvSpPr>
        <p:spPr>
          <a:xfrm>
            <a:off x="1463040" y="4581000"/>
            <a:ext cx="594288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0" u="none" strike="noStrike">
                <a:solidFill>
                  <a:srgbClr val="667080"/>
                </a:solidFill>
                <a:effectLst/>
                <a:uFillTx/>
                <a:latin typeface="Segoe UI"/>
              </a:rPr>
              <a:t>Two protocols, honest results</a:t>
            </a:r>
            <a:endParaRPr lang="en-IN" sz="1200" b="0" u="none" strike="noStrike">
              <a:solidFill>
                <a:srgbClr val="000000"/>
              </a:solidFill>
              <a:effectLst/>
              <a:uFillTx/>
              <a:latin typeface="Arial"/>
            </a:endParaRPr>
          </a:p>
        </p:txBody>
      </p:sp>
      <p:sp>
        <p:nvSpPr>
          <p:cNvPr id="96" name="Rectangle 26"/>
          <p:cNvSpPr/>
          <p:nvPr/>
        </p:nvSpPr>
        <p:spPr>
          <a:xfrm>
            <a:off x="640080" y="4837320"/>
            <a:ext cx="10880640" cy="8640"/>
          </a:xfrm>
          <a:prstGeom prst="rect">
            <a:avLst/>
          </a:prstGeom>
          <a:solidFill>
            <a:srgbClr val="E7E1D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5640" rIns="90000" bIns="-35640" anchor="ctr">
            <a:noAutofit/>
          </a:bodyPr>
          <a:p>
            <a:pPr/>
            <a:endParaRPr lang="en-US" sz="1800" b="0" u="none" strike="noStrike">
              <a:solidFill>
                <a:schemeClr val="lt1"/>
              </a:solidFill>
              <a:effectLst/>
              <a:uFillTx/>
              <a:latin typeface="Calibri"/>
            </a:endParaRPr>
          </a:p>
        </p:txBody>
      </p:sp>
      <p:sp>
        <p:nvSpPr>
          <p:cNvPr id="97" name="TextBox 27"/>
          <p:cNvSpPr/>
          <p:nvPr/>
        </p:nvSpPr>
        <p:spPr>
          <a:xfrm>
            <a:off x="640080" y="4892040"/>
            <a:ext cx="822240" cy="6577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000" b="1" u="none" strike="noStrike">
                <a:solidFill>
                  <a:srgbClr val="D96B45"/>
                </a:solidFill>
                <a:effectLst/>
                <a:uFillTx/>
                <a:latin typeface="Segoe UI Semibold"/>
              </a:rPr>
              <a:t>06</a:t>
            </a:r>
            <a:endParaRPr lang="en-IN" sz="2000" b="0" u="none" strike="noStrike">
              <a:solidFill>
                <a:srgbClr val="000000"/>
              </a:solidFill>
              <a:effectLst/>
              <a:uFillTx/>
              <a:latin typeface="Arial"/>
            </a:endParaRPr>
          </a:p>
        </p:txBody>
      </p:sp>
      <p:sp>
        <p:nvSpPr>
          <p:cNvPr id="98" name="TextBox 28"/>
          <p:cNvSpPr/>
          <p:nvPr/>
        </p:nvSpPr>
        <p:spPr>
          <a:xfrm>
            <a:off x="1463040" y="4910400"/>
            <a:ext cx="4205520" cy="3650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700" b="1" u="none" strike="noStrike">
                <a:solidFill>
                  <a:srgbClr val="222B3A"/>
                </a:solidFill>
                <a:effectLst/>
                <a:uFillTx/>
                <a:latin typeface="Segoe UI Semibold"/>
              </a:rPr>
              <a:t>AI Agent, API &amp; Dashboard</a:t>
            </a:r>
            <a:endParaRPr lang="en-IN" sz="1700" b="0" u="none" strike="noStrike">
              <a:solidFill>
                <a:srgbClr val="000000"/>
              </a:solidFill>
              <a:effectLst/>
              <a:uFillTx/>
              <a:latin typeface="Arial"/>
            </a:endParaRPr>
          </a:p>
        </p:txBody>
      </p:sp>
      <p:sp>
        <p:nvSpPr>
          <p:cNvPr id="99" name="TextBox 29"/>
          <p:cNvSpPr/>
          <p:nvPr/>
        </p:nvSpPr>
        <p:spPr>
          <a:xfrm>
            <a:off x="1463040" y="5239440"/>
            <a:ext cx="594288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0" u="none" strike="noStrike">
                <a:solidFill>
                  <a:srgbClr val="667080"/>
                </a:solidFill>
                <a:effectLst/>
                <a:uFillTx/>
                <a:latin typeface="Segoe UI"/>
              </a:rPr>
              <a:t>How it's served to users</a:t>
            </a:r>
            <a:endParaRPr lang="en-IN" sz="1200" b="0" u="none" strike="noStrike">
              <a:solidFill>
                <a:srgbClr val="000000"/>
              </a:solidFill>
              <a:effectLst/>
              <a:uFillTx/>
              <a:latin typeface="Arial"/>
            </a:endParaRPr>
          </a:p>
        </p:txBody>
      </p:sp>
      <p:sp>
        <p:nvSpPr>
          <p:cNvPr id="100" name="Rectangle 30"/>
          <p:cNvSpPr/>
          <p:nvPr/>
        </p:nvSpPr>
        <p:spPr>
          <a:xfrm>
            <a:off x="640080" y="5495400"/>
            <a:ext cx="10880640" cy="8640"/>
          </a:xfrm>
          <a:prstGeom prst="rect">
            <a:avLst/>
          </a:prstGeom>
          <a:solidFill>
            <a:srgbClr val="E7E1D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5640" rIns="90000" bIns="-35640" anchor="ctr">
            <a:noAutofit/>
          </a:bodyPr>
          <a:p>
            <a:pPr/>
            <a:endParaRPr lang="en-US" sz="1800" b="0" u="none" strike="noStrike">
              <a:solidFill>
                <a:schemeClr val="lt1"/>
              </a:solidFill>
              <a:effectLst/>
              <a:uFillTx/>
              <a:latin typeface="Calibri"/>
            </a:endParaRPr>
          </a:p>
        </p:txBody>
      </p:sp>
      <p:sp>
        <p:nvSpPr>
          <p:cNvPr id="101" name="TextBox 31"/>
          <p:cNvSpPr/>
          <p:nvPr/>
        </p:nvSpPr>
        <p:spPr>
          <a:xfrm>
            <a:off x="640080" y="5550480"/>
            <a:ext cx="822240" cy="6577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000" b="1" u="none" strike="noStrike">
                <a:solidFill>
                  <a:srgbClr val="D96B45"/>
                </a:solidFill>
                <a:effectLst/>
                <a:uFillTx/>
                <a:latin typeface="Segoe UI Semibold"/>
              </a:rPr>
              <a:t>07</a:t>
            </a:r>
            <a:endParaRPr lang="en-IN" sz="2000" b="0" u="none" strike="noStrike">
              <a:solidFill>
                <a:srgbClr val="000000"/>
              </a:solidFill>
              <a:effectLst/>
              <a:uFillTx/>
              <a:latin typeface="Arial"/>
            </a:endParaRPr>
          </a:p>
        </p:txBody>
      </p:sp>
      <p:sp>
        <p:nvSpPr>
          <p:cNvPr id="102" name="TextBox 32"/>
          <p:cNvSpPr/>
          <p:nvPr/>
        </p:nvSpPr>
        <p:spPr>
          <a:xfrm>
            <a:off x="1463040" y="5568840"/>
            <a:ext cx="4205520" cy="3650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700" b="1" u="none" strike="noStrike">
                <a:solidFill>
                  <a:srgbClr val="222B3A"/>
                </a:solidFill>
                <a:effectLst/>
                <a:uFillTx/>
                <a:latin typeface="Segoe UI Semibold"/>
              </a:rPr>
              <a:t>Analytics, Limits &amp; Roadmap</a:t>
            </a:r>
            <a:endParaRPr lang="en-IN" sz="1700" b="0" u="none" strike="noStrike">
              <a:solidFill>
                <a:srgbClr val="000000"/>
              </a:solidFill>
              <a:effectLst/>
              <a:uFillTx/>
              <a:latin typeface="Arial"/>
            </a:endParaRPr>
          </a:p>
        </p:txBody>
      </p:sp>
      <p:sp>
        <p:nvSpPr>
          <p:cNvPr id="103" name="TextBox 33"/>
          <p:cNvSpPr/>
          <p:nvPr/>
        </p:nvSpPr>
        <p:spPr>
          <a:xfrm>
            <a:off x="1463040" y="5897880"/>
            <a:ext cx="594288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0" u="none" strike="noStrike">
                <a:solidFill>
                  <a:srgbClr val="667080"/>
                </a:solidFill>
                <a:effectLst/>
                <a:uFillTx/>
                <a:latin typeface="Segoe UI"/>
              </a:rPr>
              <a:t>Business findings and next steps</a:t>
            </a:r>
            <a:endParaRPr lang="en-IN"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Rectangle 1"/>
          <p:cNvSpPr/>
          <p:nvPr/>
        </p:nvSpPr>
        <p:spPr>
          <a:xfrm>
            <a:off x="0" y="0"/>
            <a:ext cx="12191760" cy="6857640"/>
          </a:xfrm>
          <a:prstGeom prst="rect">
            <a:avLst/>
          </a:prstGeom>
          <a:solidFill>
            <a:srgbClr val="FCFBF7"/>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800" b="0" u="none" strike="noStrike">
              <a:solidFill>
                <a:schemeClr val="lt1"/>
              </a:solidFill>
              <a:effectLst/>
              <a:uFillTx/>
              <a:latin typeface="Calibri"/>
            </a:endParaRPr>
          </a:p>
        </p:txBody>
      </p:sp>
      <p:sp>
        <p:nvSpPr>
          <p:cNvPr id="105" name="TextBox 2"/>
          <p:cNvSpPr/>
          <p:nvPr/>
        </p:nvSpPr>
        <p:spPr>
          <a:xfrm>
            <a:off x="640080" y="457200"/>
            <a:ext cx="8229240" cy="319680"/>
          </a:xfrm>
          <a:prstGeom prst="rect">
            <a:avLst/>
          </a:prstGeom>
          <a:noFill/>
          <a:ln w="0">
            <a:noFill/>
          </a:ln>
        </p:spPr>
        <p:style>
          <a:lnRef idx="0"/>
          <a:fillRef idx="0"/>
          <a:effectRef idx="0"/>
          <a:fontRef idx="minor"/>
        </p:style>
        <p:txBody>
          <a:bodyPr lIns="0" tIns="0" rIns="0" bIns="0" anchor="t">
            <a:spAutoFit/>
          </a:bodyPr>
          <a:p>
            <a:pPr>
              <a:lnSpc>
                <a:spcPct val="100000"/>
              </a:lnSpc>
            </a:pPr>
            <a:r>
              <a:rPr lang="en-IN" sz="1300" b="1" u="none" strike="noStrike">
                <a:solidFill>
                  <a:srgbClr val="D96B45"/>
                </a:solidFill>
                <a:effectLst/>
                <a:uFillTx/>
                <a:latin typeface="Segoe UI Semibold"/>
              </a:rPr>
              <a:t>THE PROBLEM</a:t>
            </a:r>
            <a:endParaRPr lang="en-IN" sz="1300" b="0" u="none" strike="noStrike">
              <a:solidFill>
                <a:srgbClr val="000000"/>
              </a:solidFill>
              <a:effectLst/>
              <a:uFillTx/>
              <a:latin typeface="Arial"/>
            </a:endParaRPr>
          </a:p>
        </p:txBody>
      </p:sp>
      <p:sp>
        <p:nvSpPr>
          <p:cNvPr id="106" name="TextBox 3"/>
          <p:cNvSpPr/>
          <p:nvPr/>
        </p:nvSpPr>
        <p:spPr>
          <a:xfrm>
            <a:off x="640080" y="777240"/>
            <a:ext cx="10606680" cy="776880"/>
          </a:xfrm>
          <a:prstGeom prst="rect">
            <a:avLst/>
          </a:prstGeom>
          <a:noFill/>
          <a:ln w="0">
            <a:noFill/>
          </a:ln>
        </p:spPr>
        <p:style>
          <a:lnRef idx="0"/>
          <a:fillRef idx="0"/>
          <a:effectRef idx="0"/>
          <a:fontRef idx="minor"/>
        </p:style>
        <p:txBody>
          <a:bodyPr lIns="0" tIns="0" rIns="0" bIns="0" anchor="t">
            <a:spAutoFit/>
          </a:bodyPr>
          <a:p>
            <a:pPr>
              <a:lnSpc>
                <a:spcPct val="100000"/>
              </a:lnSpc>
            </a:pPr>
            <a:r>
              <a:rPr lang="en-IN" sz="3400" b="1" u="none" strike="noStrike">
                <a:solidFill>
                  <a:srgbClr val="222B3A"/>
                </a:solidFill>
                <a:effectLst/>
                <a:uFillTx/>
                <a:latin typeface="Segoe UI Semibold"/>
              </a:rPr>
              <a:t>Training is one-size-fits-all</a:t>
            </a:r>
            <a:endParaRPr lang="en-IN" sz="3400" b="0" u="none" strike="noStrike">
              <a:solidFill>
                <a:srgbClr val="000000"/>
              </a:solidFill>
              <a:effectLst/>
              <a:uFillTx/>
              <a:latin typeface="Arial"/>
            </a:endParaRPr>
          </a:p>
        </p:txBody>
      </p:sp>
      <p:sp>
        <p:nvSpPr>
          <p:cNvPr id="107" name="Rectangle 4"/>
          <p:cNvSpPr/>
          <p:nvPr/>
        </p:nvSpPr>
        <p:spPr>
          <a:xfrm>
            <a:off x="640080" y="1536120"/>
            <a:ext cx="822600" cy="50400"/>
          </a:xfrm>
          <a:prstGeom prst="rect">
            <a:avLst/>
          </a:prstGeom>
          <a:solidFill>
            <a:srgbClr val="D96B45"/>
          </a:solidFill>
          <a:ln>
            <a:noFill/>
          </a:ln>
        </p:spPr>
        <p:style>
          <a:lnRef idx="1">
            <a:schemeClr val="accent1"/>
          </a:lnRef>
          <a:fillRef idx="3">
            <a:schemeClr val="accent1"/>
          </a:fillRef>
          <a:effectRef idx="2">
            <a:schemeClr val="accent1"/>
          </a:effectRef>
          <a:fontRef idx="minor"/>
        </p:style>
        <p:txBody>
          <a:bodyPr lIns="90000" tIns="5760" rIns="90000" bIns="5760" anchor="ctr">
            <a:noAutofit/>
          </a:bodyPr>
          <a:p>
            <a:pPr/>
            <a:endParaRPr lang="en-IN" sz="1800" b="0" u="none" strike="noStrike">
              <a:solidFill>
                <a:schemeClr val="lt1"/>
              </a:solidFill>
              <a:effectLst/>
              <a:uFillTx/>
              <a:latin typeface="Calibri"/>
            </a:endParaRPr>
          </a:p>
        </p:txBody>
      </p:sp>
      <p:sp>
        <p:nvSpPr>
          <p:cNvPr id="108" name="TextBox 5"/>
          <p:cNvSpPr/>
          <p:nvPr/>
        </p:nvSpPr>
        <p:spPr>
          <a:xfrm>
            <a:off x="11155680" y="6355080"/>
            <a:ext cx="822600" cy="365400"/>
          </a:xfrm>
          <a:prstGeom prst="rect">
            <a:avLst/>
          </a:prstGeom>
          <a:noFill/>
          <a:ln w="0">
            <a:noFill/>
          </a:ln>
        </p:spPr>
        <p:style>
          <a:lnRef idx="0"/>
          <a:fillRef idx="0"/>
          <a:effectRef idx="0"/>
          <a:fontRef idx="minor"/>
        </p:style>
        <p:txBody>
          <a:bodyPr lIns="0" tIns="0" rIns="0" bIns="0" anchor="t">
            <a:spAutoFit/>
          </a:bodyPr>
          <a:p>
            <a:pPr algn="r">
              <a:lnSpc>
                <a:spcPct val="100000"/>
              </a:lnSpc>
            </a:pPr>
            <a:r>
              <a:rPr lang="en-IN" sz="1400" b="0" u="none" strike="noStrike">
                <a:solidFill>
                  <a:srgbClr val="667080"/>
                </a:solidFill>
                <a:effectLst/>
                <a:uFillTx/>
                <a:latin typeface="Segoe UI Semibold"/>
              </a:rPr>
              <a:t>03</a:t>
            </a:r>
            <a:endParaRPr lang="en-IN" sz="1400" b="0" u="none" strike="noStrike">
              <a:solidFill>
                <a:srgbClr val="000000"/>
              </a:solidFill>
              <a:effectLst/>
              <a:uFillTx/>
              <a:latin typeface="Arial"/>
            </a:endParaRPr>
          </a:p>
        </p:txBody>
      </p:sp>
      <p:sp>
        <p:nvSpPr>
          <p:cNvPr id="109" name="TextBox 6"/>
          <p:cNvSpPr/>
          <p:nvPr/>
        </p:nvSpPr>
        <p:spPr>
          <a:xfrm>
            <a:off x="640080" y="6473880"/>
            <a:ext cx="5486040" cy="273960"/>
          </a:xfrm>
          <a:prstGeom prst="rect">
            <a:avLst/>
          </a:prstGeom>
          <a:noFill/>
          <a:ln w="0">
            <a:noFill/>
          </a:ln>
        </p:spPr>
        <p:style>
          <a:lnRef idx="0"/>
          <a:fillRef idx="0"/>
          <a:effectRef idx="0"/>
          <a:fontRef idx="minor"/>
        </p:style>
        <p:txBody>
          <a:bodyPr lIns="0" tIns="0" rIns="0" bIns="0" anchor="t">
            <a:spAutoFit/>
          </a:bodyPr>
          <a:p>
            <a:pPr>
              <a:lnSpc>
                <a:spcPct val="100000"/>
              </a:lnSpc>
            </a:pPr>
            <a:endParaRPr lang="en-IN" sz="1800" b="0" u="none" strike="noStrike">
              <a:solidFill>
                <a:srgbClr val="000000"/>
              </a:solidFill>
              <a:effectLst/>
              <a:uFillTx/>
              <a:latin typeface="Arial"/>
            </a:endParaRPr>
          </a:p>
        </p:txBody>
      </p:sp>
      <p:sp>
        <p:nvSpPr>
          <p:cNvPr id="110" name="Rectangle 7"/>
          <p:cNvSpPr/>
          <p:nvPr/>
        </p:nvSpPr>
        <p:spPr>
          <a:xfrm>
            <a:off x="640080" y="1874520"/>
            <a:ext cx="56880" cy="914040"/>
          </a:xfrm>
          <a:prstGeom prst="rect">
            <a:avLst/>
          </a:prstGeom>
          <a:solidFill>
            <a:srgbClr val="D96B45"/>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800" b="0" u="none" strike="noStrike">
              <a:solidFill>
                <a:schemeClr val="lt1"/>
              </a:solidFill>
              <a:effectLst/>
              <a:uFillTx/>
              <a:latin typeface="Calibri"/>
            </a:endParaRPr>
          </a:p>
        </p:txBody>
      </p:sp>
      <p:sp>
        <p:nvSpPr>
          <p:cNvPr id="111" name="TextBox 8"/>
          <p:cNvSpPr/>
          <p:nvPr/>
        </p:nvSpPr>
        <p:spPr>
          <a:xfrm>
            <a:off x="914400" y="1828800"/>
            <a:ext cx="10515240" cy="959760"/>
          </a:xfrm>
          <a:prstGeom prst="rect">
            <a:avLst/>
          </a:prstGeom>
          <a:noFill/>
          <a:ln w="0">
            <a:noFill/>
          </a:ln>
        </p:spPr>
        <p:style>
          <a:lnRef idx="0"/>
          <a:fillRef idx="0"/>
          <a:effectRef idx="0"/>
          <a:fontRef idx="minor"/>
        </p:style>
        <p:txBody>
          <a:bodyPr lIns="0" tIns="0" rIns="0" bIns="0" anchor="t">
            <a:spAutoFit/>
          </a:bodyPr>
          <a:p>
            <a:pPr>
              <a:lnSpc>
                <a:spcPct val="135000"/>
              </a:lnSpc>
            </a:pPr>
            <a:r>
              <a:rPr lang="en-IN" sz="1800" b="0" i="1" u="none" strike="noStrike">
                <a:solidFill>
                  <a:srgbClr val="222B3A"/>
                </a:solidFill>
                <a:effectLst/>
                <a:uFillTx/>
                <a:latin typeface="Segoe UI"/>
              </a:rPr>
              <a:t>Training departments need customized learning plans for employees based on their individual needs and career objectives.</a:t>
            </a:r>
            <a:endParaRPr lang="en-IN" sz="1800" b="0" u="none" strike="noStrike">
              <a:solidFill>
                <a:srgbClr val="000000"/>
              </a:solidFill>
              <a:effectLst/>
              <a:uFillTx/>
              <a:latin typeface="Arial"/>
            </a:endParaRPr>
          </a:p>
        </p:txBody>
      </p:sp>
      <p:sp>
        <p:nvSpPr>
          <p:cNvPr id="112" name="Rounded Rectangle 9"/>
          <p:cNvSpPr/>
          <p:nvPr/>
        </p:nvSpPr>
        <p:spPr>
          <a:xfrm>
            <a:off x="640080" y="3017520"/>
            <a:ext cx="5257440" cy="3291480"/>
          </a:xfrm>
          <a:prstGeom prst="roundRect">
            <a:avLst>
              <a:gd name="adj" fmla="val 8000"/>
            </a:avLst>
          </a:prstGeom>
          <a:solidFill>
            <a:srgbClr val="F3EFE7"/>
          </a:solidFill>
          <a:ln>
            <a:solidFill>
              <a:srgbClr val="E7E1D6"/>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800" b="0" u="none" strike="noStrike">
              <a:solidFill>
                <a:schemeClr val="lt1"/>
              </a:solidFill>
              <a:effectLst/>
              <a:uFillTx/>
              <a:latin typeface="Calibri"/>
            </a:endParaRPr>
          </a:p>
        </p:txBody>
      </p:sp>
      <p:sp>
        <p:nvSpPr>
          <p:cNvPr id="113" name="Rectangle 10"/>
          <p:cNvSpPr/>
          <p:nvPr/>
        </p:nvSpPr>
        <p:spPr>
          <a:xfrm>
            <a:off x="640080" y="3017520"/>
            <a:ext cx="56880" cy="3291480"/>
          </a:xfrm>
          <a:prstGeom prst="rect">
            <a:avLst/>
          </a:prstGeom>
          <a:solidFill>
            <a:srgbClr val="C04B3D"/>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800" b="0" u="none" strike="noStrike">
              <a:solidFill>
                <a:schemeClr val="lt1"/>
              </a:solidFill>
              <a:effectLst/>
              <a:uFillTx/>
              <a:latin typeface="Calibri"/>
            </a:endParaRPr>
          </a:p>
        </p:txBody>
      </p:sp>
      <p:sp>
        <p:nvSpPr>
          <p:cNvPr id="114" name="TextBox 11"/>
          <p:cNvSpPr/>
          <p:nvPr/>
        </p:nvSpPr>
        <p:spPr>
          <a:xfrm>
            <a:off x="960120" y="3273480"/>
            <a:ext cx="4708800" cy="319680"/>
          </a:xfrm>
          <a:prstGeom prst="rect">
            <a:avLst/>
          </a:prstGeom>
          <a:noFill/>
          <a:ln w="0">
            <a:noFill/>
          </a:ln>
        </p:spPr>
        <p:style>
          <a:lnRef idx="0"/>
          <a:fillRef idx="0"/>
          <a:effectRef idx="0"/>
          <a:fontRef idx="minor"/>
        </p:style>
        <p:txBody>
          <a:bodyPr lIns="0" tIns="0" rIns="0" bIns="0" anchor="t">
            <a:spAutoFit/>
          </a:bodyPr>
          <a:p>
            <a:pPr>
              <a:lnSpc>
                <a:spcPct val="100000"/>
              </a:lnSpc>
            </a:pPr>
            <a:r>
              <a:rPr lang="en-IN" sz="1300" b="1" u="none" strike="noStrike">
                <a:solidFill>
                  <a:srgbClr val="C04B3D"/>
                </a:solidFill>
                <a:effectLst/>
                <a:uFillTx/>
                <a:latin typeface="Segoe UI Semibold"/>
              </a:rPr>
              <a:t>TODAY</a:t>
            </a:r>
            <a:endParaRPr lang="en-IN" sz="1300" b="0" u="none" strike="noStrike">
              <a:solidFill>
                <a:srgbClr val="000000"/>
              </a:solidFill>
              <a:effectLst/>
              <a:uFillTx/>
              <a:latin typeface="Arial"/>
            </a:endParaRPr>
          </a:p>
        </p:txBody>
      </p:sp>
      <p:sp>
        <p:nvSpPr>
          <p:cNvPr id="115" name="TextBox 12"/>
          <p:cNvSpPr/>
          <p:nvPr/>
        </p:nvSpPr>
        <p:spPr>
          <a:xfrm>
            <a:off x="960120" y="3703320"/>
            <a:ext cx="4663080" cy="2468520"/>
          </a:xfrm>
          <a:prstGeom prst="rect">
            <a:avLst/>
          </a:prstGeom>
          <a:noFill/>
          <a:ln w="0">
            <a:noFill/>
          </a:ln>
        </p:spPr>
        <p:style>
          <a:lnRef idx="0"/>
          <a:fillRef idx="0"/>
          <a:effectRef idx="0"/>
          <a:fontRef idx="minor"/>
        </p:style>
        <p:txBody>
          <a:bodyPr lIns="0" tIns="0" rIns="0" bIns="0" anchor="t">
            <a:spAutoFit/>
          </a:bodyPr>
          <a:p>
            <a:pPr>
              <a:lnSpc>
                <a:spcPct val="120000"/>
              </a:lnSpc>
              <a:spcAft>
                <a:spcPts val="1199"/>
              </a:spcAft>
            </a:pPr>
            <a:r>
              <a:rPr lang="en-IN" sz="1350" b="1" u="none" strike="noStrike">
                <a:solidFill>
                  <a:srgbClr val="C04B3D"/>
                </a:solidFill>
                <a:effectLst/>
                <a:uFillTx/>
                <a:latin typeface="Segoe UI"/>
              </a:rPr>
              <a:t>▪ </a:t>
            </a:r>
            <a:r>
              <a:rPr lang="en-IN" sz="1350" b="0" u="none" strike="noStrike">
                <a:solidFill>
                  <a:srgbClr val="222B3A"/>
                </a:solidFill>
                <a:effectLst/>
                <a:uFillTx/>
                <a:latin typeface="Segoe UI"/>
              </a:rPr>
              <a:t>Low course engagement and completion — irrelevant courses feel like noise</a:t>
            </a:r>
            <a:endParaRPr lang="en-IN" sz="1350" b="0" u="none" strike="noStrike">
              <a:solidFill>
                <a:srgbClr val="000000"/>
              </a:solidFill>
              <a:effectLst/>
              <a:uFillTx/>
              <a:latin typeface="Arial"/>
            </a:endParaRPr>
          </a:p>
          <a:p>
            <a:pPr>
              <a:lnSpc>
                <a:spcPct val="120000"/>
              </a:lnSpc>
              <a:spcAft>
                <a:spcPts val="1199"/>
              </a:spcAft>
            </a:pPr>
            <a:r>
              <a:rPr lang="en-IN" sz="1350" b="1" u="none" strike="noStrike">
                <a:solidFill>
                  <a:srgbClr val="C04B3D"/>
                </a:solidFill>
                <a:effectLst/>
                <a:uFillTx/>
                <a:latin typeface="Segoe UI"/>
              </a:rPr>
              <a:t>▪ </a:t>
            </a:r>
            <a:r>
              <a:rPr lang="en-IN" sz="1350" b="0" u="none" strike="noStrike">
                <a:solidFill>
                  <a:srgbClr val="222B3A"/>
                </a:solidFill>
                <a:effectLst/>
                <a:uFillTx/>
                <a:latin typeface="Segoe UI"/>
              </a:rPr>
              <a:t>Misalignment between training spend and real career / business needs</a:t>
            </a:r>
            <a:endParaRPr lang="en-IN" sz="1350" b="0" u="none" strike="noStrike">
              <a:solidFill>
                <a:srgbClr val="000000"/>
              </a:solidFill>
              <a:effectLst/>
              <a:uFillTx/>
              <a:latin typeface="Arial"/>
            </a:endParaRPr>
          </a:p>
          <a:p>
            <a:pPr>
              <a:lnSpc>
                <a:spcPct val="120000"/>
              </a:lnSpc>
              <a:spcAft>
                <a:spcPts val="1199"/>
              </a:spcAft>
            </a:pPr>
            <a:r>
              <a:rPr lang="en-IN" sz="1350" b="1" u="none" strike="noStrike">
                <a:solidFill>
                  <a:srgbClr val="C04B3D"/>
                </a:solidFill>
                <a:effectLst/>
                <a:uFillTx/>
                <a:latin typeface="Segoe UI"/>
              </a:rPr>
              <a:t>▪ </a:t>
            </a:r>
            <a:r>
              <a:rPr lang="en-IN" sz="1350" b="0" u="none" strike="noStrike">
                <a:solidFill>
                  <a:srgbClr val="222B3A"/>
                </a:solidFill>
                <a:effectLst/>
                <a:uFillTx/>
                <a:latin typeface="Segoe UI"/>
              </a:rPr>
              <a:t>No visibility into why a course was suggested, or what skill it closes</a:t>
            </a:r>
            <a:endParaRPr lang="en-IN" sz="1350" b="0" u="none" strike="noStrike">
              <a:solidFill>
                <a:srgbClr val="000000"/>
              </a:solidFill>
              <a:effectLst/>
              <a:uFillTx/>
              <a:latin typeface="Arial"/>
            </a:endParaRPr>
          </a:p>
          <a:p>
            <a:pPr>
              <a:lnSpc>
                <a:spcPct val="120000"/>
              </a:lnSpc>
              <a:spcAft>
                <a:spcPts val="1199"/>
              </a:spcAft>
            </a:pPr>
            <a:r>
              <a:rPr lang="en-IN" sz="1350" b="1" u="none" strike="noStrike">
                <a:solidFill>
                  <a:srgbClr val="C04B3D"/>
                </a:solidFill>
                <a:effectLst/>
                <a:uFillTx/>
                <a:latin typeface="Segoe UI"/>
              </a:rPr>
              <a:t>▪ </a:t>
            </a:r>
            <a:r>
              <a:rPr lang="en-IN" sz="1350" b="0" u="none" strike="noStrike">
                <a:solidFill>
                  <a:srgbClr val="222B3A"/>
                </a:solidFill>
                <a:effectLst/>
                <a:uFillTx/>
                <a:latin typeface="Segoe UI"/>
              </a:rPr>
              <a:t>No way to see which skill gaps the current catalogue can't even address</a:t>
            </a:r>
            <a:endParaRPr lang="en-IN" sz="1350" b="0" u="none" strike="noStrike">
              <a:solidFill>
                <a:srgbClr val="000000"/>
              </a:solidFill>
              <a:effectLst/>
              <a:uFillTx/>
              <a:latin typeface="Arial"/>
            </a:endParaRPr>
          </a:p>
        </p:txBody>
      </p:sp>
      <p:sp>
        <p:nvSpPr>
          <p:cNvPr id="116" name="Rounded Rectangle 13"/>
          <p:cNvSpPr/>
          <p:nvPr/>
        </p:nvSpPr>
        <p:spPr>
          <a:xfrm>
            <a:off x="6263640" y="3017520"/>
            <a:ext cx="5257440" cy="3291480"/>
          </a:xfrm>
          <a:prstGeom prst="roundRect">
            <a:avLst>
              <a:gd name="adj" fmla="val 8000"/>
            </a:avLst>
          </a:prstGeom>
          <a:solidFill>
            <a:srgbClr val="222B3A"/>
          </a:solidFill>
          <a:ln>
            <a:solidFill>
              <a:srgbClr val="222B3A"/>
            </a:solidFill>
            <a:round/>
          </a:ln>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800" b="0" u="none" strike="noStrike">
              <a:solidFill>
                <a:schemeClr val="lt1"/>
              </a:solidFill>
              <a:effectLst/>
              <a:uFillTx/>
              <a:latin typeface="Calibri"/>
            </a:endParaRPr>
          </a:p>
        </p:txBody>
      </p:sp>
      <p:sp>
        <p:nvSpPr>
          <p:cNvPr id="117" name="Rectangle 14"/>
          <p:cNvSpPr/>
          <p:nvPr/>
        </p:nvSpPr>
        <p:spPr>
          <a:xfrm>
            <a:off x="6263640" y="3017520"/>
            <a:ext cx="56880" cy="3291480"/>
          </a:xfrm>
          <a:prstGeom prst="rect">
            <a:avLst/>
          </a:prstGeom>
          <a:solidFill>
            <a:srgbClr val="1E8A7A"/>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IN" sz="1800" b="0" u="none" strike="noStrike">
              <a:solidFill>
                <a:schemeClr val="lt1"/>
              </a:solidFill>
              <a:effectLst/>
              <a:uFillTx/>
              <a:latin typeface="Calibri"/>
            </a:endParaRPr>
          </a:p>
        </p:txBody>
      </p:sp>
      <p:sp>
        <p:nvSpPr>
          <p:cNvPr id="118" name="TextBox 15"/>
          <p:cNvSpPr/>
          <p:nvPr/>
        </p:nvSpPr>
        <p:spPr>
          <a:xfrm>
            <a:off x="6583680" y="3273480"/>
            <a:ext cx="4708800" cy="319680"/>
          </a:xfrm>
          <a:prstGeom prst="rect">
            <a:avLst/>
          </a:prstGeom>
          <a:noFill/>
          <a:ln w="0">
            <a:noFill/>
          </a:ln>
        </p:spPr>
        <p:style>
          <a:lnRef idx="0"/>
          <a:fillRef idx="0"/>
          <a:effectRef idx="0"/>
          <a:fontRef idx="minor"/>
        </p:style>
        <p:txBody>
          <a:bodyPr lIns="0" tIns="0" rIns="0" bIns="0" anchor="t">
            <a:spAutoFit/>
          </a:bodyPr>
          <a:p>
            <a:pPr>
              <a:lnSpc>
                <a:spcPct val="100000"/>
              </a:lnSpc>
            </a:pPr>
            <a:r>
              <a:rPr lang="en-IN" sz="1300" b="1" u="none" strike="noStrike">
                <a:solidFill>
                  <a:srgbClr val="1E8A7A"/>
                </a:solidFill>
                <a:effectLst/>
                <a:uFillTx/>
                <a:latin typeface="Segoe UI Semibold"/>
              </a:rPr>
              <a:t>THE GOAL</a:t>
            </a:r>
            <a:endParaRPr lang="en-IN" sz="1300" b="0" u="none" strike="noStrike">
              <a:solidFill>
                <a:srgbClr val="000000"/>
              </a:solidFill>
              <a:effectLst/>
              <a:uFillTx/>
              <a:latin typeface="Arial"/>
            </a:endParaRPr>
          </a:p>
        </p:txBody>
      </p:sp>
      <p:sp>
        <p:nvSpPr>
          <p:cNvPr id="119" name="Oval 16"/>
          <p:cNvSpPr/>
          <p:nvPr/>
        </p:nvSpPr>
        <p:spPr>
          <a:xfrm>
            <a:off x="6583680" y="3794760"/>
            <a:ext cx="383760" cy="383760"/>
          </a:xfrm>
          <a:prstGeom prst="ellipse">
            <a:avLst/>
          </a:prstGeom>
          <a:solidFill>
            <a:srgbClr val="1E8A7A"/>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pPr algn="ctr">
              <a:lnSpc>
                <a:spcPct val="100000"/>
              </a:lnSpc>
            </a:pPr>
            <a:r>
              <a:rPr lang="en-IN" sz="1400" b="1" u="none" strike="noStrike">
                <a:solidFill>
                  <a:srgbClr val="222B3A"/>
                </a:solidFill>
                <a:effectLst/>
                <a:uFillTx/>
                <a:latin typeface="Segoe UI Semibold"/>
              </a:rPr>
              <a:t>1</a:t>
            </a:r>
            <a:endParaRPr lang="en-IN" sz="1400" b="0" u="none" strike="noStrike">
              <a:solidFill>
                <a:srgbClr val="FFFFFF"/>
              </a:solidFill>
              <a:effectLst/>
              <a:uFillTx/>
              <a:latin typeface="Arial"/>
            </a:endParaRPr>
          </a:p>
        </p:txBody>
      </p:sp>
      <p:sp>
        <p:nvSpPr>
          <p:cNvPr id="120" name="TextBox 17"/>
          <p:cNvSpPr/>
          <p:nvPr/>
        </p:nvSpPr>
        <p:spPr>
          <a:xfrm>
            <a:off x="7104960" y="3813120"/>
            <a:ext cx="4068720" cy="685440"/>
          </a:xfrm>
          <a:prstGeom prst="rect">
            <a:avLst/>
          </a:prstGeom>
          <a:noFill/>
          <a:ln w="0">
            <a:noFill/>
          </a:ln>
        </p:spPr>
        <p:style>
          <a:lnRef idx="0"/>
          <a:fillRef idx="0"/>
          <a:effectRef idx="0"/>
          <a:fontRef idx="minor"/>
        </p:style>
        <p:txBody>
          <a:bodyPr lIns="0" tIns="0" rIns="0" bIns="0" anchor="t">
            <a:spAutoFit/>
          </a:bodyPr>
          <a:p>
            <a:pPr>
              <a:lnSpc>
                <a:spcPct val="120000"/>
              </a:lnSpc>
            </a:pPr>
            <a:r>
              <a:rPr lang="en-IN" sz="1400" b="0" u="none" strike="noStrike">
                <a:solidFill>
                  <a:srgbClr val="FFFFFF"/>
                </a:solidFill>
                <a:effectLst/>
                <a:uFillTx/>
                <a:latin typeface="Segoe UI"/>
              </a:rPr>
              <a:t>Recommends the right courses to the right person</a:t>
            </a:r>
            <a:endParaRPr lang="en-IN" sz="1400" b="0" u="none" strike="noStrike">
              <a:solidFill>
                <a:srgbClr val="000000"/>
              </a:solidFill>
              <a:effectLst/>
              <a:uFillTx/>
              <a:latin typeface="Arial"/>
            </a:endParaRPr>
          </a:p>
        </p:txBody>
      </p:sp>
      <p:sp>
        <p:nvSpPr>
          <p:cNvPr id="121" name="Oval 18"/>
          <p:cNvSpPr/>
          <p:nvPr/>
        </p:nvSpPr>
        <p:spPr>
          <a:xfrm>
            <a:off x="6583680" y="4599360"/>
            <a:ext cx="383760" cy="383760"/>
          </a:xfrm>
          <a:prstGeom prst="ellipse">
            <a:avLst/>
          </a:prstGeom>
          <a:solidFill>
            <a:srgbClr val="1E8A7A"/>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pPr algn="ctr">
              <a:lnSpc>
                <a:spcPct val="100000"/>
              </a:lnSpc>
            </a:pPr>
            <a:r>
              <a:rPr lang="en-IN" sz="1400" b="1" u="none" strike="noStrike">
                <a:solidFill>
                  <a:srgbClr val="222B3A"/>
                </a:solidFill>
                <a:effectLst/>
                <a:uFillTx/>
                <a:latin typeface="Segoe UI Semibold"/>
              </a:rPr>
              <a:t>2</a:t>
            </a:r>
            <a:endParaRPr lang="en-IN" sz="1400" b="0" u="none" strike="noStrike">
              <a:solidFill>
                <a:srgbClr val="FFFFFF"/>
              </a:solidFill>
              <a:effectLst/>
              <a:uFillTx/>
              <a:latin typeface="Arial"/>
            </a:endParaRPr>
          </a:p>
        </p:txBody>
      </p:sp>
      <p:sp>
        <p:nvSpPr>
          <p:cNvPr id="122" name="TextBox 19"/>
          <p:cNvSpPr/>
          <p:nvPr/>
        </p:nvSpPr>
        <p:spPr>
          <a:xfrm>
            <a:off x="7104960" y="4617720"/>
            <a:ext cx="4068720" cy="685440"/>
          </a:xfrm>
          <a:prstGeom prst="rect">
            <a:avLst/>
          </a:prstGeom>
          <a:noFill/>
          <a:ln w="0">
            <a:noFill/>
          </a:ln>
        </p:spPr>
        <p:style>
          <a:lnRef idx="0"/>
          <a:fillRef idx="0"/>
          <a:effectRef idx="0"/>
          <a:fontRef idx="minor"/>
        </p:style>
        <p:txBody>
          <a:bodyPr lIns="0" tIns="0" rIns="0" bIns="0" anchor="t">
            <a:spAutoFit/>
          </a:bodyPr>
          <a:p>
            <a:pPr>
              <a:lnSpc>
                <a:spcPct val="120000"/>
              </a:lnSpc>
            </a:pPr>
            <a:r>
              <a:rPr lang="en-IN" sz="1400" b="0" u="none" strike="noStrike">
                <a:solidFill>
                  <a:srgbClr val="FFFFFF"/>
                </a:solidFill>
                <a:effectLst/>
                <a:uFillTx/>
                <a:latin typeface="Segoe UI"/>
              </a:rPr>
              <a:t>Explains why each course was chosen</a:t>
            </a:r>
            <a:endParaRPr lang="en-IN" sz="1400" b="0" u="none" strike="noStrike">
              <a:solidFill>
                <a:srgbClr val="000000"/>
              </a:solidFill>
              <a:effectLst/>
              <a:uFillTx/>
              <a:latin typeface="Arial"/>
            </a:endParaRPr>
          </a:p>
        </p:txBody>
      </p:sp>
      <p:sp>
        <p:nvSpPr>
          <p:cNvPr id="123" name="Oval 20"/>
          <p:cNvSpPr/>
          <p:nvPr/>
        </p:nvSpPr>
        <p:spPr>
          <a:xfrm>
            <a:off x="6583680" y="5403960"/>
            <a:ext cx="383760" cy="383760"/>
          </a:xfrm>
          <a:prstGeom prst="ellipse">
            <a:avLst/>
          </a:prstGeom>
          <a:solidFill>
            <a:srgbClr val="1E8A7A"/>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pPr algn="ctr">
              <a:lnSpc>
                <a:spcPct val="100000"/>
              </a:lnSpc>
            </a:pPr>
            <a:r>
              <a:rPr lang="en-IN" sz="1400" b="1" u="none" strike="noStrike">
                <a:solidFill>
                  <a:srgbClr val="222B3A"/>
                </a:solidFill>
                <a:effectLst/>
                <a:uFillTx/>
                <a:latin typeface="Segoe UI Semibold"/>
              </a:rPr>
              <a:t>3</a:t>
            </a:r>
            <a:endParaRPr lang="en-IN" sz="1400" b="0" u="none" strike="noStrike">
              <a:solidFill>
                <a:srgbClr val="FFFFFF"/>
              </a:solidFill>
              <a:effectLst/>
              <a:uFillTx/>
              <a:latin typeface="Arial"/>
            </a:endParaRPr>
          </a:p>
        </p:txBody>
      </p:sp>
      <p:sp>
        <p:nvSpPr>
          <p:cNvPr id="124" name="TextBox 21"/>
          <p:cNvSpPr/>
          <p:nvPr/>
        </p:nvSpPr>
        <p:spPr>
          <a:xfrm>
            <a:off x="7104960" y="5422320"/>
            <a:ext cx="4068720" cy="685440"/>
          </a:xfrm>
          <a:prstGeom prst="rect">
            <a:avLst/>
          </a:prstGeom>
          <a:noFill/>
          <a:ln w="0">
            <a:noFill/>
          </a:ln>
        </p:spPr>
        <p:style>
          <a:lnRef idx="0"/>
          <a:fillRef idx="0"/>
          <a:effectRef idx="0"/>
          <a:fontRef idx="minor"/>
        </p:style>
        <p:txBody>
          <a:bodyPr lIns="0" tIns="0" rIns="0" bIns="0" anchor="t">
            <a:spAutoFit/>
          </a:bodyPr>
          <a:p>
            <a:pPr>
              <a:lnSpc>
                <a:spcPct val="120000"/>
              </a:lnSpc>
            </a:pPr>
            <a:r>
              <a:rPr lang="en-IN" sz="1400" b="0" u="none" strike="noStrike">
                <a:solidFill>
                  <a:srgbClr val="FFFFFF"/>
                </a:solidFill>
                <a:effectLst/>
                <a:uFillTx/>
                <a:latin typeface="Segoe UI"/>
              </a:rPr>
              <a:t>Exposes the skill gaps training cannot yet fill</a:t>
            </a:r>
            <a:endParaRPr lang="en-IN"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Rectangle 1"/>
          <p:cNvSpPr/>
          <p:nvPr/>
        </p:nvSpPr>
        <p:spPr>
          <a:xfrm>
            <a:off x="0" y="0"/>
            <a:ext cx="12191040" cy="6857280"/>
          </a:xfrm>
          <a:prstGeom prst="rect">
            <a:avLst/>
          </a:prstGeom>
          <a:solidFill>
            <a:srgbClr val="FCFBF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26" name="TextBox 2"/>
          <p:cNvSpPr/>
          <p:nvPr/>
        </p:nvSpPr>
        <p:spPr>
          <a:xfrm>
            <a:off x="640080" y="384120"/>
            <a:ext cx="822888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00" b="1" u="none" strike="noStrike">
                <a:solidFill>
                  <a:srgbClr val="D96B45"/>
                </a:solidFill>
                <a:effectLst/>
                <a:uFillTx/>
                <a:latin typeface="Segoe UI Semibold"/>
              </a:rPr>
              <a:t>THE SOLUTION</a:t>
            </a:r>
            <a:endParaRPr lang="en-IN" sz="1300" b="0" u="none" strike="noStrike">
              <a:solidFill>
                <a:srgbClr val="000000"/>
              </a:solidFill>
              <a:effectLst/>
              <a:uFillTx/>
              <a:latin typeface="Arial"/>
            </a:endParaRPr>
          </a:p>
        </p:txBody>
      </p:sp>
      <p:sp>
        <p:nvSpPr>
          <p:cNvPr id="127" name="TextBox 3"/>
          <p:cNvSpPr/>
          <p:nvPr/>
        </p:nvSpPr>
        <p:spPr>
          <a:xfrm>
            <a:off x="640080" y="658440"/>
            <a:ext cx="9874800" cy="6850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3000" b="1" u="none" strike="noStrike">
                <a:solidFill>
                  <a:srgbClr val="222B3A"/>
                </a:solidFill>
                <a:effectLst/>
                <a:uFillTx/>
                <a:latin typeface="Segoe UI Semibold"/>
              </a:rPr>
              <a:t>Five deliverables, one engine</a:t>
            </a:r>
            <a:endParaRPr lang="en-IN" sz="3000" b="0" u="none" strike="noStrike">
              <a:solidFill>
                <a:srgbClr val="000000"/>
              </a:solidFill>
              <a:effectLst/>
              <a:uFillTx/>
              <a:latin typeface="Arial"/>
            </a:endParaRPr>
          </a:p>
        </p:txBody>
      </p:sp>
      <p:sp>
        <p:nvSpPr>
          <p:cNvPr id="128" name="Rectangle 4"/>
          <p:cNvSpPr/>
          <p:nvPr/>
        </p:nvSpPr>
        <p:spPr>
          <a:xfrm>
            <a:off x="640080" y="1298520"/>
            <a:ext cx="822240" cy="50040"/>
          </a:xfrm>
          <a:prstGeom prst="rect">
            <a:avLst/>
          </a:prstGeom>
          <a:solidFill>
            <a:srgbClr val="D96B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760" rIns="90000" bIns="5760" anchor="ctr">
            <a:noAutofit/>
          </a:bodyPr>
          <a:p>
            <a:pPr/>
            <a:endParaRPr lang="en-US" sz="1800" b="0" u="none" strike="noStrike">
              <a:solidFill>
                <a:schemeClr val="lt1"/>
              </a:solidFill>
              <a:effectLst/>
              <a:uFillTx/>
              <a:latin typeface="Calibri"/>
            </a:endParaRPr>
          </a:p>
        </p:txBody>
      </p:sp>
      <p:sp>
        <p:nvSpPr>
          <p:cNvPr id="129" name="TextBox 5"/>
          <p:cNvSpPr/>
          <p:nvPr/>
        </p:nvSpPr>
        <p:spPr>
          <a:xfrm>
            <a:off x="11155680" y="6355080"/>
            <a:ext cx="822240" cy="3650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1400" b="0" u="none" strike="noStrike">
                <a:solidFill>
                  <a:srgbClr val="667080"/>
                </a:solidFill>
                <a:effectLst/>
                <a:uFillTx/>
                <a:latin typeface="Segoe UI Semibold"/>
              </a:rPr>
              <a:t>04</a:t>
            </a:r>
            <a:endParaRPr lang="en-IN" sz="1400" b="0" u="none" strike="noStrike">
              <a:solidFill>
                <a:srgbClr val="000000"/>
              </a:solidFill>
              <a:effectLst/>
              <a:uFillTx/>
              <a:latin typeface="Arial"/>
            </a:endParaRPr>
          </a:p>
        </p:txBody>
      </p:sp>
      <p:sp>
        <p:nvSpPr>
          <p:cNvPr id="130" name="TextBox 6"/>
          <p:cNvSpPr/>
          <p:nvPr/>
        </p:nvSpPr>
        <p:spPr>
          <a:xfrm>
            <a:off x="640080" y="6473880"/>
            <a:ext cx="548568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endParaRPr lang="en-IN" sz="1800" b="0" u="none" strike="noStrike">
              <a:solidFill>
                <a:srgbClr val="000000"/>
              </a:solidFill>
              <a:effectLst/>
              <a:uFillTx/>
              <a:latin typeface="Arial"/>
            </a:endParaRPr>
          </a:p>
        </p:txBody>
      </p:sp>
      <p:sp>
        <p:nvSpPr>
          <p:cNvPr id="131" name="Rounded Rectangle 7"/>
          <p:cNvSpPr/>
          <p:nvPr/>
        </p:nvSpPr>
        <p:spPr>
          <a:xfrm>
            <a:off x="640080" y="1600200"/>
            <a:ext cx="2065680" cy="2879640"/>
          </a:xfrm>
          <a:prstGeom prst="roundRect">
            <a:avLst>
              <a:gd name="adj" fmla="val 8000"/>
            </a:avLst>
          </a:prstGeom>
          <a:solidFill>
            <a:srgbClr val="222B3A"/>
          </a:solidFill>
          <a:ln>
            <a:solidFill>
              <a:srgbClr val="222B3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32" name="TextBox 8"/>
          <p:cNvSpPr/>
          <p:nvPr/>
        </p:nvSpPr>
        <p:spPr>
          <a:xfrm>
            <a:off x="804600" y="1783080"/>
            <a:ext cx="1736640" cy="4564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600" b="1" u="none" strike="noStrike">
                <a:solidFill>
                  <a:srgbClr val="D96B45"/>
                </a:solidFill>
                <a:effectLst/>
                <a:uFillTx/>
                <a:latin typeface="Segoe UI Semibold"/>
              </a:rPr>
              <a:t>1</a:t>
            </a:r>
            <a:endParaRPr lang="en-IN" sz="2600" b="0" u="none" strike="noStrike">
              <a:solidFill>
                <a:srgbClr val="000000"/>
              </a:solidFill>
              <a:effectLst/>
              <a:uFillTx/>
              <a:latin typeface="Arial"/>
            </a:endParaRPr>
          </a:p>
        </p:txBody>
      </p:sp>
      <p:sp>
        <p:nvSpPr>
          <p:cNvPr id="133" name="TextBox 9"/>
          <p:cNvSpPr/>
          <p:nvPr/>
        </p:nvSpPr>
        <p:spPr>
          <a:xfrm>
            <a:off x="804600" y="2377440"/>
            <a:ext cx="1736640" cy="822240"/>
          </a:xfrm>
          <a:prstGeom prst="rect">
            <a:avLst/>
          </a:prstGeom>
          <a:noFill/>
          <a:ln w="0">
            <a:noFill/>
          </a:ln>
        </p:spPr>
        <p:style>
          <a:lnRef idx="0"/>
          <a:fillRef idx="0"/>
          <a:effectRef idx="0"/>
          <a:fontRef idx="minor"/>
        </p:style>
        <p:txBody>
          <a:bodyPr lIns="0" tIns="0" rIns="0" bIns="0" anchor="t">
            <a:spAutoFit/>
          </a:bodyPr>
          <a:p>
            <a:pPr defTabSz="457200">
              <a:lnSpc>
                <a:spcPct val="110000"/>
              </a:lnSpc>
            </a:pPr>
            <a:r>
              <a:rPr lang="en-US" sz="1450" b="1" u="none" strike="noStrike">
                <a:solidFill>
                  <a:srgbClr val="FFFFFF"/>
                </a:solidFill>
                <a:effectLst/>
                <a:uFillTx/>
                <a:latin typeface="Segoe UI Semibold"/>
              </a:rPr>
              <a:t>Recommendation Engine</a:t>
            </a:r>
            <a:endParaRPr lang="en-IN" sz="1450" b="0" u="none" strike="noStrike">
              <a:solidFill>
                <a:srgbClr val="000000"/>
              </a:solidFill>
              <a:effectLst/>
              <a:uFillTx/>
              <a:latin typeface="Arial"/>
            </a:endParaRPr>
          </a:p>
        </p:txBody>
      </p:sp>
      <p:sp>
        <p:nvSpPr>
          <p:cNvPr id="134" name="TextBox 10"/>
          <p:cNvSpPr/>
          <p:nvPr/>
        </p:nvSpPr>
        <p:spPr>
          <a:xfrm>
            <a:off x="804600" y="3200400"/>
            <a:ext cx="1736640" cy="95940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100" b="0" u="none" strike="noStrike">
                <a:solidFill>
                  <a:srgbClr val="A9B4C4"/>
                </a:solidFill>
                <a:effectLst/>
                <a:uFillTx/>
                <a:latin typeface="Segoe UI"/>
              </a:rPr>
              <a:t>Hybrid, explainable scoring engine</a:t>
            </a:r>
            <a:endParaRPr lang="en-IN" sz="1100" b="0" u="none" strike="noStrike">
              <a:solidFill>
                <a:srgbClr val="000000"/>
              </a:solidFill>
              <a:effectLst/>
              <a:uFillTx/>
              <a:latin typeface="Arial"/>
            </a:endParaRPr>
          </a:p>
        </p:txBody>
      </p:sp>
      <p:sp>
        <p:nvSpPr>
          <p:cNvPr id="135" name="TextBox 11"/>
          <p:cNvSpPr/>
          <p:nvPr/>
        </p:nvSpPr>
        <p:spPr>
          <a:xfrm>
            <a:off x="804600" y="4096440"/>
            <a:ext cx="173664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50" b="0" i="1" u="none" strike="noStrike">
                <a:solidFill>
                  <a:srgbClr val="D96B45"/>
                </a:solidFill>
                <a:effectLst/>
                <a:uFillTx/>
                <a:latin typeface="Segoe UI"/>
              </a:rPr>
              <a:t>engine.py</a:t>
            </a:r>
            <a:endParaRPr lang="en-IN" sz="950" b="0" u="none" strike="noStrike">
              <a:solidFill>
                <a:srgbClr val="000000"/>
              </a:solidFill>
              <a:effectLst/>
              <a:uFillTx/>
              <a:latin typeface="Arial"/>
            </a:endParaRPr>
          </a:p>
        </p:txBody>
      </p:sp>
      <p:sp>
        <p:nvSpPr>
          <p:cNvPr id="136" name="Rounded Rectangle 12"/>
          <p:cNvSpPr/>
          <p:nvPr/>
        </p:nvSpPr>
        <p:spPr>
          <a:xfrm>
            <a:off x="2834640" y="1600200"/>
            <a:ext cx="2065680" cy="2879640"/>
          </a:xfrm>
          <a:prstGeom prst="roundRect">
            <a:avLst>
              <a:gd name="adj" fmla="val 8000"/>
            </a:avLst>
          </a:prstGeom>
          <a:solidFill>
            <a:srgbClr val="222B3A"/>
          </a:solidFill>
          <a:ln>
            <a:solidFill>
              <a:srgbClr val="222B3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37" name="TextBox 13"/>
          <p:cNvSpPr/>
          <p:nvPr/>
        </p:nvSpPr>
        <p:spPr>
          <a:xfrm>
            <a:off x="2999160" y="1783080"/>
            <a:ext cx="1736640" cy="4564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600" b="1" u="none" strike="noStrike">
                <a:solidFill>
                  <a:srgbClr val="D96B45"/>
                </a:solidFill>
                <a:effectLst/>
                <a:uFillTx/>
                <a:latin typeface="Segoe UI Semibold"/>
              </a:rPr>
              <a:t>2</a:t>
            </a:r>
            <a:endParaRPr lang="en-IN" sz="2600" b="0" u="none" strike="noStrike">
              <a:solidFill>
                <a:srgbClr val="000000"/>
              </a:solidFill>
              <a:effectLst/>
              <a:uFillTx/>
              <a:latin typeface="Arial"/>
            </a:endParaRPr>
          </a:p>
        </p:txBody>
      </p:sp>
      <p:sp>
        <p:nvSpPr>
          <p:cNvPr id="138" name="TextBox 14"/>
          <p:cNvSpPr/>
          <p:nvPr/>
        </p:nvSpPr>
        <p:spPr>
          <a:xfrm>
            <a:off x="2999160" y="2377440"/>
            <a:ext cx="1736640" cy="822240"/>
          </a:xfrm>
          <a:prstGeom prst="rect">
            <a:avLst/>
          </a:prstGeom>
          <a:noFill/>
          <a:ln w="0">
            <a:noFill/>
          </a:ln>
        </p:spPr>
        <p:style>
          <a:lnRef idx="0"/>
          <a:fillRef idx="0"/>
          <a:effectRef idx="0"/>
          <a:fontRef idx="minor"/>
        </p:style>
        <p:txBody>
          <a:bodyPr lIns="0" tIns="0" rIns="0" bIns="0" anchor="t">
            <a:spAutoFit/>
          </a:bodyPr>
          <a:p>
            <a:pPr defTabSz="457200">
              <a:lnSpc>
                <a:spcPct val="110000"/>
              </a:lnSpc>
            </a:pPr>
            <a:r>
              <a:rPr lang="en-US" sz="1450" b="1" u="none" strike="noStrike">
                <a:solidFill>
                  <a:srgbClr val="FFFFFF"/>
                </a:solidFill>
                <a:effectLst/>
                <a:uFillTx/>
                <a:latin typeface="Segoe UI Semibold"/>
              </a:rPr>
              <a:t>User Profiling Module</a:t>
            </a:r>
            <a:endParaRPr lang="en-IN" sz="1450" b="0" u="none" strike="noStrike">
              <a:solidFill>
                <a:srgbClr val="000000"/>
              </a:solidFill>
              <a:effectLst/>
              <a:uFillTx/>
              <a:latin typeface="Arial"/>
            </a:endParaRPr>
          </a:p>
        </p:txBody>
      </p:sp>
      <p:sp>
        <p:nvSpPr>
          <p:cNvPr id="139" name="TextBox 15"/>
          <p:cNvSpPr/>
          <p:nvPr/>
        </p:nvSpPr>
        <p:spPr>
          <a:xfrm>
            <a:off x="2999160" y="3200400"/>
            <a:ext cx="1736640" cy="95940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100" b="0" u="none" strike="noStrike">
                <a:solidFill>
                  <a:srgbClr val="A9B4C4"/>
                </a:solidFill>
                <a:effectLst/>
                <a:uFillTx/>
                <a:latin typeface="Segoe UI"/>
              </a:rPr>
              <a:t>Learner profiles from raw HR / resume data</a:t>
            </a:r>
            <a:endParaRPr lang="en-IN" sz="1100" b="0" u="none" strike="noStrike">
              <a:solidFill>
                <a:srgbClr val="000000"/>
              </a:solidFill>
              <a:effectLst/>
              <a:uFillTx/>
              <a:latin typeface="Arial"/>
            </a:endParaRPr>
          </a:p>
        </p:txBody>
      </p:sp>
      <p:sp>
        <p:nvSpPr>
          <p:cNvPr id="140" name="TextBox 16"/>
          <p:cNvSpPr/>
          <p:nvPr/>
        </p:nvSpPr>
        <p:spPr>
          <a:xfrm>
            <a:off x="2999160" y="4096440"/>
            <a:ext cx="173664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50" b="0" i="1" u="none" strike="noStrike">
                <a:solidFill>
                  <a:srgbClr val="D96B45"/>
                </a:solidFill>
                <a:effectLst/>
                <a:uFillTx/>
                <a:latin typeface="Segoe UI"/>
              </a:rPr>
              <a:t>notebooks 01–02</a:t>
            </a:r>
            <a:endParaRPr lang="en-IN" sz="950" b="0" u="none" strike="noStrike">
              <a:solidFill>
                <a:srgbClr val="000000"/>
              </a:solidFill>
              <a:effectLst/>
              <a:uFillTx/>
              <a:latin typeface="Arial"/>
            </a:endParaRPr>
          </a:p>
        </p:txBody>
      </p:sp>
      <p:sp>
        <p:nvSpPr>
          <p:cNvPr id="141" name="Rounded Rectangle 17"/>
          <p:cNvSpPr/>
          <p:nvPr/>
        </p:nvSpPr>
        <p:spPr>
          <a:xfrm>
            <a:off x="5029200" y="1600200"/>
            <a:ext cx="2065680" cy="2879640"/>
          </a:xfrm>
          <a:prstGeom prst="roundRect">
            <a:avLst>
              <a:gd name="adj" fmla="val 8000"/>
            </a:avLst>
          </a:prstGeom>
          <a:solidFill>
            <a:srgbClr val="222B3A"/>
          </a:solidFill>
          <a:ln>
            <a:solidFill>
              <a:srgbClr val="222B3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42" name="TextBox 18"/>
          <p:cNvSpPr/>
          <p:nvPr/>
        </p:nvSpPr>
        <p:spPr>
          <a:xfrm>
            <a:off x="5193720" y="1783080"/>
            <a:ext cx="1736640" cy="4564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600" b="1" u="none" strike="noStrike">
                <a:solidFill>
                  <a:srgbClr val="D96B45"/>
                </a:solidFill>
                <a:effectLst/>
                <a:uFillTx/>
                <a:latin typeface="Segoe UI Semibold"/>
              </a:rPr>
              <a:t>3</a:t>
            </a:r>
            <a:endParaRPr lang="en-IN" sz="2600" b="0" u="none" strike="noStrike">
              <a:solidFill>
                <a:srgbClr val="000000"/>
              </a:solidFill>
              <a:effectLst/>
              <a:uFillTx/>
              <a:latin typeface="Arial"/>
            </a:endParaRPr>
          </a:p>
        </p:txBody>
      </p:sp>
      <p:sp>
        <p:nvSpPr>
          <p:cNvPr id="143" name="TextBox 19"/>
          <p:cNvSpPr/>
          <p:nvPr/>
        </p:nvSpPr>
        <p:spPr>
          <a:xfrm>
            <a:off x="5193720" y="2377440"/>
            <a:ext cx="1736640" cy="822240"/>
          </a:xfrm>
          <a:prstGeom prst="rect">
            <a:avLst/>
          </a:prstGeom>
          <a:noFill/>
          <a:ln w="0">
            <a:noFill/>
          </a:ln>
        </p:spPr>
        <p:style>
          <a:lnRef idx="0"/>
          <a:fillRef idx="0"/>
          <a:effectRef idx="0"/>
          <a:fontRef idx="minor"/>
        </p:style>
        <p:txBody>
          <a:bodyPr lIns="0" tIns="0" rIns="0" bIns="0" anchor="t">
            <a:spAutoFit/>
          </a:bodyPr>
          <a:p>
            <a:pPr defTabSz="457200">
              <a:lnSpc>
                <a:spcPct val="110000"/>
              </a:lnSpc>
            </a:pPr>
            <a:r>
              <a:rPr lang="en-US" sz="1450" b="1" u="none" strike="noStrike">
                <a:solidFill>
                  <a:srgbClr val="FFFFFF"/>
                </a:solidFill>
                <a:effectLst/>
                <a:uFillTx/>
                <a:latin typeface="Segoe UI Semibold"/>
              </a:rPr>
              <a:t>AI Training Agent</a:t>
            </a:r>
            <a:endParaRPr lang="en-IN" sz="1450" b="0" u="none" strike="noStrike">
              <a:solidFill>
                <a:srgbClr val="000000"/>
              </a:solidFill>
              <a:effectLst/>
              <a:uFillTx/>
              <a:latin typeface="Arial"/>
            </a:endParaRPr>
          </a:p>
        </p:txBody>
      </p:sp>
      <p:sp>
        <p:nvSpPr>
          <p:cNvPr id="144" name="TextBox 20"/>
          <p:cNvSpPr/>
          <p:nvPr/>
        </p:nvSpPr>
        <p:spPr>
          <a:xfrm>
            <a:off x="5193720" y="3200400"/>
            <a:ext cx="1736640" cy="95940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100" b="0" u="none" strike="noStrike">
                <a:solidFill>
                  <a:srgbClr val="A9B4C4"/>
                </a:solidFill>
                <a:effectLst/>
                <a:uFillTx/>
                <a:latin typeface="Segoe UI"/>
              </a:rPr>
              <a:t>Conversational agent, Gemini tool-calling</a:t>
            </a:r>
            <a:endParaRPr lang="en-IN" sz="1100" b="0" u="none" strike="noStrike">
              <a:solidFill>
                <a:srgbClr val="000000"/>
              </a:solidFill>
              <a:effectLst/>
              <a:uFillTx/>
              <a:latin typeface="Arial"/>
            </a:endParaRPr>
          </a:p>
        </p:txBody>
      </p:sp>
      <p:sp>
        <p:nvSpPr>
          <p:cNvPr id="145" name="TextBox 21"/>
          <p:cNvSpPr/>
          <p:nvPr/>
        </p:nvSpPr>
        <p:spPr>
          <a:xfrm>
            <a:off x="5193720" y="4096440"/>
            <a:ext cx="173664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50" b="0" i="1" u="none" strike="noStrike">
                <a:solidFill>
                  <a:srgbClr val="D96B45"/>
                </a:solidFill>
                <a:effectLst/>
                <a:uFillTx/>
                <a:latin typeface="Segoe UI"/>
              </a:rPr>
              <a:t>agent.py</a:t>
            </a:r>
            <a:endParaRPr lang="en-IN" sz="950" b="0" u="none" strike="noStrike">
              <a:solidFill>
                <a:srgbClr val="000000"/>
              </a:solidFill>
              <a:effectLst/>
              <a:uFillTx/>
              <a:latin typeface="Arial"/>
            </a:endParaRPr>
          </a:p>
        </p:txBody>
      </p:sp>
      <p:sp>
        <p:nvSpPr>
          <p:cNvPr id="146" name="Rounded Rectangle 22"/>
          <p:cNvSpPr/>
          <p:nvPr/>
        </p:nvSpPr>
        <p:spPr>
          <a:xfrm>
            <a:off x="7223760" y="1600200"/>
            <a:ext cx="2065680" cy="2879640"/>
          </a:xfrm>
          <a:prstGeom prst="roundRect">
            <a:avLst>
              <a:gd name="adj" fmla="val 8000"/>
            </a:avLst>
          </a:prstGeom>
          <a:solidFill>
            <a:srgbClr val="222B3A"/>
          </a:solidFill>
          <a:ln>
            <a:solidFill>
              <a:srgbClr val="222B3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47" name="TextBox 23"/>
          <p:cNvSpPr/>
          <p:nvPr/>
        </p:nvSpPr>
        <p:spPr>
          <a:xfrm>
            <a:off x="7388280" y="1783080"/>
            <a:ext cx="1736640" cy="4564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600" b="1" u="none" strike="noStrike">
                <a:solidFill>
                  <a:srgbClr val="D96B45"/>
                </a:solidFill>
                <a:effectLst/>
                <a:uFillTx/>
                <a:latin typeface="Segoe UI Semibold"/>
              </a:rPr>
              <a:t>4</a:t>
            </a:r>
            <a:endParaRPr lang="en-IN" sz="2600" b="0" u="none" strike="noStrike">
              <a:solidFill>
                <a:srgbClr val="000000"/>
              </a:solidFill>
              <a:effectLst/>
              <a:uFillTx/>
              <a:latin typeface="Arial"/>
            </a:endParaRPr>
          </a:p>
        </p:txBody>
      </p:sp>
      <p:sp>
        <p:nvSpPr>
          <p:cNvPr id="148" name="TextBox 24"/>
          <p:cNvSpPr/>
          <p:nvPr/>
        </p:nvSpPr>
        <p:spPr>
          <a:xfrm>
            <a:off x="7388280" y="2377440"/>
            <a:ext cx="1736640" cy="822240"/>
          </a:xfrm>
          <a:prstGeom prst="rect">
            <a:avLst/>
          </a:prstGeom>
          <a:noFill/>
          <a:ln w="0">
            <a:noFill/>
          </a:ln>
        </p:spPr>
        <p:style>
          <a:lnRef idx="0"/>
          <a:fillRef idx="0"/>
          <a:effectRef idx="0"/>
          <a:fontRef idx="minor"/>
        </p:style>
        <p:txBody>
          <a:bodyPr lIns="0" tIns="0" rIns="0" bIns="0" anchor="t">
            <a:spAutoFit/>
          </a:bodyPr>
          <a:p>
            <a:pPr defTabSz="457200">
              <a:lnSpc>
                <a:spcPct val="110000"/>
              </a:lnSpc>
            </a:pPr>
            <a:r>
              <a:rPr lang="en-US" sz="1450" b="1" u="none" strike="noStrike">
                <a:solidFill>
                  <a:srgbClr val="FFFFFF"/>
                </a:solidFill>
                <a:effectLst/>
                <a:uFillTx/>
                <a:latin typeface="Segoe UI Semibold"/>
              </a:rPr>
              <a:t>Dashboard</a:t>
            </a:r>
            <a:endParaRPr lang="en-IN" sz="1450" b="0" u="none" strike="noStrike">
              <a:solidFill>
                <a:srgbClr val="000000"/>
              </a:solidFill>
              <a:effectLst/>
              <a:uFillTx/>
              <a:latin typeface="Arial"/>
            </a:endParaRPr>
          </a:p>
        </p:txBody>
      </p:sp>
      <p:sp>
        <p:nvSpPr>
          <p:cNvPr id="149" name="TextBox 25"/>
          <p:cNvSpPr/>
          <p:nvPr/>
        </p:nvSpPr>
        <p:spPr>
          <a:xfrm>
            <a:off x="7388280" y="3200400"/>
            <a:ext cx="1736640" cy="95940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100" b="0" u="none" strike="noStrike">
                <a:solidFill>
                  <a:srgbClr val="A9B4C4"/>
                </a:solidFill>
                <a:effectLst/>
                <a:uFillTx/>
                <a:latin typeface="Segoe UI"/>
              </a:rPr>
              <a:t>Streamlit UI — chat, direct recommend, explorer</a:t>
            </a:r>
            <a:endParaRPr lang="en-IN" sz="1100" b="0" u="none" strike="noStrike">
              <a:solidFill>
                <a:srgbClr val="000000"/>
              </a:solidFill>
              <a:effectLst/>
              <a:uFillTx/>
              <a:latin typeface="Arial"/>
            </a:endParaRPr>
          </a:p>
        </p:txBody>
      </p:sp>
      <p:sp>
        <p:nvSpPr>
          <p:cNvPr id="150" name="TextBox 26"/>
          <p:cNvSpPr/>
          <p:nvPr/>
        </p:nvSpPr>
        <p:spPr>
          <a:xfrm>
            <a:off x="7388280" y="4096440"/>
            <a:ext cx="173664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50" b="0" i="1" u="none" strike="noStrike">
                <a:solidFill>
                  <a:srgbClr val="D96B45"/>
                </a:solidFill>
                <a:effectLst/>
                <a:uFillTx/>
                <a:latin typeface="Segoe UI"/>
              </a:rPr>
              <a:t>dashboard.py</a:t>
            </a:r>
            <a:endParaRPr lang="en-IN" sz="950" b="0" u="none" strike="noStrike">
              <a:solidFill>
                <a:srgbClr val="000000"/>
              </a:solidFill>
              <a:effectLst/>
              <a:uFillTx/>
              <a:latin typeface="Arial"/>
            </a:endParaRPr>
          </a:p>
        </p:txBody>
      </p:sp>
      <p:sp>
        <p:nvSpPr>
          <p:cNvPr id="151" name="Rounded Rectangle 27"/>
          <p:cNvSpPr/>
          <p:nvPr/>
        </p:nvSpPr>
        <p:spPr>
          <a:xfrm>
            <a:off x="9418320" y="1600200"/>
            <a:ext cx="2065680" cy="2879640"/>
          </a:xfrm>
          <a:prstGeom prst="roundRect">
            <a:avLst>
              <a:gd name="adj" fmla="val 8000"/>
            </a:avLst>
          </a:prstGeom>
          <a:solidFill>
            <a:srgbClr val="222B3A"/>
          </a:solidFill>
          <a:ln>
            <a:solidFill>
              <a:srgbClr val="222B3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52" name="TextBox 28"/>
          <p:cNvSpPr/>
          <p:nvPr/>
        </p:nvSpPr>
        <p:spPr>
          <a:xfrm>
            <a:off x="9582840" y="1783080"/>
            <a:ext cx="1736640" cy="4564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600" b="1" u="none" strike="noStrike">
                <a:solidFill>
                  <a:srgbClr val="D96B45"/>
                </a:solidFill>
                <a:effectLst/>
                <a:uFillTx/>
                <a:latin typeface="Segoe UI Semibold"/>
              </a:rPr>
              <a:t>5</a:t>
            </a:r>
            <a:endParaRPr lang="en-IN" sz="2600" b="0" u="none" strike="noStrike">
              <a:solidFill>
                <a:srgbClr val="000000"/>
              </a:solidFill>
              <a:effectLst/>
              <a:uFillTx/>
              <a:latin typeface="Arial"/>
            </a:endParaRPr>
          </a:p>
        </p:txBody>
      </p:sp>
      <p:sp>
        <p:nvSpPr>
          <p:cNvPr id="153" name="TextBox 29"/>
          <p:cNvSpPr/>
          <p:nvPr/>
        </p:nvSpPr>
        <p:spPr>
          <a:xfrm>
            <a:off x="9582840" y="2377440"/>
            <a:ext cx="1736640" cy="822240"/>
          </a:xfrm>
          <a:prstGeom prst="rect">
            <a:avLst/>
          </a:prstGeom>
          <a:noFill/>
          <a:ln w="0">
            <a:noFill/>
          </a:ln>
        </p:spPr>
        <p:style>
          <a:lnRef idx="0"/>
          <a:fillRef idx="0"/>
          <a:effectRef idx="0"/>
          <a:fontRef idx="minor"/>
        </p:style>
        <p:txBody>
          <a:bodyPr lIns="0" tIns="0" rIns="0" bIns="0" anchor="t">
            <a:spAutoFit/>
          </a:bodyPr>
          <a:p>
            <a:pPr defTabSz="457200">
              <a:lnSpc>
                <a:spcPct val="110000"/>
              </a:lnSpc>
            </a:pPr>
            <a:r>
              <a:rPr lang="en-US" sz="1450" b="1" u="none" strike="noStrike">
                <a:solidFill>
                  <a:srgbClr val="FFFFFF"/>
                </a:solidFill>
                <a:effectLst/>
                <a:uFillTx/>
                <a:latin typeface="Segoe UI Semibold"/>
              </a:rPr>
              <a:t>Analytics Report</a:t>
            </a:r>
            <a:endParaRPr lang="en-IN" sz="1450" b="0" u="none" strike="noStrike">
              <a:solidFill>
                <a:srgbClr val="000000"/>
              </a:solidFill>
              <a:effectLst/>
              <a:uFillTx/>
              <a:latin typeface="Arial"/>
            </a:endParaRPr>
          </a:p>
        </p:txBody>
      </p:sp>
      <p:sp>
        <p:nvSpPr>
          <p:cNvPr id="154" name="TextBox 30"/>
          <p:cNvSpPr/>
          <p:nvPr/>
        </p:nvSpPr>
        <p:spPr>
          <a:xfrm>
            <a:off x="9582840" y="3200400"/>
            <a:ext cx="1736640" cy="95940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100" b="0" u="none" strike="noStrike">
                <a:solidFill>
                  <a:srgbClr val="A9B4C4"/>
                </a:solidFill>
                <a:effectLst/>
                <a:uFillTx/>
                <a:latin typeface="Segoe UI"/>
              </a:rPr>
              <a:t>Business-facing metrics and charts</a:t>
            </a:r>
            <a:endParaRPr lang="en-IN" sz="1100" b="0" u="none" strike="noStrike">
              <a:solidFill>
                <a:srgbClr val="000000"/>
              </a:solidFill>
              <a:effectLst/>
              <a:uFillTx/>
              <a:latin typeface="Arial"/>
            </a:endParaRPr>
          </a:p>
        </p:txBody>
      </p:sp>
      <p:sp>
        <p:nvSpPr>
          <p:cNvPr id="155" name="TextBox 31"/>
          <p:cNvSpPr/>
          <p:nvPr/>
        </p:nvSpPr>
        <p:spPr>
          <a:xfrm>
            <a:off x="9582840" y="4096440"/>
            <a:ext cx="173664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950" b="0" i="1" u="none" strike="noStrike">
                <a:solidFill>
                  <a:srgbClr val="D96B45"/>
                </a:solidFill>
                <a:effectLst/>
                <a:uFillTx/>
                <a:latin typeface="Segoe UI"/>
              </a:rPr>
              <a:t>04_analytics_report.ipynb</a:t>
            </a:r>
            <a:endParaRPr lang="en-IN" sz="950" b="0" u="none" strike="noStrike">
              <a:solidFill>
                <a:srgbClr val="000000"/>
              </a:solidFill>
              <a:effectLst/>
              <a:uFillTx/>
              <a:latin typeface="Arial"/>
            </a:endParaRPr>
          </a:p>
        </p:txBody>
      </p:sp>
      <p:sp>
        <p:nvSpPr>
          <p:cNvPr id="156" name="TextBox 32"/>
          <p:cNvSpPr/>
          <p:nvPr/>
        </p:nvSpPr>
        <p:spPr>
          <a:xfrm>
            <a:off x="640080" y="4800600"/>
            <a:ext cx="10880640" cy="3650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400" b="1" u="none" strike="noStrike">
                <a:solidFill>
                  <a:srgbClr val="222B3A"/>
                </a:solidFill>
                <a:effectLst/>
                <a:uFillTx/>
                <a:latin typeface="Segoe UI Semibold"/>
              </a:rPr>
              <a:t>Expected impact:</a:t>
            </a:r>
            <a:endParaRPr lang="en-IN" sz="1400" b="0" u="none" strike="noStrike">
              <a:solidFill>
                <a:srgbClr val="000000"/>
              </a:solidFill>
              <a:effectLst/>
              <a:uFillTx/>
              <a:latin typeface="Arial"/>
            </a:endParaRPr>
          </a:p>
        </p:txBody>
      </p:sp>
      <p:sp>
        <p:nvSpPr>
          <p:cNvPr id="157" name="TextBox 33"/>
          <p:cNvSpPr/>
          <p:nvPr/>
        </p:nvSpPr>
        <p:spPr>
          <a:xfrm>
            <a:off x="640080" y="5166360"/>
            <a:ext cx="10880640" cy="1096560"/>
          </a:xfrm>
          <a:prstGeom prst="rect">
            <a:avLst/>
          </a:prstGeom>
          <a:noFill/>
          <a:ln w="0">
            <a:noFill/>
          </a:ln>
        </p:spPr>
        <p:style>
          <a:lnRef idx="0"/>
          <a:fillRef idx="0"/>
          <a:effectRef idx="0"/>
          <a:fontRef idx="minor"/>
        </p:style>
        <p:txBody>
          <a:bodyPr lIns="0" tIns="0" rIns="0" bIns="0" anchor="t">
            <a:spAutoFit/>
          </a:bodyPr>
          <a:p>
            <a:pPr defTabSz="457200">
              <a:lnSpc>
                <a:spcPct val="125000"/>
              </a:lnSpc>
              <a:spcAft>
                <a:spcPts val="1001"/>
              </a:spcAft>
            </a:pPr>
            <a:r>
              <a:rPr lang="en-US" sz="1400" b="1" u="none" strike="noStrike">
                <a:solidFill>
                  <a:srgbClr val="D96B45"/>
                </a:solidFill>
                <a:effectLst/>
                <a:uFillTx/>
                <a:latin typeface="Segoe UI"/>
              </a:rPr>
              <a:t>▪ </a:t>
            </a:r>
            <a:r>
              <a:rPr lang="en-US" sz="1400" b="0" u="none" strike="noStrike">
                <a:solidFill>
                  <a:srgbClr val="222B3A"/>
                </a:solidFill>
                <a:effectLst/>
                <a:uFillTx/>
                <a:latin typeface="Segoe UI"/>
              </a:rPr>
              <a:t>Higher course engagement and completion, a personalized learning experience, tighter training-to-career alignment, and clear visibility into skill development.</a:t>
            </a:r>
            <a:endParaRPr lang="en-IN"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Rectangle 1"/>
          <p:cNvSpPr/>
          <p:nvPr/>
        </p:nvSpPr>
        <p:spPr>
          <a:xfrm>
            <a:off x="0" y="0"/>
            <a:ext cx="12191040" cy="6857280"/>
          </a:xfrm>
          <a:prstGeom prst="rect">
            <a:avLst/>
          </a:prstGeom>
          <a:solidFill>
            <a:srgbClr val="FCFBF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59" name="TextBox 2"/>
          <p:cNvSpPr/>
          <p:nvPr/>
        </p:nvSpPr>
        <p:spPr>
          <a:xfrm>
            <a:off x="640080" y="384120"/>
            <a:ext cx="822888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00" b="1" u="none" strike="noStrike">
                <a:solidFill>
                  <a:srgbClr val="D96B45"/>
                </a:solidFill>
                <a:effectLst/>
                <a:uFillTx/>
                <a:latin typeface="Segoe UI Semibold"/>
              </a:rPr>
              <a:t>ARCHITECTURE</a:t>
            </a:r>
            <a:endParaRPr lang="en-IN" sz="1300" b="0" u="none" strike="noStrike">
              <a:solidFill>
                <a:srgbClr val="000000"/>
              </a:solidFill>
              <a:effectLst/>
              <a:uFillTx/>
              <a:latin typeface="Arial"/>
            </a:endParaRPr>
          </a:p>
        </p:txBody>
      </p:sp>
      <p:sp>
        <p:nvSpPr>
          <p:cNvPr id="160" name="TextBox 3"/>
          <p:cNvSpPr/>
          <p:nvPr/>
        </p:nvSpPr>
        <p:spPr>
          <a:xfrm>
            <a:off x="640080" y="658440"/>
            <a:ext cx="9874800" cy="6850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3000" b="1" u="none" strike="noStrike">
                <a:solidFill>
                  <a:srgbClr val="222B3A"/>
                </a:solidFill>
                <a:effectLst/>
                <a:uFillTx/>
                <a:latin typeface="Segoe UI Semibold"/>
              </a:rPr>
              <a:t>End-to-end system design</a:t>
            </a:r>
            <a:endParaRPr lang="en-IN" sz="3000" b="0" u="none" strike="noStrike">
              <a:solidFill>
                <a:srgbClr val="000000"/>
              </a:solidFill>
              <a:effectLst/>
              <a:uFillTx/>
              <a:latin typeface="Arial"/>
            </a:endParaRPr>
          </a:p>
        </p:txBody>
      </p:sp>
      <p:sp>
        <p:nvSpPr>
          <p:cNvPr id="161" name="Rectangle 4"/>
          <p:cNvSpPr/>
          <p:nvPr/>
        </p:nvSpPr>
        <p:spPr>
          <a:xfrm>
            <a:off x="640080" y="1298520"/>
            <a:ext cx="822240" cy="50040"/>
          </a:xfrm>
          <a:prstGeom prst="rect">
            <a:avLst/>
          </a:prstGeom>
          <a:solidFill>
            <a:srgbClr val="D96B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760" rIns="90000" bIns="5760" anchor="ctr">
            <a:noAutofit/>
          </a:bodyPr>
          <a:p>
            <a:pPr/>
            <a:endParaRPr lang="en-US" sz="1800" b="0" u="none" strike="noStrike">
              <a:solidFill>
                <a:schemeClr val="lt1"/>
              </a:solidFill>
              <a:effectLst/>
              <a:uFillTx/>
              <a:latin typeface="Calibri"/>
            </a:endParaRPr>
          </a:p>
        </p:txBody>
      </p:sp>
      <p:sp>
        <p:nvSpPr>
          <p:cNvPr id="162" name="TextBox 5"/>
          <p:cNvSpPr/>
          <p:nvPr/>
        </p:nvSpPr>
        <p:spPr>
          <a:xfrm>
            <a:off x="11155680" y="6355080"/>
            <a:ext cx="822240" cy="3650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1400" b="0" u="none" strike="noStrike">
                <a:solidFill>
                  <a:srgbClr val="667080"/>
                </a:solidFill>
                <a:effectLst/>
                <a:uFillTx/>
                <a:latin typeface="Segoe UI Semibold"/>
              </a:rPr>
              <a:t>05</a:t>
            </a:r>
            <a:endParaRPr lang="en-IN" sz="1400" b="0" u="none" strike="noStrike">
              <a:solidFill>
                <a:srgbClr val="000000"/>
              </a:solidFill>
              <a:effectLst/>
              <a:uFillTx/>
              <a:latin typeface="Arial"/>
            </a:endParaRPr>
          </a:p>
        </p:txBody>
      </p:sp>
      <p:sp>
        <p:nvSpPr>
          <p:cNvPr id="163" name="TextBox 6"/>
          <p:cNvSpPr/>
          <p:nvPr/>
        </p:nvSpPr>
        <p:spPr>
          <a:xfrm>
            <a:off x="640080" y="6473880"/>
            <a:ext cx="548568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endParaRPr lang="en-IN" sz="1800" b="0" u="none" strike="noStrike">
              <a:solidFill>
                <a:srgbClr val="000000"/>
              </a:solidFill>
              <a:effectLst/>
              <a:uFillTx/>
              <a:latin typeface="Arial"/>
            </a:endParaRPr>
          </a:p>
        </p:txBody>
      </p:sp>
      <p:sp>
        <p:nvSpPr>
          <p:cNvPr id="164" name="TextBox 7"/>
          <p:cNvSpPr/>
          <p:nvPr/>
        </p:nvSpPr>
        <p:spPr>
          <a:xfrm>
            <a:off x="640080" y="1481400"/>
            <a:ext cx="1088064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50" b="1" u="none" strike="noStrike">
                <a:solidFill>
                  <a:srgbClr val="1E8A7A"/>
                </a:solidFill>
                <a:effectLst/>
                <a:uFillTx/>
                <a:latin typeface="Segoe UI Semibold"/>
              </a:rPr>
              <a:t>Offline data pipeline</a:t>
            </a:r>
            <a:endParaRPr lang="en-IN" sz="1250" b="0" u="none" strike="noStrike">
              <a:solidFill>
                <a:srgbClr val="000000"/>
              </a:solidFill>
              <a:effectLst/>
              <a:uFillTx/>
              <a:latin typeface="Arial"/>
            </a:endParaRPr>
          </a:p>
        </p:txBody>
      </p:sp>
      <p:sp>
        <p:nvSpPr>
          <p:cNvPr id="165" name="Rounded Rectangle 8"/>
          <p:cNvSpPr/>
          <p:nvPr/>
        </p:nvSpPr>
        <p:spPr>
          <a:xfrm>
            <a:off x="640080" y="1828800"/>
            <a:ext cx="2331000" cy="776520"/>
          </a:xfrm>
          <a:prstGeom prst="roundRect">
            <a:avLst>
              <a:gd name="adj" fmla="val 12000"/>
            </a:avLst>
          </a:prstGeom>
          <a:solidFill>
            <a:srgbClr val="222B3A"/>
          </a:solidFill>
          <a:ln w="15875">
            <a:solidFill>
              <a:srgbClr val="D96B4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6320" tIns="45000" rIns="76320" bIns="45000" anchor="ctr">
            <a:noAutofit/>
          </a:bodyPr>
          <a:p>
            <a:pPr algn="ctr" defTabSz="457200">
              <a:lnSpc>
                <a:spcPct val="100000"/>
              </a:lnSpc>
            </a:pPr>
            <a:r>
              <a:rPr lang="en-US" sz="1300" b="1" u="none" strike="noStrike">
                <a:solidFill>
                  <a:srgbClr val="FFFFFF"/>
                </a:solidFill>
                <a:effectLst/>
                <a:uFillTx/>
                <a:latin typeface="Segoe UI Semibold"/>
              </a:rPr>
              <a:t>data/raw/</a:t>
            </a:r>
            <a:endParaRPr lang="en-IN" sz="1300" b="0" u="none" strike="noStrike">
              <a:solidFill>
                <a:srgbClr val="FFFFFF"/>
              </a:solidFill>
              <a:effectLst/>
              <a:uFillTx/>
              <a:latin typeface="Arial"/>
            </a:endParaRPr>
          </a:p>
          <a:p>
            <a:pPr algn="ctr" defTabSz="457200">
              <a:lnSpc>
                <a:spcPct val="100000"/>
              </a:lnSpc>
            </a:pPr>
            <a:r>
              <a:rPr lang="en-US" sz="1000" b="0" u="none" strike="noStrike">
                <a:solidFill>
                  <a:srgbClr val="A9B4C4"/>
                </a:solidFill>
                <a:effectLst/>
                <a:uFillTx/>
                <a:latin typeface="Segoe UI"/>
              </a:rPr>
              <a:t>5 raw CSVs</a:t>
            </a:r>
            <a:endParaRPr lang="en-IN" sz="1000" b="0" u="none" strike="noStrike">
              <a:solidFill>
                <a:srgbClr val="FFFFFF"/>
              </a:solidFill>
              <a:effectLst/>
              <a:uFillTx/>
              <a:latin typeface="Arial"/>
            </a:endParaRPr>
          </a:p>
        </p:txBody>
      </p:sp>
      <p:cxnSp>
        <p:nvCxnSpPr>
          <p:cNvPr id="166" name="Connector 9"/>
          <p:cNvCxnSpPr/>
          <p:nvPr/>
        </p:nvCxnSpPr>
        <p:spPr>
          <a:xfrm>
            <a:off x="2971800" y="2217240"/>
            <a:ext cx="229320" cy="720"/>
          </a:xfrm>
          <a:prstGeom prst="straightConnector1">
            <a:avLst/>
          </a:prstGeom>
          <a:ln w="28575">
            <a:solidFill>
              <a:srgbClr val="D96B45"/>
            </a:solidFill>
            <a:round/>
            <a:tailEnd len="med" type="triangle" w="med"/>
          </a:ln>
        </p:spPr>
      </p:cxnSp>
      <p:sp>
        <p:nvSpPr>
          <p:cNvPr id="167" name="Rounded Rectangle 10"/>
          <p:cNvSpPr/>
          <p:nvPr/>
        </p:nvSpPr>
        <p:spPr>
          <a:xfrm>
            <a:off x="3200400" y="1828800"/>
            <a:ext cx="2331000" cy="776520"/>
          </a:xfrm>
          <a:prstGeom prst="roundRect">
            <a:avLst>
              <a:gd name="adj" fmla="val 12000"/>
            </a:avLst>
          </a:prstGeom>
          <a:solidFill>
            <a:srgbClr val="222B3A"/>
          </a:solidFill>
          <a:ln w="15875">
            <a:solidFill>
              <a:srgbClr val="D96B4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6320" tIns="45000" rIns="76320" bIns="45000" anchor="ctr">
            <a:noAutofit/>
          </a:bodyPr>
          <a:p>
            <a:pPr algn="ctr" defTabSz="457200">
              <a:lnSpc>
                <a:spcPct val="100000"/>
              </a:lnSpc>
            </a:pPr>
            <a:r>
              <a:rPr lang="en-US" sz="1300" b="1" u="none" strike="noStrike">
                <a:solidFill>
                  <a:srgbClr val="FFFFFF"/>
                </a:solidFill>
                <a:effectLst/>
                <a:uFillTx/>
                <a:latin typeface="Segoe UI Semibold"/>
              </a:rPr>
              <a:t>01 clean</a:t>
            </a:r>
            <a:endParaRPr lang="en-IN" sz="1300" b="0" u="none" strike="noStrike">
              <a:solidFill>
                <a:srgbClr val="FFFFFF"/>
              </a:solidFill>
              <a:effectLst/>
              <a:uFillTx/>
              <a:latin typeface="Arial"/>
            </a:endParaRPr>
          </a:p>
          <a:p>
            <a:pPr algn="ctr" defTabSz="457200">
              <a:lnSpc>
                <a:spcPct val="100000"/>
              </a:lnSpc>
            </a:pPr>
            <a:r>
              <a:rPr lang="en-US" sz="1000" b="0" u="none" strike="noStrike">
                <a:solidFill>
                  <a:srgbClr val="A9B4C4"/>
                </a:solidFill>
                <a:effectLst/>
                <a:uFillTx/>
                <a:latin typeface="Segoe UI"/>
              </a:rPr>
              <a:t>normalise, de-orphan</a:t>
            </a:r>
            <a:endParaRPr lang="en-IN" sz="1000" b="0" u="none" strike="noStrike">
              <a:solidFill>
                <a:srgbClr val="FFFFFF"/>
              </a:solidFill>
              <a:effectLst/>
              <a:uFillTx/>
              <a:latin typeface="Arial"/>
            </a:endParaRPr>
          </a:p>
        </p:txBody>
      </p:sp>
      <p:cxnSp>
        <p:nvCxnSpPr>
          <p:cNvPr id="168" name="Connector 11"/>
          <p:cNvCxnSpPr/>
          <p:nvPr/>
        </p:nvCxnSpPr>
        <p:spPr>
          <a:xfrm>
            <a:off x="5532120" y="2217240"/>
            <a:ext cx="229320" cy="720"/>
          </a:xfrm>
          <a:prstGeom prst="straightConnector1">
            <a:avLst/>
          </a:prstGeom>
          <a:ln w="28575">
            <a:solidFill>
              <a:srgbClr val="D96B45"/>
            </a:solidFill>
            <a:round/>
            <a:tailEnd len="med" type="triangle" w="med"/>
          </a:ln>
        </p:spPr>
      </p:cxnSp>
      <p:sp>
        <p:nvSpPr>
          <p:cNvPr id="169" name="Rounded Rectangle 12"/>
          <p:cNvSpPr/>
          <p:nvPr/>
        </p:nvSpPr>
        <p:spPr>
          <a:xfrm>
            <a:off x="5760720" y="1828800"/>
            <a:ext cx="2331000" cy="776520"/>
          </a:xfrm>
          <a:prstGeom prst="roundRect">
            <a:avLst>
              <a:gd name="adj" fmla="val 12000"/>
            </a:avLst>
          </a:prstGeom>
          <a:solidFill>
            <a:srgbClr val="222B3A"/>
          </a:solidFill>
          <a:ln w="15875">
            <a:solidFill>
              <a:srgbClr val="D96B4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6320" tIns="45000" rIns="76320" bIns="45000" anchor="ctr">
            <a:noAutofit/>
          </a:bodyPr>
          <a:p>
            <a:pPr algn="ctr" defTabSz="457200">
              <a:lnSpc>
                <a:spcPct val="100000"/>
              </a:lnSpc>
            </a:pPr>
            <a:r>
              <a:rPr lang="en-US" sz="1300" b="1" u="none" strike="noStrike">
                <a:solidFill>
                  <a:srgbClr val="FFFFFF"/>
                </a:solidFill>
                <a:effectLst/>
                <a:uFillTx/>
                <a:latin typeface="Segoe UI Semibold"/>
              </a:rPr>
              <a:t>02 profile</a:t>
            </a:r>
            <a:endParaRPr lang="en-IN" sz="1300" b="0" u="none" strike="noStrike">
              <a:solidFill>
                <a:srgbClr val="FFFFFF"/>
              </a:solidFill>
              <a:effectLst/>
              <a:uFillTx/>
              <a:latin typeface="Arial"/>
            </a:endParaRPr>
          </a:p>
          <a:p>
            <a:pPr algn="ctr" defTabSz="457200">
              <a:lnSpc>
                <a:spcPct val="100000"/>
              </a:lnSpc>
            </a:pPr>
            <a:r>
              <a:rPr lang="en-US" sz="1000" b="0" u="none" strike="noStrike">
                <a:solidFill>
                  <a:srgbClr val="A9B4C4"/>
                </a:solidFill>
                <a:effectLst/>
                <a:uFillTx/>
                <a:latin typeface="Segoe UI"/>
              </a:rPr>
              <a:t>learner &amp; course profiles</a:t>
            </a:r>
            <a:endParaRPr lang="en-IN" sz="1000" b="0" u="none" strike="noStrike">
              <a:solidFill>
                <a:srgbClr val="FFFFFF"/>
              </a:solidFill>
              <a:effectLst/>
              <a:uFillTx/>
              <a:latin typeface="Arial"/>
            </a:endParaRPr>
          </a:p>
        </p:txBody>
      </p:sp>
      <p:cxnSp>
        <p:nvCxnSpPr>
          <p:cNvPr id="170" name="Connector 13"/>
          <p:cNvCxnSpPr/>
          <p:nvPr/>
        </p:nvCxnSpPr>
        <p:spPr>
          <a:xfrm>
            <a:off x="8092440" y="2217240"/>
            <a:ext cx="229320" cy="720"/>
          </a:xfrm>
          <a:prstGeom prst="straightConnector1">
            <a:avLst/>
          </a:prstGeom>
          <a:ln w="28575">
            <a:solidFill>
              <a:srgbClr val="D96B45"/>
            </a:solidFill>
            <a:round/>
            <a:tailEnd len="med" type="triangle" w="med"/>
          </a:ln>
        </p:spPr>
      </p:cxnSp>
      <p:sp>
        <p:nvSpPr>
          <p:cNvPr id="171" name="Rounded Rectangle 14"/>
          <p:cNvSpPr/>
          <p:nvPr/>
        </p:nvSpPr>
        <p:spPr>
          <a:xfrm>
            <a:off x="8321040" y="1828800"/>
            <a:ext cx="2331000" cy="776520"/>
          </a:xfrm>
          <a:prstGeom prst="roundRect">
            <a:avLst>
              <a:gd name="adj" fmla="val 12000"/>
            </a:avLst>
          </a:prstGeom>
          <a:solidFill>
            <a:srgbClr val="222B3A"/>
          </a:solidFill>
          <a:ln w="15875">
            <a:solidFill>
              <a:srgbClr val="D96B4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6320" tIns="45000" rIns="76320" bIns="45000" anchor="ctr">
            <a:noAutofit/>
          </a:bodyPr>
          <a:p>
            <a:pPr algn="ctr" defTabSz="457200">
              <a:lnSpc>
                <a:spcPct val="100000"/>
              </a:lnSpc>
            </a:pPr>
            <a:r>
              <a:rPr lang="en-US" sz="1300" b="1" u="none" strike="noStrike">
                <a:solidFill>
                  <a:srgbClr val="FFFFFF"/>
                </a:solidFill>
                <a:effectLst/>
                <a:uFillTx/>
                <a:latin typeface="Segoe UI Semibold"/>
              </a:rPr>
              <a:t>03 design + engine.py</a:t>
            </a:r>
            <a:endParaRPr lang="en-IN" sz="1300" b="0" u="none" strike="noStrike">
              <a:solidFill>
                <a:srgbClr val="FFFFFF"/>
              </a:solidFill>
              <a:effectLst/>
              <a:uFillTx/>
              <a:latin typeface="Arial"/>
            </a:endParaRPr>
          </a:p>
          <a:p>
            <a:pPr algn="ctr" defTabSz="457200">
              <a:lnSpc>
                <a:spcPct val="100000"/>
              </a:lnSpc>
            </a:pPr>
            <a:r>
              <a:rPr lang="en-US" sz="1000" b="0" u="none" strike="noStrike">
                <a:solidFill>
                  <a:srgbClr val="A9B4C4"/>
                </a:solidFill>
                <a:effectLst/>
                <a:uFillTx/>
                <a:latin typeface="Segoe UI"/>
              </a:rPr>
              <a:t>5 signals · MMR · eval</a:t>
            </a:r>
            <a:endParaRPr lang="en-IN" sz="1000" b="0" u="none" strike="noStrike">
              <a:solidFill>
                <a:srgbClr val="FFFFFF"/>
              </a:solidFill>
              <a:effectLst/>
              <a:uFillTx/>
              <a:latin typeface="Arial"/>
            </a:endParaRPr>
          </a:p>
        </p:txBody>
      </p:sp>
      <p:sp>
        <p:nvSpPr>
          <p:cNvPr id="172" name="TextBox 15"/>
          <p:cNvSpPr/>
          <p:nvPr/>
        </p:nvSpPr>
        <p:spPr>
          <a:xfrm>
            <a:off x="640080" y="2971800"/>
            <a:ext cx="1088064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50" b="1" u="none" strike="noStrike">
                <a:solidFill>
                  <a:srgbClr val="1E8A7A"/>
                </a:solidFill>
                <a:effectLst/>
                <a:uFillTx/>
                <a:latin typeface="Segoe UI Semibold"/>
              </a:rPr>
              <a:t>Shared runtime core</a:t>
            </a:r>
            <a:endParaRPr lang="en-IN" sz="1250" b="0" u="none" strike="noStrike">
              <a:solidFill>
                <a:srgbClr val="000000"/>
              </a:solidFill>
              <a:effectLst/>
              <a:uFillTx/>
              <a:latin typeface="Arial"/>
            </a:endParaRPr>
          </a:p>
        </p:txBody>
      </p:sp>
      <p:sp>
        <p:nvSpPr>
          <p:cNvPr id="173" name="Rounded Rectangle 16"/>
          <p:cNvSpPr/>
          <p:nvPr/>
        </p:nvSpPr>
        <p:spPr>
          <a:xfrm>
            <a:off x="4480560" y="3310200"/>
            <a:ext cx="3199680" cy="776520"/>
          </a:xfrm>
          <a:prstGeom prst="roundRect">
            <a:avLst>
              <a:gd name="adj" fmla="val 8000"/>
            </a:avLst>
          </a:prstGeom>
          <a:solidFill>
            <a:srgbClr val="D96B45"/>
          </a:solidFill>
          <a:ln>
            <a:solidFill>
              <a:srgbClr val="D96B4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400" b="1" u="none" strike="noStrike">
                <a:solidFill>
                  <a:srgbClr val="FFFFFF"/>
                </a:solidFill>
                <a:effectLst/>
                <a:uFillTx/>
                <a:latin typeface="Segoe UI Semibold"/>
              </a:rPr>
              <a:t>engine.py — one scoring path</a:t>
            </a:r>
            <a:endParaRPr lang="en-IN" sz="1400" b="0" u="none" strike="noStrike">
              <a:solidFill>
                <a:srgbClr val="FFFFFF"/>
              </a:solidFill>
              <a:effectLst/>
              <a:uFillTx/>
              <a:latin typeface="Arial"/>
            </a:endParaRPr>
          </a:p>
        </p:txBody>
      </p:sp>
      <p:sp>
        <p:nvSpPr>
          <p:cNvPr id="174" name="TextBox 17"/>
          <p:cNvSpPr/>
          <p:nvPr/>
        </p:nvSpPr>
        <p:spPr>
          <a:xfrm>
            <a:off x="640080" y="4343400"/>
            <a:ext cx="1088064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50" b="1" u="none" strike="noStrike">
                <a:solidFill>
                  <a:srgbClr val="1E8A7A"/>
                </a:solidFill>
                <a:effectLst/>
                <a:uFillTx/>
                <a:latin typeface="Segoe UI Semibold"/>
              </a:rPr>
              <a:t>Serving layer</a:t>
            </a:r>
            <a:endParaRPr lang="en-IN" sz="1250" b="0" u="none" strike="noStrike">
              <a:solidFill>
                <a:srgbClr val="000000"/>
              </a:solidFill>
              <a:effectLst/>
              <a:uFillTx/>
              <a:latin typeface="Arial"/>
            </a:endParaRPr>
          </a:p>
        </p:txBody>
      </p:sp>
      <p:sp>
        <p:nvSpPr>
          <p:cNvPr id="175" name="Rounded Rectangle 18"/>
          <p:cNvSpPr/>
          <p:nvPr/>
        </p:nvSpPr>
        <p:spPr>
          <a:xfrm>
            <a:off x="3017520" y="4709160"/>
            <a:ext cx="2651040" cy="867960"/>
          </a:xfrm>
          <a:prstGeom prst="roundRect">
            <a:avLst>
              <a:gd name="adj" fmla="val 8000"/>
            </a:avLst>
          </a:prstGeom>
          <a:solidFill>
            <a:srgbClr val="222B3A"/>
          </a:solidFill>
          <a:ln>
            <a:solidFill>
              <a:srgbClr val="222B3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300" b="1" u="none" strike="noStrike">
                <a:solidFill>
                  <a:srgbClr val="FFFFFF"/>
                </a:solidFill>
                <a:effectLst/>
                <a:uFillTx/>
                <a:latin typeface="Segoe UI Semibold"/>
              </a:rPr>
              <a:t>agent.py</a:t>
            </a:r>
            <a:endParaRPr lang="en-IN" sz="1300" b="0" u="none" strike="noStrike">
              <a:solidFill>
                <a:srgbClr val="FFFFFF"/>
              </a:solidFill>
              <a:effectLst/>
              <a:uFillTx/>
              <a:latin typeface="Arial"/>
            </a:endParaRPr>
          </a:p>
          <a:p>
            <a:pPr algn="ctr" defTabSz="457200">
              <a:lnSpc>
                <a:spcPct val="100000"/>
              </a:lnSpc>
            </a:pPr>
            <a:r>
              <a:rPr lang="en-US" sz="1050" b="0" u="none" strike="noStrike">
                <a:solidFill>
                  <a:srgbClr val="A9B4C4"/>
                </a:solidFill>
                <a:effectLst/>
                <a:uFillTx/>
                <a:latin typeface="Calibri"/>
              </a:rPr>
              <a:t>AI Training Agent</a:t>
            </a:r>
            <a:endParaRPr lang="en-IN" sz="1050" b="0" u="none" strike="noStrike">
              <a:solidFill>
                <a:srgbClr val="FFFFFF"/>
              </a:solidFill>
              <a:effectLst/>
              <a:uFillTx/>
              <a:latin typeface="Arial"/>
            </a:endParaRPr>
          </a:p>
        </p:txBody>
      </p:sp>
      <p:cxnSp>
        <p:nvCxnSpPr>
          <p:cNvPr id="176" name="Connector 19"/>
          <p:cNvCxnSpPr/>
          <p:nvPr/>
        </p:nvCxnSpPr>
        <p:spPr>
          <a:xfrm>
            <a:off x="4343400" y="4087080"/>
            <a:ext cx="720" cy="622800"/>
          </a:xfrm>
          <a:prstGeom prst="straightConnector1">
            <a:avLst/>
          </a:prstGeom>
          <a:ln w="0">
            <a:solidFill>
              <a:srgbClr val="D96B45"/>
            </a:solidFill>
            <a:tailEnd len="med" type="triangle" w="med"/>
          </a:ln>
        </p:spPr>
      </p:cxnSp>
      <p:sp>
        <p:nvSpPr>
          <p:cNvPr id="177" name="Rounded Rectangle 20"/>
          <p:cNvSpPr/>
          <p:nvPr/>
        </p:nvSpPr>
        <p:spPr>
          <a:xfrm>
            <a:off x="6126480" y="4709160"/>
            <a:ext cx="2651040" cy="867960"/>
          </a:xfrm>
          <a:prstGeom prst="roundRect">
            <a:avLst>
              <a:gd name="adj" fmla="val 8000"/>
            </a:avLst>
          </a:prstGeom>
          <a:solidFill>
            <a:srgbClr val="222B3A"/>
          </a:solidFill>
          <a:ln>
            <a:solidFill>
              <a:srgbClr val="222B3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300" b="1" u="none" strike="noStrike">
                <a:solidFill>
                  <a:srgbClr val="FFFFFF"/>
                </a:solidFill>
                <a:effectLst/>
                <a:uFillTx/>
                <a:latin typeface="Segoe UI Semibold"/>
              </a:rPr>
              <a:t>api.py</a:t>
            </a:r>
            <a:endParaRPr lang="en-IN" sz="1300" b="0" u="none" strike="noStrike">
              <a:solidFill>
                <a:srgbClr val="FFFFFF"/>
              </a:solidFill>
              <a:effectLst/>
              <a:uFillTx/>
              <a:latin typeface="Arial"/>
            </a:endParaRPr>
          </a:p>
          <a:p>
            <a:pPr algn="ctr" defTabSz="457200">
              <a:lnSpc>
                <a:spcPct val="100000"/>
              </a:lnSpc>
            </a:pPr>
            <a:r>
              <a:rPr lang="en-US" sz="1050" b="0" u="none" strike="noStrike">
                <a:solidFill>
                  <a:srgbClr val="A9B4C4"/>
                </a:solidFill>
                <a:effectLst/>
                <a:uFillTx/>
                <a:latin typeface="Calibri"/>
              </a:rPr>
              <a:t>FastAPI service</a:t>
            </a:r>
            <a:endParaRPr lang="en-IN" sz="1050" b="0" u="none" strike="noStrike">
              <a:solidFill>
                <a:srgbClr val="FFFFFF"/>
              </a:solidFill>
              <a:effectLst/>
              <a:uFillTx/>
              <a:latin typeface="Arial"/>
            </a:endParaRPr>
          </a:p>
        </p:txBody>
      </p:sp>
      <p:cxnSp>
        <p:nvCxnSpPr>
          <p:cNvPr id="178" name="Connector 21"/>
          <p:cNvCxnSpPr/>
          <p:nvPr/>
        </p:nvCxnSpPr>
        <p:spPr>
          <a:xfrm>
            <a:off x="7452360" y="4087080"/>
            <a:ext cx="720" cy="622800"/>
          </a:xfrm>
          <a:prstGeom prst="straightConnector1">
            <a:avLst/>
          </a:prstGeom>
          <a:ln w="0">
            <a:solidFill>
              <a:srgbClr val="D96B45"/>
            </a:solidFill>
            <a:tailEnd len="med" type="triangle" w="med"/>
          </a:ln>
        </p:spPr>
      </p:cxnSp>
      <p:sp>
        <p:nvSpPr>
          <p:cNvPr id="179" name="Rounded Rectangle 22"/>
          <p:cNvSpPr/>
          <p:nvPr/>
        </p:nvSpPr>
        <p:spPr>
          <a:xfrm>
            <a:off x="9235440" y="4709160"/>
            <a:ext cx="2651040" cy="867960"/>
          </a:xfrm>
          <a:prstGeom prst="roundRect">
            <a:avLst>
              <a:gd name="adj" fmla="val 8000"/>
            </a:avLst>
          </a:prstGeom>
          <a:solidFill>
            <a:srgbClr val="222B3A"/>
          </a:solidFill>
          <a:ln>
            <a:solidFill>
              <a:srgbClr val="222B3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300" b="1" u="none" strike="noStrike">
                <a:solidFill>
                  <a:srgbClr val="FFFFFF"/>
                </a:solidFill>
                <a:effectLst/>
                <a:uFillTx/>
                <a:latin typeface="Segoe UI Semibold"/>
              </a:rPr>
              <a:t>dashboard.py</a:t>
            </a:r>
            <a:endParaRPr lang="en-IN" sz="1300" b="0" u="none" strike="noStrike">
              <a:solidFill>
                <a:srgbClr val="FFFFFF"/>
              </a:solidFill>
              <a:effectLst/>
              <a:uFillTx/>
              <a:latin typeface="Arial"/>
            </a:endParaRPr>
          </a:p>
          <a:p>
            <a:pPr algn="ctr" defTabSz="457200">
              <a:lnSpc>
                <a:spcPct val="100000"/>
              </a:lnSpc>
            </a:pPr>
            <a:r>
              <a:rPr lang="en-US" sz="1050" b="0" u="none" strike="noStrike">
                <a:solidFill>
                  <a:srgbClr val="A9B4C4"/>
                </a:solidFill>
                <a:effectLst/>
                <a:uFillTx/>
                <a:latin typeface="Calibri"/>
              </a:rPr>
              <a:t>Streamlit UI</a:t>
            </a:r>
            <a:endParaRPr lang="en-IN" sz="1050" b="0" u="none" strike="noStrike">
              <a:solidFill>
                <a:srgbClr val="FFFFFF"/>
              </a:solidFill>
              <a:effectLst/>
              <a:uFillTx/>
              <a:latin typeface="Arial"/>
            </a:endParaRPr>
          </a:p>
        </p:txBody>
      </p:sp>
      <p:cxnSp>
        <p:nvCxnSpPr>
          <p:cNvPr id="180" name="Connector 23"/>
          <p:cNvCxnSpPr/>
          <p:nvPr/>
        </p:nvCxnSpPr>
        <p:spPr>
          <a:xfrm>
            <a:off x="10561320" y="4087080"/>
            <a:ext cx="720" cy="622800"/>
          </a:xfrm>
          <a:prstGeom prst="straightConnector1">
            <a:avLst/>
          </a:prstGeom>
          <a:ln w="0">
            <a:solidFill>
              <a:srgbClr val="D96B45"/>
            </a:solidFill>
            <a:tailEnd len="med" type="triangle" w="med"/>
          </a:ln>
        </p:spPr>
      </p:cxnSp>
      <p:sp>
        <p:nvSpPr>
          <p:cNvPr id="181" name="TextBox 24"/>
          <p:cNvSpPr/>
          <p:nvPr/>
        </p:nvSpPr>
        <p:spPr>
          <a:xfrm>
            <a:off x="640080" y="5806440"/>
            <a:ext cx="10880640" cy="63936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250" b="0" i="1" u="none" strike="noStrike">
                <a:solidFill>
                  <a:srgbClr val="667080"/>
                </a:solidFill>
                <a:effectLst/>
                <a:uFillTx/>
                <a:latin typeface="Segoe UI"/>
              </a:rPr>
              <a:t>Design principle:  every consumer — notebook, agent, API, dashboard — calls the same scoring implementation, so ranking logic can never drift apart.</a:t>
            </a:r>
            <a:endParaRPr lang="en-IN"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Rectangle 1"/>
          <p:cNvSpPr/>
          <p:nvPr/>
        </p:nvSpPr>
        <p:spPr>
          <a:xfrm>
            <a:off x="0" y="0"/>
            <a:ext cx="12191040" cy="6857280"/>
          </a:xfrm>
          <a:prstGeom prst="rect">
            <a:avLst/>
          </a:prstGeom>
          <a:solidFill>
            <a:srgbClr val="FCFBF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83" name="TextBox 2"/>
          <p:cNvSpPr/>
          <p:nvPr/>
        </p:nvSpPr>
        <p:spPr>
          <a:xfrm>
            <a:off x="640080" y="384120"/>
            <a:ext cx="822888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00" b="1" u="none" strike="noStrike">
                <a:solidFill>
                  <a:srgbClr val="D96B45"/>
                </a:solidFill>
                <a:effectLst/>
                <a:uFillTx/>
                <a:latin typeface="Segoe UI Semibold"/>
              </a:rPr>
              <a:t>ARCHITECTURE</a:t>
            </a:r>
            <a:endParaRPr lang="en-IN" sz="1300" b="0" u="none" strike="noStrike">
              <a:solidFill>
                <a:srgbClr val="000000"/>
              </a:solidFill>
              <a:effectLst/>
              <a:uFillTx/>
              <a:latin typeface="Arial"/>
            </a:endParaRPr>
          </a:p>
        </p:txBody>
      </p:sp>
      <p:sp>
        <p:nvSpPr>
          <p:cNvPr id="184" name="TextBox 3"/>
          <p:cNvSpPr/>
          <p:nvPr/>
        </p:nvSpPr>
        <p:spPr>
          <a:xfrm>
            <a:off x="640080" y="658440"/>
            <a:ext cx="9874800" cy="6850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3000" b="1" u="none" strike="noStrike">
                <a:solidFill>
                  <a:srgbClr val="222B3A"/>
                </a:solidFill>
                <a:effectLst/>
                <a:uFillTx/>
                <a:latin typeface="Segoe UI Semibold"/>
              </a:rPr>
              <a:t>Data pipeline — what each stage does</a:t>
            </a:r>
            <a:endParaRPr lang="en-IN" sz="3000" b="0" u="none" strike="noStrike">
              <a:solidFill>
                <a:srgbClr val="000000"/>
              </a:solidFill>
              <a:effectLst/>
              <a:uFillTx/>
              <a:latin typeface="Arial"/>
            </a:endParaRPr>
          </a:p>
        </p:txBody>
      </p:sp>
      <p:sp>
        <p:nvSpPr>
          <p:cNvPr id="185" name="Rectangle 4"/>
          <p:cNvSpPr/>
          <p:nvPr/>
        </p:nvSpPr>
        <p:spPr>
          <a:xfrm>
            <a:off x="640080" y="1298520"/>
            <a:ext cx="822240" cy="50040"/>
          </a:xfrm>
          <a:prstGeom prst="rect">
            <a:avLst/>
          </a:prstGeom>
          <a:solidFill>
            <a:srgbClr val="D96B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760" rIns="90000" bIns="5760" anchor="ctr">
            <a:noAutofit/>
          </a:bodyPr>
          <a:p>
            <a:pPr/>
            <a:endParaRPr lang="en-US" sz="1800" b="0" u="none" strike="noStrike">
              <a:solidFill>
                <a:schemeClr val="lt1"/>
              </a:solidFill>
              <a:effectLst/>
              <a:uFillTx/>
              <a:latin typeface="Calibri"/>
            </a:endParaRPr>
          </a:p>
        </p:txBody>
      </p:sp>
      <p:sp>
        <p:nvSpPr>
          <p:cNvPr id="186" name="TextBox 5"/>
          <p:cNvSpPr/>
          <p:nvPr/>
        </p:nvSpPr>
        <p:spPr>
          <a:xfrm>
            <a:off x="11155680" y="6355080"/>
            <a:ext cx="822240" cy="3650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1400" b="0" u="none" strike="noStrike">
                <a:solidFill>
                  <a:srgbClr val="667080"/>
                </a:solidFill>
                <a:effectLst/>
                <a:uFillTx/>
                <a:latin typeface="Segoe UI Semibold"/>
              </a:rPr>
              <a:t>06</a:t>
            </a:r>
            <a:endParaRPr lang="en-IN" sz="1400" b="0" u="none" strike="noStrike">
              <a:solidFill>
                <a:srgbClr val="000000"/>
              </a:solidFill>
              <a:effectLst/>
              <a:uFillTx/>
              <a:latin typeface="Arial"/>
            </a:endParaRPr>
          </a:p>
        </p:txBody>
      </p:sp>
      <p:sp>
        <p:nvSpPr>
          <p:cNvPr id="187" name="TextBox 6"/>
          <p:cNvSpPr/>
          <p:nvPr/>
        </p:nvSpPr>
        <p:spPr>
          <a:xfrm>
            <a:off x="640080" y="6473880"/>
            <a:ext cx="548568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endParaRPr lang="en-IN" sz="1800" b="0" u="none" strike="noStrike">
              <a:solidFill>
                <a:srgbClr val="000000"/>
              </a:solidFill>
              <a:effectLst/>
              <a:uFillTx/>
              <a:latin typeface="Arial"/>
            </a:endParaRPr>
          </a:p>
        </p:txBody>
      </p:sp>
      <p:graphicFrame>
        <p:nvGraphicFramePr>
          <p:cNvPr id="188" name="Table 7"/>
          <p:cNvGraphicFramePr/>
          <p:nvPr/>
        </p:nvGraphicFramePr>
        <p:xfrm>
          <a:off x="640080" y="1554480"/>
          <a:ext cx="10880640" cy="4753080"/>
        </p:xfrm>
        <a:graphic>
          <a:graphicData uri="http://schemas.openxmlformats.org/drawingml/2006/table">
            <a:tbl>
              <a:tblPr/>
              <a:tblGrid>
                <a:gridCol w="1208880"/>
                <a:gridCol w="2857680"/>
                <a:gridCol w="6814440"/>
              </a:tblGrid>
              <a:tr h="528120">
                <a:tc>
                  <a:txBody>
                    <a:bodyPr lIns="101520" tIns="50760" rIns="101520" bIns="50760" anchor="ctr">
                      <a:noAutofit/>
                    </a:bodyPr>
                    <a:p>
                      <a:pPr defTabSz="457200">
                        <a:lnSpc>
                          <a:spcPct val="100000"/>
                        </a:lnSpc>
                      </a:pPr>
                      <a:r>
                        <a:rPr lang="en-US" sz="1350" b="1" u="none" strike="noStrike">
                          <a:solidFill>
                            <a:srgbClr val="FFFFFF"/>
                          </a:solidFill>
                          <a:effectLst/>
                          <a:uFillTx/>
                          <a:latin typeface="Segoe UI Semibold"/>
                        </a:rPr>
                        <a:t>Stage</a:t>
                      </a:r>
                      <a:endParaRPr lang="en-IN" sz="1350" b="0" u="none" strike="noStrike">
                        <a:solidFill>
                          <a:srgbClr val="FFFFFF"/>
                        </a:solidFill>
                        <a:effectLst/>
                        <a:uFillTx/>
                        <a:latin typeface="Arial"/>
                      </a:endParaRPr>
                    </a:p>
                  </a:txBody>
                  <a:tcPr anchor="ctr" marL="101520" marR="10152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22B3A"/>
                    </a:solidFill>
                  </a:tcPr>
                </a:tc>
                <a:tc>
                  <a:txBody>
                    <a:bodyPr lIns="101520" tIns="50760" rIns="101520" bIns="50760" anchor="ctr">
                      <a:noAutofit/>
                    </a:bodyPr>
                    <a:p>
                      <a:pPr defTabSz="457200">
                        <a:lnSpc>
                          <a:spcPct val="100000"/>
                        </a:lnSpc>
                      </a:pPr>
                      <a:r>
                        <a:rPr lang="en-US" sz="1350" b="1" u="none" strike="noStrike">
                          <a:solidFill>
                            <a:srgbClr val="FFFFFF"/>
                          </a:solidFill>
                          <a:effectLst/>
                          <a:uFillTx/>
                          <a:latin typeface="Segoe UI Semibold"/>
                        </a:rPr>
                        <a:t>File</a:t>
                      </a:r>
                      <a:endParaRPr lang="en-IN" sz="1350" b="0" u="none" strike="noStrike">
                        <a:solidFill>
                          <a:srgbClr val="FFFFFF"/>
                        </a:solidFill>
                        <a:effectLst/>
                        <a:uFillTx/>
                        <a:latin typeface="Arial"/>
                      </a:endParaRPr>
                    </a:p>
                  </a:txBody>
                  <a:tcPr anchor="ctr" marL="101520" marR="10152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22B3A"/>
                    </a:solidFill>
                  </a:tcPr>
                </a:tc>
                <a:tc>
                  <a:txBody>
                    <a:bodyPr lIns="101520" tIns="50760" rIns="101520" bIns="50760" anchor="ctr">
                      <a:noAutofit/>
                    </a:bodyPr>
                    <a:p>
                      <a:pPr defTabSz="457200">
                        <a:lnSpc>
                          <a:spcPct val="100000"/>
                        </a:lnSpc>
                      </a:pPr>
                      <a:r>
                        <a:rPr lang="en-US" sz="1350" b="1" u="none" strike="noStrike">
                          <a:solidFill>
                            <a:srgbClr val="FFFFFF"/>
                          </a:solidFill>
                          <a:effectLst/>
                          <a:uFillTx/>
                          <a:latin typeface="Segoe UI Semibold"/>
                        </a:rPr>
                        <a:t>Purpose</a:t>
                      </a:r>
                      <a:endParaRPr lang="en-IN" sz="1350" b="0" u="none" strike="noStrike">
                        <a:solidFill>
                          <a:srgbClr val="FFFFFF"/>
                        </a:solidFill>
                        <a:effectLst/>
                        <a:uFillTx/>
                        <a:latin typeface="Arial"/>
                      </a:endParaRPr>
                    </a:p>
                  </a:txBody>
                  <a:tcPr anchor="ctr" marL="101520" marR="10152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22B3A"/>
                    </a:solidFill>
                  </a:tcPr>
                </a:tc>
              </a:tr>
              <a:tr h="528120">
                <a:tc>
                  <a:txBody>
                    <a:bodyPr lIns="101520" tIns="37800" rIns="101520" bIns="37800" anchor="ctr">
                      <a:noAutofit/>
                    </a:bodyPr>
                    <a:p>
                      <a:pPr defTabSz="457200">
                        <a:lnSpc>
                          <a:spcPct val="100000"/>
                        </a:lnSpc>
                      </a:pPr>
                      <a:r>
                        <a:rPr lang="en-US" sz="1300" b="0" u="none" strike="noStrike">
                          <a:solidFill>
                            <a:srgbClr val="222B3A"/>
                          </a:solidFill>
                          <a:effectLst/>
                          <a:uFillTx/>
                          <a:latin typeface="Segoe UI"/>
                        </a:rPr>
                        <a:t>Clean</a:t>
                      </a:r>
                      <a:endParaRPr lang="en-IN" sz="13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101520" tIns="37800" rIns="101520" bIns="37800" anchor="ctr">
                      <a:noAutofit/>
                    </a:bodyPr>
                    <a:p>
                      <a:pPr defTabSz="457200">
                        <a:lnSpc>
                          <a:spcPct val="100000"/>
                        </a:lnSpc>
                      </a:pPr>
                      <a:r>
                        <a:rPr lang="en-US" sz="1300" b="0" u="none" strike="noStrike">
                          <a:solidFill>
                            <a:srgbClr val="222B3A"/>
                          </a:solidFill>
                          <a:effectLst/>
                          <a:uFillTx/>
                          <a:latin typeface="Segoe UI"/>
                        </a:rPr>
                        <a:t>01_data_cleaning.ipynb</a:t>
                      </a:r>
                      <a:endParaRPr lang="en-IN" sz="13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101520" tIns="37800" rIns="101520" bIns="37800" anchor="ctr">
                      <a:noAutofit/>
                    </a:bodyPr>
                    <a:p>
                      <a:pPr defTabSz="457200">
                        <a:lnSpc>
                          <a:spcPct val="100000"/>
                        </a:lnSpc>
                      </a:pPr>
                      <a:r>
                        <a:rPr lang="en-US" sz="1300" b="0" u="none" strike="noStrike">
                          <a:solidFill>
                            <a:srgbClr val="222B3A"/>
                          </a:solidFill>
                          <a:effectLst/>
                          <a:uFillTx/>
                          <a:latin typeface="Segoe UI"/>
                        </a:rPr>
                        <a:t>Column/text normalisation, referential integrity, numeric coercion, duplicate diagnostic</a:t>
                      </a:r>
                      <a:endParaRPr lang="en-IN" sz="13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28120">
                <a:tc>
                  <a:txBody>
                    <a:bodyPr lIns="101520" tIns="37800" rIns="101520" bIns="37800" anchor="ctr">
                      <a:noAutofit/>
                    </a:bodyPr>
                    <a:p>
                      <a:pPr defTabSz="457200">
                        <a:lnSpc>
                          <a:spcPct val="100000"/>
                        </a:lnSpc>
                      </a:pPr>
                      <a:r>
                        <a:rPr lang="en-US" sz="1300" b="0" u="none" strike="noStrike">
                          <a:solidFill>
                            <a:srgbClr val="222B3A"/>
                          </a:solidFill>
                          <a:effectLst/>
                          <a:uFillTx/>
                          <a:latin typeface="Segoe UI"/>
                        </a:rPr>
                        <a:t>Profile</a:t>
                      </a:r>
                      <a:endParaRPr lang="en-IN" sz="13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FE7"/>
                    </a:solidFill>
                  </a:tcPr>
                </a:tc>
                <a:tc>
                  <a:txBody>
                    <a:bodyPr lIns="101520" tIns="37800" rIns="101520" bIns="37800" anchor="ctr">
                      <a:noAutofit/>
                    </a:bodyPr>
                    <a:p>
                      <a:pPr defTabSz="457200">
                        <a:lnSpc>
                          <a:spcPct val="100000"/>
                        </a:lnSpc>
                      </a:pPr>
                      <a:r>
                        <a:rPr lang="en-US" sz="1300" b="0" u="none" strike="noStrike">
                          <a:solidFill>
                            <a:srgbClr val="222B3A"/>
                          </a:solidFill>
                          <a:effectLst/>
                          <a:uFillTx/>
                          <a:latin typeface="Segoe UI"/>
                        </a:rPr>
                        <a:t>02_recommendation_data.ipynb</a:t>
                      </a:r>
                      <a:endParaRPr lang="en-IN" sz="13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FE7"/>
                    </a:solidFill>
                  </a:tcPr>
                </a:tc>
                <a:tc>
                  <a:txBody>
                    <a:bodyPr lIns="101520" tIns="37800" rIns="101520" bIns="37800" anchor="ctr">
                      <a:noAutofit/>
                    </a:bodyPr>
                    <a:p>
                      <a:pPr defTabSz="457200">
                        <a:lnSpc>
                          <a:spcPct val="100000"/>
                        </a:lnSpc>
                      </a:pPr>
                      <a:r>
                        <a:rPr lang="en-US" sz="1300" b="0" u="none" strike="noStrike">
                          <a:solidFill>
                            <a:srgbClr val="222B3A"/>
                          </a:solidFill>
                          <a:effectLst/>
                          <a:uFillTx/>
                          <a:latin typeface="Segoe UI"/>
                        </a:rPr>
                        <a:t>Learner + course profiles, skill vocabulary, the two data repairs</a:t>
                      </a:r>
                      <a:endParaRPr lang="en-IN" sz="13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FE7"/>
                    </a:solidFill>
                  </a:tcPr>
                </a:tc>
              </a:tr>
              <a:tr h="528120">
                <a:tc>
                  <a:txBody>
                    <a:bodyPr lIns="101520" tIns="37800" rIns="101520" bIns="37800" anchor="ctr">
                      <a:noAutofit/>
                    </a:bodyPr>
                    <a:p>
                      <a:pPr defTabSz="457200">
                        <a:lnSpc>
                          <a:spcPct val="100000"/>
                        </a:lnSpc>
                      </a:pPr>
                      <a:r>
                        <a:rPr lang="en-US" sz="1300" b="0" u="none" strike="noStrike">
                          <a:solidFill>
                            <a:srgbClr val="222B3A"/>
                          </a:solidFill>
                          <a:effectLst/>
                          <a:uFillTx/>
                          <a:latin typeface="Segoe UI"/>
                        </a:rPr>
                        <a:t>Design</a:t>
                      </a:r>
                      <a:endParaRPr lang="en-IN" sz="13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101520" tIns="37800" rIns="101520" bIns="37800" anchor="ctr">
                      <a:noAutofit/>
                    </a:bodyPr>
                    <a:p>
                      <a:pPr defTabSz="457200">
                        <a:lnSpc>
                          <a:spcPct val="100000"/>
                        </a:lnSpc>
                      </a:pPr>
                      <a:r>
                        <a:rPr lang="en-US" sz="1300" b="0" u="none" strike="noStrike">
                          <a:solidFill>
                            <a:srgbClr val="222B3A"/>
                          </a:solidFill>
                          <a:effectLst/>
                          <a:uFillTx/>
                          <a:latin typeface="Segoe UI"/>
                        </a:rPr>
                        <a:t>03_recommendation_engine.ipynb</a:t>
                      </a:r>
                      <a:endParaRPr lang="en-IN" sz="13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101520" tIns="37800" rIns="101520" bIns="37800" anchor="ctr">
                      <a:noAutofit/>
                    </a:bodyPr>
                    <a:p>
                      <a:pPr defTabSz="457200">
                        <a:lnSpc>
                          <a:spcPct val="100000"/>
                        </a:lnSpc>
                      </a:pPr>
                      <a:r>
                        <a:rPr lang="en-US" sz="1300" b="0" u="none" strike="noStrike">
                          <a:solidFill>
                            <a:srgbClr val="222B3A"/>
                          </a:solidFill>
                          <a:effectLst/>
                          <a:uFillTx/>
                          <a:latin typeface="Segoe UI"/>
                        </a:rPr>
                        <a:t>Skill bridge, five ranking signals, hybrid score, MMR, evaluation</a:t>
                      </a:r>
                      <a:endParaRPr lang="en-IN" sz="13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28120">
                <a:tc>
                  <a:txBody>
                    <a:bodyPr lIns="101520" tIns="37800" rIns="101520" bIns="37800" anchor="ctr">
                      <a:noAutofit/>
                    </a:bodyPr>
                    <a:p>
                      <a:pPr defTabSz="457200">
                        <a:lnSpc>
                          <a:spcPct val="100000"/>
                        </a:lnSpc>
                      </a:pPr>
                      <a:r>
                        <a:rPr lang="en-US" sz="1300" b="0" u="none" strike="noStrike">
                          <a:solidFill>
                            <a:srgbClr val="222B3A"/>
                          </a:solidFill>
                          <a:effectLst/>
                          <a:uFillTx/>
                          <a:latin typeface="Segoe UI"/>
                        </a:rPr>
                        <a:t>Report</a:t>
                      </a:r>
                      <a:endParaRPr lang="en-IN" sz="13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FE7"/>
                    </a:solidFill>
                  </a:tcPr>
                </a:tc>
                <a:tc>
                  <a:txBody>
                    <a:bodyPr lIns="101520" tIns="37800" rIns="101520" bIns="37800" anchor="ctr">
                      <a:noAutofit/>
                    </a:bodyPr>
                    <a:p>
                      <a:pPr defTabSz="457200">
                        <a:lnSpc>
                          <a:spcPct val="100000"/>
                        </a:lnSpc>
                      </a:pPr>
                      <a:r>
                        <a:rPr lang="en-US" sz="1300" b="0" u="none" strike="noStrike">
                          <a:solidFill>
                            <a:srgbClr val="222B3A"/>
                          </a:solidFill>
                          <a:effectLst/>
                          <a:uFillTx/>
                          <a:latin typeface="Segoe UI"/>
                        </a:rPr>
                        <a:t>04_analytics_report.ipynb</a:t>
                      </a:r>
                      <a:endParaRPr lang="en-IN" sz="13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FE7"/>
                    </a:solidFill>
                  </a:tcPr>
                </a:tc>
                <a:tc>
                  <a:txBody>
                    <a:bodyPr lIns="101520" tIns="37800" rIns="101520" bIns="37800" anchor="ctr">
                      <a:noAutofit/>
                    </a:bodyPr>
                    <a:p>
                      <a:pPr defTabSz="457200">
                        <a:lnSpc>
                          <a:spcPct val="100000"/>
                        </a:lnSpc>
                      </a:pPr>
                      <a:r>
                        <a:rPr lang="en-US" sz="1300" b="0" u="none" strike="noStrike">
                          <a:solidFill>
                            <a:srgbClr val="222B3A"/>
                          </a:solidFill>
                          <a:effectLst/>
                          <a:uFillTx/>
                          <a:latin typeface="Segoe UI"/>
                        </a:rPr>
                        <a:t>Skill supply/demand gaps, goal-teachability, Protocol A/B recall, MMR trade-off</a:t>
                      </a:r>
                      <a:endParaRPr lang="en-IN" sz="13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FE7"/>
                    </a:solidFill>
                  </a:tcPr>
                </a:tc>
              </a:tr>
              <a:tr h="528120">
                <a:tc>
                  <a:txBody>
                    <a:bodyPr lIns="101520" tIns="37800" rIns="101520" bIns="37800" anchor="ctr">
                      <a:noAutofit/>
                    </a:bodyPr>
                    <a:p>
                      <a:pPr defTabSz="457200">
                        <a:lnSpc>
                          <a:spcPct val="100000"/>
                        </a:lnSpc>
                      </a:pPr>
                      <a:r>
                        <a:rPr lang="en-US" sz="1300" b="0" u="none" strike="noStrike">
                          <a:solidFill>
                            <a:srgbClr val="222B3A"/>
                          </a:solidFill>
                          <a:effectLst/>
                          <a:uFillTx/>
                          <a:latin typeface="Segoe UI"/>
                        </a:rPr>
                        <a:t>Runtime</a:t>
                      </a:r>
                      <a:endParaRPr lang="en-IN" sz="13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101520" tIns="37800" rIns="101520" bIns="37800" anchor="ctr">
                      <a:noAutofit/>
                    </a:bodyPr>
                    <a:p>
                      <a:pPr defTabSz="457200">
                        <a:lnSpc>
                          <a:spcPct val="100000"/>
                        </a:lnSpc>
                      </a:pPr>
                      <a:r>
                        <a:rPr lang="en-US" sz="1300" b="0" u="none" strike="noStrike">
                          <a:solidFill>
                            <a:srgbClr val="222B3A"/>
                          </a:solidFill>
                          <a:effectLst/>
                          <a:uFillTx/>
                          <a:latin typeface="Segoe UI"/>
                        </a:rPr>
                        <a:t>engine.py</a:t>
                      </a:r>
                      <a:endParaRPr lang="en-IN" sz="13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101520" tIns="37800" rIns="101520" bIns="37800" anchor="ctr">
                      <a:noAutofit/>
                    </a:bodyPr>
                    <a:p>
                      <a:pPr defTabSz="457200">
                        <a:lnSpc>
                          <a:spcPct val="100000"/>
                        </a:lnSpc>
                      </a:pPr>
                      <a:r>
                        <a:rPr lang="en-US" sz="1300" b="0" u="none" strike="noStrike">
                          <a:solidFill>
                            <a:srgbClr val="222B3A"/>
                          </a:solidFill>
                          <a:effectLst/>
                          <a:uFillTx/>
                          <a:latin typeface="Segoe UI"/>
                        </a:rPr>
                        <a:t>Notebook 03's logic as an importable module — one scoring path for every caller</a:t>
                      </a:r>
                      <a:endParaRPr lang="en-IN" sz="13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28120">
                <a:tc>
                  <a:txBody>
                    <a:bodyPr lIns="101520" tIns="37800" rIns="101520" bIns="37800" anchor="ctr">
                      <a:noAutofit/>
                    </a:bodyPr>
                    <a:p>
                      <a:pPr defTabSz="457200">
                        <a:lnSpc>
                          <a:spcPct val="100000"/>
                        </a:lnSpc>
                      </a:pPr>
                      <a:r>
                        <a:rPr lang="en-US" sz="1300" b="0" u="none" strike="noStrike">
                          <a:solidFill>
                            <a:srgbClr val="222B3A"/>
                          </a:solidFill>
                          <a:effectLst/>
                          <a:uFillTx/>
                          <a:latin typeface="Segoe UI"/>
                        </a:rPr>
                        <a:t>Agent</a:t>
                      </a:r>
                      <a:endParaRPr lang="en-IN" sz="13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FE7"/>
                    </a:solidFill>
                  </a:tcPr>
                </a:tc>
                <a:tc>
                  <a:txBody>
                    <a:bodyPr lIns="101520" tIns="37800" rIns="101520" bIns="37800" anchor="ctr">
                      <a:noAutofit/>
                    </a:bodyPr>
                    <a:p>
                      <a:pPr defTabSz="457200">
                        <a:lnSpc>
                          <a:spcPct val="100000"/>
                        </a:lnSpc>
                      </a:pPr>
                      <a:r>
                        <a:rPr lang="en-US" sz="1300" b="0" u="none" strike="noStrike">
                          <a:solidFill>
                            <a:srgbClr val="222B3A"/>
                          </a:solidFill>
                          <a:effectLst/>
                          <a:uFillTx/>
                          <a:latin typeface="Segoe UI"/>
                        </a:rPr>
                        <a:t>agent.py</a:t>
                      </a:r>
                      <a:endParaRPr lang="en-IN" sz="13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FE7"/>
                    </a:solidFill>
                  </a:tcPr>
                </a:tc>
                <a:tc>
                  <a:txBody>
                    <a:bodyPr lIns="101520" tIns="37800" rIns="101520" bIns="37800" anchor="ctr">
                      <a:noAutofit/>
                    </a:bodyPr>
                    <a:p>
                      <a:pPr defTabSz="457200">
                        <a:lnSpc>
                          <a:spcPct val="100000"/>
                        </a:lnSpc>
                      </a:pPr>
                      <a:r>
                        <a:rPr lang="en-US" sz="1300" b="0" u="none" strike="noStrike">
                          <a:solidFill>
                            <a:srgbClr val="222B3A"/>
                          </a:solidFill>
                          <a:effectLst/>
                          <a:uFillTx/>
                          <a:latin typeface="Segoe UI"/>
                        </a:rPr>
                        <a:t>Gemini tool-calling agent over engine.py</a:t>
                      </a:r>
                      <a:endParaRPr lang="en-IN" sz="13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FE7"/>
                    </a:solidFill>
                  </a:tcPr>
                </a:tc>
              </a:tr>
              <a:tr h="528120">
                <a:tc>
                  <a:txBody>
                    <a:bodyPr lIns="101520" tIns="37800" rIns="101520" bIns="37800" anchor="ctr">
                      <a:noAutofit/>
                    </a:bodyPr>
                    <a:p>
                      <a:pPr defTabSz="457200">
                        <a:lnSpc>
                          <a:spcPct val="100000"/>
                        </a:lnSpc>
                      </a:pPr>
                      <a:r>
                        <a:rPr lang="en-US" sz="1300" b="0" u="none" strike="noStrike">
                          <a:solidFill>
                            <a:srgbClr val="222B3A"/>
                          </a:solidFill>
                          <a:effectLst/>
                          <a:uFillTx/>
                          <a:latin typeface="Segoe UI"/>
                        </a:rPr>
                        <a:t>API</a:t>
                      </a:r>
                      <a:endParaRPr lang="en-IN" sz="13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101520" tIns="37800" rIns="101520" bIns="37800" anchor="ctr">
                      <a:noAutofit/>
                    </a:bodyPr>
                    <a:p>
                      <a:pPr defTabSz="457200">
                        <a:lnSpc>
                          <a:spcPct val="100000"/>
                        </a:lnSpc>
                      </a:pPr>
                      <a:r>
                        <a:rPr lang="en-US" sz="1300" b="0" u="none" strike="noStrike">
                          <a:solidFill>
                            <a:srgbClr val="222B3A"/>
                          </a:solidFill>
                          <a:effectLst/>
                          <a:uFillTx/>
                          <a:latin typeface="Segoe UI"/>
                        </a:rPr>
                        <a:t>api.py</a:t>
                      </a:r>
                      <a:endParaRPr lang="en-IN" sz="13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101520" tIns="37800" rIns="101520" bIns="37800" anchor="ctr">
                      <a:noAutofit/>
                    </a:bodyPr>
                    <a:p>
                      <a:pPr defTabSz="457200">
                        <a:lnSpc>
                          <a:spcPct val="100000"/>
                        </a:lnSpc>
                      </a:pPr>
                      <a:r>
                        <a:rPr lang="en-US" sz="1300" b="0" u="none" strike="noStrike">
                          <a:solidFill>
                            <a:srgbClr val="222B3A"/>
                          </a:solidFill>
                          <a:effectLst/>
                          <a:uFillTx/>
                          <a:latin typeface="Segoe UI"/>
                        </a:rPr>
                        <a:t>FastAPI: /recommend, /recommend/{person_id}, /chat</a:t>
                      </a:r>
                      <a:endParaRPr lang="en-IN" sz="13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28120">
                <a:tc>
                  <a:txBody>
                    <a:bodyPr lIns="101520" tIns="37800" rIns="101520" bIns="37800" anchor="ctr">
                      <a:noAutofit/>
                    </a:bodyPr>
                    <a:p>
                      <a:pPr defTabSz="457200">
                        <a:lnSpc>
                          <a:spcPct val="100000"/>
                        </a:lnSpc>
                      </a:pPr>
                      <a:r>
                        <a:rPr lang="en-US" sz="1300" b="0" u="none" strike="noStrike">
                          <a:solidFill>
                            <a:srgbClr val="222B3A"/>
                          </a:solidFill>
                          <a:effectLst/>
                          <a:uFillTx/>
                          <a:latin typeface="Segoe UI"/>
                        </a:rPr>
                        <a:t>UI</a:t>
                      </a:r>
                      <a:endParaRPr lang="en-IN" sz="13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FE7"/>
                    </a:solidFill>
                  </a:tcPr>
                </a:tc>
                <a:tc>
                  <a:txBody>
                    <a:bodyPr lIns="101520" tIns="37800" rIns="101520" bIns="37800" anchor="ctr">
                      <a:noAutofit/>
                    </a:bodyPr>
                    <a:p>
                      <a:pPr defTabSz="457200">
                        <a:lnSpc>
                          <a:spcPct val="100000"/>
                        </a:lnSpc>
                      </a:pPr>
                      <a:r>
                        <a:rPr lang="en-US" sz="1300" b="0" u="none" strike="noStrike">
                          <a:solidFill>
                            <a:srgbClr val="222B3A"/>
                          </a:solidFill>
                          <a:effectLst/>
                          <a:uFillTx/>
                          <a:latin typeface="Segoe UI"/>
                        </a:rPr>
                        <a:t>dashboard.py</a:t>
                      </a:r>
                      <a:endParaRPr lang="en-IN" sz="13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FE7"/>
                    </a:solidFill>
                  </a:tcPr>
                </a:tc>
                <a:tc>
                  <a:txBody>
                    <a:bodyPr lIns="101520" tIns="37800" rIns="101520" bIns="37800" anchor="ctr">
                      <a:noAutofit/>
                    </a:bodyPr>
                    <a:p>
                      <a:pPr defTabSz="457200">
                        <a:lnSpc>
                          <a:spcPct val="100000"/>
                        </a:lnSpc>
                      </a:pPr>
                      <a:r>
                        <a:rPr lang="en-US" sz="1300" b="0" u="none" strike="noStrike">
                          <a:solidFill>
                            <a:srgbClr val="222B3A"/>
                          </a:solidFill>
                          <a:effectLst/>
                          <a:uFillTx/>
                          <a:latin typeface="Segoe UI"/>
                        </a:rPr>
                        <a:t>Streamlit: chat, direct recommend form, catalogue/learner explorer</a:t>
                      </a:r>
                      <a:endParaRPr lang="en-IN" sz="13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FE7"/>
                    </a:solidFill>
                  </a:tcPr>
                </a:tc>
              </a:tr>
            </a:tbl>
          </a:graphicData>
        </a:graphic>
      </p:graphicFrame>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Rectangle 1"/>
          <p:cNvSpPr/>
          <p:nvPr/>
        </p:nvSpPr>
        <p:spPr>
          <a:xfrm>
            <a:off x="0" y="0"/>
            <a:ext cx="12191040" cy="6857280"/>
          </a:xfrm>
          <a:prstGeom prst="rect">
            <a:avLst/>
          </a:prstGeom>
          <a:solidFill>
            <a:srgbClr val="FCFBF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90" name="TextBox 2"/>
          <p:cNvSpPr/>
          <p:nvPr/>
        </p:nvSpPr>
        <p:spPr>
          <a:xfrm>
            <a:off x="640080" y="384120"/>
            <a:ext cx="822888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00" b="1" u="none" strike="noStrike">
                <a:solidFill>
                  <a:srgbClr val="D96B45"/>
                </a:solidFill>
                <a:effectLst/>
                <a:uFillTx/>
                <a:latin typeface="Segoe UI Semibold"/>
              </a:rPr>
              <a:t>DATA QUALITY — REPAIR 1 OF 2</a:t>
            </a:r>
            <a:endParaRPr lang="en-IN" sz="1300" b="0" u="none" strike="noStrike">
              <a:solidFill>
                <a:srgbClr val="000000"/>
              </a:solidFill>
              <a:effectLst/>
              <a:uFillTx/>
              <a:latin typeface="Arial"/>
            </a:endParaRPr>
          </a:p>
        </p:txBody>
      </p:sp>
      <p:sp>
        <p:nvSpPr>
          <p:cNvPr id="191" name="TextBox 3"/>
          <p:cNvSpPr/>
          <p:nvPr/>
        </p:nvSpPr>
        <p:spPr>
          <a:xfrm>
            <a:off x="640080" y="658440"/>
            <a:ext cx="9874800" cy="6850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3000" b="1" u="none" strike="noStrike">
                <a:solidFill>
                  <a:srgbClr val="222B3A"/>
                </a:solidFill>
                <a:effectLst/>
                <a:uFillTx/>
                <a:latin typeface="Segoe UI Semibold"/>
              </a:rPr>
              <a:t>The learner population was stacked 3×</a:t>
            </a:r>
            <a:endParaRPr lang="en-IN" sz="3000" b="0" u="none" strike="noStrike">
              <a:solidFill>
                <a:srgbClr val="000000"/>
              </a:solidFill>
              <a:effectLst/>
              <a:uFillTx/>
              <a:latin typeface="Arial"/>
            </a:endParaRPr>
          </a:p>
        </p:txBody>
      </p:sp>
      <p:sp>
        <p:nvSpPr>
          <p:cNvPr id="192" name="Rectangle 4"/>
          <p:cNvSpPr/>
          <p:nvPr/>
        </p:nvSpPr>
        <p:spPr>
          <a:xfrm>
            <a:off x="640080" y="1298520"/>
            <a:ext cx="822240" cy="50040"/>
          </a:xfrm>
          <a:prstGeom prst="rect">
            <a:avLst/>
          </a:prstGeom>
          <a:solidFill>
            <a:srgbClr val="D96B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760" rIns="90000" bIns="5760" anchor="ctr">
            <a:noAutofit/>
          </a:bodyPr>
          <a:p>
            <a:pPr/>
            <a:endParaRPr lang="en-US" sz="1800" b="0" u="none" strike="noStrike">
              <a:solidFill>
                <a:schemeClr val="lt1"/>
              </a:solidFill>
              <a:effectLst/>
              <a:uFillTx/>
              <a:latin typeface="Calibri"/>
            </a:endParaRPr>
          </a:p>
        </p:txBody>
      </p:sp>
      <p:sp>
        <p:nvSpPr>
          <p:cNvPr id="193" name="TextBox 5"/>
          <p:cNvSpPr/>
          <p:nvPr/>
        </p:nvSpPr>
        <p:spPr>
          <a:xfrm>
            <a:off x="11155680" y="6355080"/>
            <a:ext cx="822240" cy="3650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1400" b="0" u="none" strike="noStrike">
                <a:solidFill>
                  <a:srgbClr val="667080"/>
                </a:solidFill>
                <a:effectLst/>
                <a:uFillTx/>
                <a:latin typeface="Segoe UI Semibold"/>
              </a:rPr>
              <a:t>07</a:t>
            </a:r>
            <a:endParaRPr lang="en-IN" sz="1400" b="0" u="none" strike="noStrike">
              <a:solidFill>
                <a:srgbClr val="000000"/>
              </a:solidFill>
              <a:effectLst/>
              <a:uFillTx/>
              <a:latin typeface="Arial"/>
            </a:endParaRPr>
          </a:p>
        </p:txBody>
      </p:sp>
      <p:sp>
        <p:nvSpPr>
          <p:cNvPr id="194" name="TextBox 6"/>
          <p:cNvSpPr/>
          <p:nvPr/>
        </p:nvSpPr>
        <p:spPr>
          <a:xfrm>
            <a:off x="640080" y="6473880"/>
            <a:ext cx="548568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0" u="none" strike="noStrike">
                <a:solidFill>
                  <a:srgbClr val="667080"/>
                </a:solidFill>
                <a:effectLst/>
                <a:uFillTx/>
                <a:latin typeface="Segoe UI"/>
              </a:rPr>
              <a:t>Skill-Gap Course Recommendation Engine</a:t>
            </a:r>
            <a:endParaRPr lang="en-IN" sz="1000" b="0" u="none" strike="noStrike">
              <a:solidFill>
                <a:srgbClr val="000000"/>
              </a:solidFill>
              <a:effectLst/>
              <a:uFillTx/>
              <a:latin typeface="Arial"/>
            </a:endParaRPr>
          </a:p>
        </p:txBody>
      </p:sp>
      <p:sp>
        <p:nvSpPr>
          <p:cNvPr id="195" name="TextBox 7"/>
          <p:cNvSpPr/>
          <p:nvPr/>
        </p:nvSpPr>
        <p:spPr>
          <a:xfrm>
            <a:off x="640080" y="1691640"/>
            <a:ext cx="6125760" cy="3199680"/>
          </a:xfrm>
          <a:prstGeom prst="rect">
            <a:avLst/>
          </a:prstGeom>
          <a:noFill/>
          <a:ln w="0">
            <a:noFill/>
          </a:ln>
        </p:spPr>
        <p:style>
          <a:lnRef idx="0"/>
          <a:fillRef idx="0"/>
          <a:effectRef idx="0"/>
          <a:fontRef idx="minor"/>
        </p:style>
        <p:txBody>
          <a:bodyPr lIns="0" tIns="0" rIns="0" bIns="0" anchor="t">
            <a:spAutoFit/>
          </a:bodyPr>
          <a:p>
            <a:pPr defTabSz="457200">
              <a:lnSpc>
                <a:spcPct val="120000"/>
              </a:lnSpc>
              <a:spcAft>
                <a:spcPts val="1100"/>
              </a:spcAft>
            </a:pPr>
            <a:r>
              <a:rPr lang="en-US" sz="1450" b="1" u="none" strike="noStrike">
                <a:solidFill>
                  <a:srgbClr val="D96B45"/>
                </a:solidFill>
                <a:effectLst/>
                <a:uFillTx/>
                <a:latin typeface="Segoe UI"/>
              </a:rPr>
              <a:t>▪ </a:t>
            </a:r>
            <a:r>
              <a:rPr lang="en-US" sz="1450" b="0" u="none" strike="noStrike">
                <a:solidFill>
                  <a:srgbClr val="222B3A"/>
                </a:solidFill>
                <a:effectLst/>
                <a:uFillTx/>
                <a:latin typeface="Segoe UI"/>
              </a:rPr>
              <a:t>Every learner appeared three times under three different person_ids, offset by a constant 18,311 — every other column byte-identical</a:t>
            </a:r>
            <a:endParaRPr lang="en-IN" sz="1450" b="0" u="none" strike="noStrike">
              <a:solidFill>
                <a:srgbClr val="000000"/>
              </a:solidFill>
              <a:effectLst/>
              <a:uFillTx/>
              <a:latin typeface="Arial"/>
            </a:endParaRPr>
          </a:p>
          <a:p>
            <a:pPr defTabSz="457200">
              <a:lnSpc>
                <a:spcPct val="120000"/>
              </a:lnSpc>
              <a:spcAft>
                <a:spcPts val="1100"/>
              </a:spcAft>
            </a:pPr>
            <a:r>
              <a:rPr lang="en-US" sz="1450" b="1" u="none" strike="noStrike">
                <a:solidFill>
                  <a:srgbClr val="D96B45"/>
                </a:solidFill>
                <a:effectLst/>
                <a:uFillTx/>
                <a:latin typeface="Segoe UI"/>
              </a:rPr>
              <a:t>▪ </a:t>
            </a:r>
            <a:r>
              <a:rPr lang="en-US" sz="1450" b="0" u="none" strike="noStrike">
                <a:solidFill>
                  <a:srgbClr val="222B3A"/>
                </a:solidFill>
                <a:effectLst/>
                <a:uFillTx/>
                <a:latin typeface="Segoe UI"/>
              </a:rPr>
              <a:t>A naive drop_duplicates(person_id) could not catch it, because the IDs differed</a:t>
            </a:r>
            <a:endParaRPr lang="en-IN" sz="1450" b="0" u="none" strike="noStrike">
              <a:solidFill>
                <a:srgbClr val="000000"/>
              </a:solidFill>
              <a:effectLst/>
              <a:uFillTx/>
              <a:latin typeface="Arial"/>
            </a:endParaRPr>
          </a:p>
          <a:p>
            <a:pPr defTabSz="457200">
              <a:lnSpc>
                <a:spcPct val="120000"/>
              </a:lnSpc>
              <a:spcAft>
                <a:spcPts val="1100"/>
              </a:spcAft>
            </a:pPr>
            <a:r>
              <a:rPr lang="en-US" sz="1450" b="1" u="none" strike="noStrike">
                <a:solidFill>
                  <a:srgbClr val="D96B45"/>
                </a:solidFill>
                <a:effectLst/>
                <a:uFillTx/>
                <a:latin typeface="Segoe UI"/>
              </a:rPr>
              <a:t>▪ </a:t>
            </a:r>
            <a:r>
              <a:rPr lang="en-US" sz="1450" b="0" u="none" strike="noStrike">
                <a:solidFill>
                  <a:srgbClr val="222B3A"/>
                </a:solidFill>
                <a:effectLst/>
                <a:uFillTx/>
                <a:latin typeface="Segoe UI"/>
              </a:rPr>
              <a:t>Why it mattered:</a:t>
            </a:r>
            <a:endParaRPr lang="en-IN" sz="1450" b="0" u="none" strike="noStrike">
              <a:solidFill>
                <a:srgbClr val="000000"/>
              </a:solidFill>
              <a:effectLst/>
              <a:uFillTx/>
              <a:latin typeface="Arial"/>
            </a:endParaRPr>
          </a:p>
          <a:p>
            <a:pPr defTabSz="457200">
              <a:lnSpc>
                <a:spcPct val="120000"/>
              </a:lnSpc>
              <a:spcAft>
                <a:spcPts val="1100"/>
              </a:spcAft>
            </a:pPr>
            <a:r>
              <a:rPr lang="en-US" sz="1250" b="0" u="none" strike="noStrike">
                <a:solidFill>
                  <a:srgbClr val="667080"/>
                </a:solidFill>
                <a:effectLst/>
                <a:uFillTx/>
                <a:latin typeface="Segoe UI"/>
              </a:rPr>
              <a:t>–  </a:t>
            </a:r>
            <a:r>
              <a:rPr lang="en-US" sz="1250" b="0" u="none" strike="noStrike">
                <a:solidFill>
                  <a:srgbClr val="222B3A"/>
                </a:solidFill>
                <a:effectLst/>
                <a:uFillTx/>
                <a:latin typeface="Segoe UI"/>
              </a:rPr>
              <a:t>Inflated every skill-frequency statistic threefold</a:t>
            </a:r>
            <a:endParaRPr lang="en-IN" sz="1250" b="0" u="none" strike="noStrike">
              <a:solidFill>
                <a:srgbClr val="000000"/>
              </a:solidFill>
              <a:effectLst/>
              <a:uFillTx/>
              <a:latin typeface="Arial"/>
            </a:endParaRPr>
          </a:p>
          <a:p>
            <a:pPr defTabSz="457200">
              <a:lnSpc>
                <a:spcPct val="120000"/>
              </a:lnSpc>
              <a:spcAft>
                <a:spcPts val="1100"/>
              </a:spcAft>
            </a:pPr>
            <a:r>
              <a:rPr lang="en-US" sz="1250" b="0" u="none" strike="noStrike">
                <a:solidFill>
                  <a:srgbClr val="667080"/>
                </a:solidFill>
                <a:effectLst/>
                <a:uFillTx/>
                <a:latin typeface="Segoe UI"/>
              </a:rPr>
              <a:t>–  </a:t>
            </a:r>
            <a:r>
              <a:rPr lang="en-US" sz="1250" b="0" u="none" strike="noStrike">
                <a:solidFill>
                  <a:srgbClr val="222B3A"/>
                </a:solidFill>
                <a:effectLst/>
                <a:uFillTx/>
                <a:latin typeface="Segoe UI"/>
              </a:rPr>
              <a:t>Could put the same person on both sides of a train/test split — invalidating offline accuracy numbers</a:t>
            </a:r>
            <a:endParaRPr lang="en-IN" sz="1250" b="0" u="none" strike="noStrike">
              <a:solidFill>
                <a:srgbClr val="000000"/>
              </a:solidFill>
              <a:effectLst/>
              <a:uFillTx/>
              <a:latin typeface="Arial"/>
            </a:endParaRPr>
          </a:p>
          <a:p>
            <a:pPr defTabSz="457200">
              <a:lnSpc>
                <a:spcPct val="120000"/>
              </a:lnSpc>
              <a:spcAft>
                <a:spcPts val="1100"/>
              </a:spcAft>
            </a:pPr>
            <a:r>
              <a:rPr lang="en-US" sz="1450" b="1" u="none" strike="noStrike">
                <a:solidFill>
                  <a:srgbClr val="D96B45"/>
                </a:solidFill>
                <a:effectLst/>
                <a:uFillTx/>
                <a:latin typeface="Segoe UI"/>
              </a:rPr>
              <a:t>▪ </a:t>
            </a:r>
            <a:r>
              <a:rPr lang="en-US" sz="1450" b="0" u="none" strike="noStrike">
                <a:solidFill>
                  <a:srgbClr val="222B3A"/>
                </a:solidFill>
                <a:effectLst/>
                <a:uFillTx/>
                <a:latin typeface="Segoe UI"/>
              </a:rPr>
              <a:t>Fix: de-duplicate on a content fingerprint (name + profile_text), keep the lowest person_id; added an automated diagnostic to notebook 01</a:t>
            </a:r>
            <a:endParaRPr lang="en-IN" sz="1450" b="0" u="none" strike="noStrike">
              <a:solidFill>
                <a:srgbClr val="000000"/>
              </a:solidFill>
              <a:effectLst/>
              <a:uFillTx/>
              <a:latin typeface="Arial"/>
            </a:endParaRPr>
          </a:p>
        </p:txBody>
      </p:sp>
      <p:sp>
        <p:nvSpPr>
          <p:cNvPr id="196" name="Rounded Rectangle 8"/>
          <p:cNvSpPr/>
          <p:nvPr/>
        </p:nvSpPr>
        <p:spPr>
          <a:xfrm>
            <a:off x="7178040" y="1691640"/>
            <a:ext cx="2331000" cy="1462320"/>
          </a:xfrm>
          <a:prstGeom prst="roundRect">
            <a:avLst>
              <a:gd name="adj" fmla="val 10000"/>
            </a:avLst>
          </a:prstGeom>
          <a:solidFill>
            <a:srgbClr val="F3EFE7"/>
          </a:solidFill>
          <a:ln>
            <a:solidFill>
              <a:srgbClr val="E7E1D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97" name="TextBox 9"/>
          <p:cNvSpPr/>
          <p:nvPr/>
        </p:nvSpPr>
        <p:spPr>
          <a:xfrm>
            <a:off x="7315200" y="1801440"/>
            <a:ext cx="2056680" cy="95940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3000" b="1" u="none" strike="noStrike">
                <a:solidFill>
                  <a:srgbClr val="C04B3D"/>
                </a:solidFill>
                <a:effectLst/>
                <a:uFillTx/>
                <a:latin typeface="Segoe UI Semibold"/>
              </a:rPr>
              <a:t>54,933</a:t>
            </a:r>
            <a:endParaRPr lang="en-IN" sz="3000" b="0" u="none" strike="noStrike">
              <a:solidFill>
                <a:srgbClr val="000000"/>
              </a:solidFill>
              <a:effectLst/>
              <a:uFillTx/>
              <a:latin typeface="Arial"/>
            </a:endParaRPr>
          </a:p>
        </p:txBody>
      </p:sp>
      <p:sp>
        <p:nvSpPr>
          <p:cNvPr id="198" name="TextBox 10"/>
          <p:cNvSpPr/>
          <p:nvPr/>
        </p:nvSpPr>
        <p:spPr>
          <a:xfrm>
            <a:off x="7287840" y="2697480"/>
            <a:ext cx="2111400" cy="41076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1150" b="0" u="none" strike="noStrike">
                <a:solidFill>
                  <a:srgbClr val="667080"/>
                </a:solidFill>
                <a:effectLst/>
                <a:uFillTx/>
                <a:latin typeface="Segoe UI"/>
              </a:rPr>
              <a:t>raw learner rows</a:t>
            </a:r>
            <a:endParaRPr lang="en-IN" sz="1150" b="0" u="none" strike="noStrike">
              <a:solidFill>
                <a:srgbClr val="000000"/>
              </a:solidFill>
              <a:effectLst/>
              <a:uFillTx/>
              <a:latin typeface="Arial"/>
            </a:endParaRPr>
          </a:p>
        </p:txBody>
      </p:sp>
      <p:sp>
        <p:nvSpPr>
          <p:cNvPr id="199" name="TextBox 11"/>
          <p:cNvSpPr/>
          <p:nvPr/>
        </p:nvSpPr>
        <p:spPr>
          <a:xfrm>
            <a:off x="6858000" y="2788920"/>
            <a:ext cx="822240" cy="91368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3000" b="0" u="none" strike="noStrike">
                <a:solidFill>
                  <a:srgbClr val="667080"/>
                </a:solidFill>
                <a:effectLst/>
                <a:uFillTx/>
                <a:latin typeface="Segoe UI"/>
              </a:rPr>
              <a:t>→</a:t>
            </a:r>
            <a:endParaRPr lang="en-IN" sz="3000" b="0" u="none" strike="noStrike">
              <a:solidFill>
                <a:srgbClr val="000000"/>
              </a:solidFill>
              <a:effectLst/>
              <a:uFillTx/>
              <a:latin typeface="Arial"/>
            </a:endParaRPr>
          </a:p>
        </p:txBody>
      </p:sp>
      <p:sp>
        <p:nvSpPr>
          <p:cNvPr id="200" name="Rounded Rectangle 12"/>
          <p:cNvSpPr/>
          <p:nvPr/>
        </p:nvSpPr>
        <p:spPr>
          <a:xfrm>
            <a:off x="9509760" y="1691640"/>
            <a:ext cx="2010960" cy="1462320"/>
          </a:xfrm>
          <a:prstGeom prst="roundRect">
            <a:avLst>
              <a:gd name="adj" fmla="val 10000"/>
            </a:avLst>
          </a:prstGeom>
          <a:solidFill>
            <a:srgbClr val="F3EFE7"/>
          </a:solidFill>
          <a:ln>
            <a:solidFill>
              <a:srgbClr val="E7E1D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01" name="TextBox 13"/>
          <p:cNvSpPr/>
          <p:nvPr/>
        </p:nvSpPr>
        <p:spPr>
          <a:xfrm>
            <a:off x="9646920" y="1801440"/>
            <a:ext cx="1736640" cy="95940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3000" b="1" u="none" strike="noStrike">
                <a:solidFill>
                  <a:srgbClr val="2E8B57"/>
                </a:solidFill>
                <a:effectLst/>
                <a:uFillTx/>
                <a:latin typeface="Segoe UI Semibold"/>
              </a:rPr>
              <a:t>18,194</a:t>
            </a:r>
            <a:endParaRPr lang="en-IN" sz="3000" b="0" u="none" strike="noStrike">
              <a:solidFill>
                <a:srgbClr val="000000"/>
              </a:solidFill>
              <a:effectLst/>
              <a:uFillTx/>
              <a:latin typeface="Arial"/>
            </a:endParaRPr>
          </a:p>
        </p:txBody>
      </p:sp>
      <p:sp>
        <p:nvSpPr>
          <p:cNvPr id="202" name="TextBox 14"/>
          <p:cNvSpPr/>
          <p:nvPr/>
        </p:nvSpPr>
        <p:spPr>
          <a:xfrm>
            <a:off x="9619560" y="2697480"/>
            <a:ext cx="1791360" cy="41076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1150" b="0" u="none" strike="noStrike">
                <a:solidFill>
                  <a:srgbClr val="667080"/>
                </a:solidFill>
                <a:effectLst/>
                <a:uFillTx/>
                <a:latin typeface="Segoe UI"/>
              </a:rPr>
              <a:t>true learners</a:t>
            </a:r>
            <a:endParaRPr lang="en-IN" sz="1150" b="0" u="none" strike="noStrike">
              <a:solidFill>
                <a:srgbClr val="000000"/>
              </a:solidFill>
              <a:effectLst/>
              <a:uFillTx/>
              <a:latin typeface="Arial"/>
            </a:endParaRPr>
          </a:p>
        </p:txBody>
      </p:sp>
      <p:sp>
        <p:nvSpPr>
          <p:cNvPr id="203" name="Rounded Rectangle 15"/>
          <p:cNvSpPr/>
          <p:nvPr/>
        </p:nvSpPr>
        <p:spPr>
          <a:xfrm>
            <a:off x="7178040" y="3429000"/>
            <a:ext cx="4342680" cy="1416600"/>
          </a:xfrm>
          <a:prstGeom prst="roundRect">
            <a:avLst>
              <a:gd name="adj" fmla="val 8000"/>
            </a:avLst>
          </a:prstGeom>
          <a:solidFill>
            <a:srgbClr val="222B3A"/>
          </a:solidFill>
          <a:ln>
            <a:solidFill>
              <a:srgbClr val="222B3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04" name="TextBox 16"/>
          <p:cNvSpPr/>
          <p:nvPr/>
        </p:nvSpPr>
        <p:spPr>
          <a:xfrm>
            <a:off x="7406640" y="3611880"/>
            <a:ext cx="3931200" cy="3650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600" b="1" u="none" strike="noStrike">
                <a:solidFill>
                  <a:srgbClr val="D96B45"/>
                </a:solidFill>
                <a:effectLst/>
                <a:uFillTx/>
                <a:latin typeface="Segoe UI Semibold"/>
              </a:rPr>
              <a:t>3.02×</a:t>
            </a:r>
            <a:endParaRPr lang="en-IN" sz="2600" b="0" u="none" strike="noStrike">
              <a:solidFill>
                <a:srgbClr val="000000"/>
              </a:solidFill>
              <a:effectLst/>
              <a:uFillTx/>
              <a:latin typeface="Arial"/>
            </a:endParaRPr>
          </a:p>
        </p:txBody>
      </p:sp>
      <p:sp>
        <p:nvSpPr>
          <p:cNvPr id="205" name="TextBox 17"/>
          <p:cNvSpPr/>
          <p:nvPr/>
        </p:nvSpPr>
        <p:spPr>
          <a:xfrm>
            <a:off x="7406640" y="4160520"/>
            <a:ext cx="3931200" cy="5479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200" b="0" u="none" strike="noStrike">
                <a:solidFill>
                  <a:srgbClr val="A9B4C4"/>
                </a:solidFill>
                <a:effectLst/>
                <a:uFillTx/>
                <a:latin typeface="Segoe UI"/>
              </a:rPr>
              <a:t>reduction after content-fingerprint dedup</a:t>
            </a:r>
            <a:endParaRPr lang="en-IN"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Rectangle 1"/>
          <p:cNvSpPr/>
          <p:nvPr/>
        </p:nvSpPr>
        <p:spPr>
          <a:xfrm>
            <a:off x="0" y="0"/>
            <a:ext cx="12191040" cy="6857280"/>
          </a:xfrm>
          <a:prstGeom prst="rect">
            <a:avLst/>
          </a:prstGeom>
          <a:solidFill>
            <a:srgbClr val="FCFBF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07" name="TextBox 2"/>
          <p:cNvSpPr/>
          <p:nvPr/>
        </p:nvSpPr>
        <p:spPr>
          <a:xfrm>
            <a:off x="640080" y="384120"/>
            <a:ext cx="822888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00" b="1" u="none" strike="noStrike">
                <a:solidFill>
                  <a:srgbClr val="D96B45"/>
                </a:solidFill>
                <a:effectLst/>
                <a:uFillTx/>
                <a:latin typeface="Segoe UI Semibold"/>
              </a:rPr>
              <a:t>DATA QUALITY — REPAIR 2 OF 2</a:t>
            </a:r>
            <a:endParaRPr lang="en-IN" sz="1300" b="0" u="none" strike="noStrike">
              <a:solidFill>
                <a:srgbClr val="000000"/>
              </a:solidFill>
              <a:effectLst/>
              <a:uFillTx/>
              <a:latin typeface="Arial"/>
            </a:endParaRPr>
          </a:p>
        </p:txBody>
      </p:sp>
      <p:sp>
        <p:nvSpPr>
          <p:cNvPr id="208" name="TextBox 3"/>
          <p:cNvSpPr/>
          <p:nvPr/>
        </p:nvSpPr>
        <p:spPr>
          <a:xfrm>
            <a:off x="640080" y="658440"/>
            <a:ext cx="9874800" cy="6850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3000" b="1" u="none" strike="noStrike">
                <a:solidFill>
                  <a:srgbClr val="222B3A"/>
                </a:solidFill>
                <a:effectLst/>
                <a:uFillTx/>
                <a:latin typeface="Segoe UI Semibold"/>
              </a:rPr>
              <a:t>A third of the “skill” vocabulary was resume prose</a:t>
            </a:r>
            <a:endParaRPr lang="en-IN" sz="3000" b="0" u="none" strike="noStrike">
              <a:solidFill>
                <a:srgbClr val="000000"/>
              </a:solidFill>
              <a:effectLst/>
              <a:uFillTx/>
              <a:latin typeface="Arial"/>
            </a:endParaRPr>
          </a:p>
        </p:txBody>
      </p:sp>
      <p:sp>
        <p:nvSpPr>
          <p:cNvPr id="209" name="Rectangle 4"/>
          <p:cNvSpPr/>
          <p:nvPr/>
        </p:nvSpPr>
        <p:spPr>
          <a:xfrm>
            <a:off x="640080" y="1298520"/>
            <a:ext cx="822240" cy="50040"/>
          </a:xfrm>
          <a:prstGeom prst="rect">
            <a:avLst/>
          </a:prstGeom>
          <a:solidFill>
            <a:srgbClr val="D96B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760" rIns="90000" bIns="5760" anchor="ctr">
            <a:noAutofit/>
          </a:bodyPr>
          <a:p>
            <a:pPr/>
            <a:endParaRPr lang="en-US" sz="1800" b="0" u="none" strike="noStrike">
              <a:solidFill>
                <a:schemeClr val="lt1"/>
              </a:solidFill>
              <a:effectLst/>
              <a:uFillTx/>
              <a:latin typeface="Calibri"/>
            </a:endParaRPr>
          </a:p>
        </p:txBody>
      </p:sp>
      <p:sp>
        <p:nvSpPr>
          <p:cNvPr id="210" name="TextBox 5"/>
          <p:cNvSpPr/>
          <p:nvPr/>
        </p:nvSpPr>
        <p:spPr>
          <a:xfrm>
            <a:off x="11155680" y="6355080"/>
            <a:ext cx="822240" cy="3650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1400" b="0" u="none" strike="noStrike">
                <a:solidFill>
                  <a:srgbClr val="667080"/>
                </a:solidFill>
                <a:effectLst/>
                <a:uFillTx/>
                <a:latin typeface="Segoe UI Semibold"/>
              </a:rPr>
              <a:t>08</a:t>
            </a:r>
            <a:endParaRPr lang="en-IN" sz="1400" b="0" u="none" strike="noStrike">
              <a:solidFill>
                <a:srgbClr val="000000"/>
              </a:solidFill>
              <a:effectLst/>
              <a:uFillTx/>
              <a:latin typeface="Arial"/>
            </a:endParaRPr>
          </a:p>
        </p:txBody>
      </p:sp>
      <p:sp>
        <p:nvSpPr>
          <p:cNvPr id="211" name="TextBox 6"/>
          <p:cNvSpPr/>
          <p:nvPr/>
        </p:nvSpPr>
        <p:spPr>
          <a:xfrm>
            <a:off x="640080" y="6473880"/>
            <a:ext cx="548568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0" u="none" strike="noStrike">
                <a:solidFill>
                  <a:srgbClr val="667080"/>
                </a:solidFill>
                <a:effectLst/>
                <a:uFillTx/>
                <a:latin typeface="Segoe UI"/>
              </a:rPr>
              <a:t>Skill-Gap Course Recommendation Engine</a:t>
            </a:r>
            <a:endParaRPr lang="en-IN" sz="1000" b="0" u="none" strike="noStrike">
              <a:solidFill>
                <a:srgbClr val="000000"/>
              </a:solidFill>
              <a:effectLst/>
              <a:uFillTx/>
              <a:latin typeface="Arial"/>
            </a:endParaRPr>
          </a:p>
        </p:txBody>
      </p:sp>
      <p:sp>
        <p:nvSpPr>
          <p:cNvPr id="212" name="TextBox 7"/>
          <p:cNvSpPr/>
          <p:nvPr/>
        </p:nvSpPr>
        <p:spPr>
          <a:xfrm>
            <a:off x="640080" y="1691640"/>
            <a:ext cx="6125760" cy="3199680"/>
          </a:xfrm>
          <a:prstGeom prst="rect">
            <a:avLst/>
          </a:prstGeom>
          <a:noFill/>
          <a:ln w="0">
            <a:noFill/>
          </a:ln>
        </p:spPr>
        <p:style>
          <a:lnRef idx="0"/>
          <a:fillRef idx="0"/>
          <a:effectRef idx="0"/>
          <a:fontRef idx="minor"/>
        </p:style>
        <p:txBody>
          <a:bodyPr lIns="0" tIns="0" rIns="0" bIns="0" anchor="t">
            <a:spAutoFit/>
          </a:bodyPr>
          <a:p>
            <a:pPr defTabSz="457200">
              <a:lnSpc>
                <a:spcPct val="120000"/>
              </a:lnSpc>
              <a:spcAft>
                <a:spcPts val="1100"/>
              </a:spcAft>
            </a:pPr>
            <a:r>
              <a:rPr lang="en-US" sz="1450" b="1" u="none" strike="noStrike">
                <a:solidFill>
                  <a:srgbClr val="D96B45"/>
                </a:solidFill>
                <a:effectLst/>
                <a:uFillTx/>
                <a:latin typeface="Segoe UI"/>
              </a:rPr>
              <a:t>▪ </a:t>
            </a:r>
            <a:r>
              <a:rPr lang="en-US" sz="1450" b="0" u="none" strike="noStrike">
                <a:solidFill>
                  <a:srgbClr val="222B3A"/>
                </a:solidFill>
                <a:effectLst/>
                <a:uFillTx/>
                <a:latin typeface="Segoe UI"/>
              </a:rPr>
              <a:t>Skills harvested from resumes included entire bullet points, e.g. “maintain multiple database environments redshift rds in aws” — never matchable to a course</a:t>
            </a:r>
            <a:endParaRPr lang="en-IN" sz="1450" b="0" u="none" strike="noStrike">
              <a:solidFill>
                <a:srgbClr val="000000"/>
              </a:solidFill>
              <a:effectLst/>
              <a:uFillTx/>
              <a:latin typeface="Arial"/>
            </a:endParaRPr>
          </a:p>
          <a:p>
            <a:pPr defTabSz="457200">
              <a:lnSpc>
                <a:spcPct val="120000"/>
              </a:lnSpc>
              <a:spcAft>
                <a:spcPts val="1100"/>
              </a:spcAft>
            </a:pPr>
            <a:r>
              <a:rPr lang="en-US" sz="1450" b="1" u="none" strike="noStrike">
                <a:solidFill>
                  <a:srgbClr val="D96B45"/>
                </a:solidFill>
                <a:effectLst/>
                <a:uFillTx/>
                <a:latin typeface="Segoe UI"/>
              </a:rPr>
              <a:t>▪ </a:t>
            </a:r>
            <a:r>
              <a:rPr lang="en-US" sz="1450" b="0" u="none" strike="noStrike">
                <a:solidFill>
                  <a:srgbClr val="222B3A"/>
                </a:solidFill>
                <a:effectLst/>
                <a:uFillTx/>
                <a:latin typeface="Segoe UI"/>
              </a:rPr>
              <a:t>Fix:</a:t>
            </a:r>
            <a:endParaRPr lang="en-IN" sz="1450" b="0" u="none" strike="noStrike">
              <a:solidFill>
                <a:srgbClr val="000000"/>
              </a:solidFill>
              <a:effectLst/>
              <a:uFillTx/>
              <a:latin typeface="Arial"/>
            </a:endParaRPr>
          </a:p>
          <a:p>
            <a:pPr defTabSz="457200">
              <a:lnSpc>
                <a:spcPct val="120000"/>
              </a:lnSpc>
              <a:spcAft>
                <a:spcPts val="1100"/>
              </a:spcAft>
            </a:pPr>
            <a:r>
              <a:rPr lang="en-US" sz="1250" b="0" u="none" strike="noStrike">
                <a:solidFill>
                  <a:srgbClr val="667080"/>
                </a:solidFill>
                <a:effectLst/>
                <a:uFillTx/>
                <a:latin typeface="Segoe UI"/>
              </a:rPr>
              <a:t>–  </a:t>
            </a:r>
            <a:r>
              <a:rPr lang="en-US" sz="1250" b="0" u="none" strike="noStrike">
                <a:solidFill>
                  <a:srgbClr val="222B3A"/>
                </a:solidFill>
                <a:effectLst/>
                <a:uFillTx/>
                <a:latin typeface="Segoe UI"/>
              </a:rPr>
              <a:t>The 404-course catalogue gives ground truth for a real skill shape: 323 skills, 1–5 words, average 2.0</a:t>
            </a:r>
            <a:endParaRPr lang="en-IN" sz="1250" b="0" u="none" strike="noStrike">
              <a:solidFill>
                <a:srgbClr val="000000"/>
              </a:solidFill>
              <a:effectLst/>
              <a:uFillTx/>
              <a:latin typeface="Arial"/>
            </a:endParaRPr>
          </a:p>
          <a:p>
            <a:pPr defTabSz="457200">
              <a:lnSpc>
                <a:spcPct val="120000"/>
              </a:lnSpc>
              <a:spcAft>
                <a:spcPts val="1100"/>
              </a:spcAft>
            </a:pPr>
            <a:r>
              <a:rPr lang="en-US" sz="1250" b="0" u="none" strike="noStrike">
                <a:solidFill>
                  <a:srgbClr val="667080"/>
                </a:solidFill>
                <a:effectLst/>
                <a:uFillTx/>
                <a:latin typeface="Segoe UI"/>
              </a:rPr>
              <a:t>–  </a:t>
            </a:r>
            <a:r>
              <a:rPr lang="en-US" sz="1250" b="0" u="none" strike="noStrike">
                <a:solidFill>
                  <a:srgbClr val="222B3A"/>
                </a:solidFill>
                <a:effectLst/>
                <a:uFillTx/>
                <a:latin typeface="Segoe UI"/>
              </a:rPr>
              <a:t>A length + grammar filter (bullet-leading verbs, prose connectives) removes prose-like entries</a:t>
            </a:r>
            <a:endParaRPr lang="en-IN" sz="1250" b="0" u="none" strike="noStrike">
              <a:solidFill>
                <a:srgbClr val="000000"/>
              </a:solidFill>
              <a:effectLst/>
              <a:uFillTx/>
              <a:latin typeface="Arial"/>
            </a:endParaRPr>
          </a:p>
          <a:p>
            <a:pPr defTabSz="457200">
              <a:lnSpc>
                <a:spcPct val="120000"/>
              </a:lnSpc>
              <a:spcAft>
                <a:spcPts val="1100"/>
              </a:spcAft>
            </a:pPr>
            <a:r>
              <a:rPr lang="en-US" sz="1250" b="0" u="none" strike="noStrike">
                <a:solidFill>
                  <a:srgbClr val="667080"/>
                </a:solidFill>
                <a:effectLst/>
                <a:uFillTx/>
                <a:latin typeface="Segoe UI"/>
              </a:rPr>
              <a:t>–  </a:t>
            </a:r>
            <a:r>
              <a:rPr lang="en-US" sz="1250" b="0" u="none" strike="noStrike">
                <a:solidFill>
                  <a:srgbClr val="222B3A"/>
                </a:solidFill>
                <a:effectLst/>
                <a:uFillTx/>
                <a:latin typeface="Segoe UI"/>
              </a:rPr>
              <a:t>Tuned against a positive control: must keep 100% of the 323 known-good catalogue skills</a:t>
            </a:r>
            <a:endParaRPr lang="en-IN" sz="1250" b="0" u="none" strike="noStrike">
              <a:solidFill>
                <a:srgbClr val="000000"/>
              </a:solidFill>
              <a:effectLst/>
              <a:uFillTx/>
              <a:latin typeface="Arial"/>
            </a:endParaRPr>
          </a:p>
        </p:txBody>
      </p:sp>
      <p:sp>
        <p:nvSpPr>
          <p:cNvPr id="213" name="Rounded Rectangle 8"/>
          <p:cNvSpPr/>
          <p:nvPr/>
        </p:nvSpPr>
        <p:spPr>
          <a:xfrm>
            <a:off x="7178040" y="1691640"/>
            <a:ext cx="2331000" cy="1462320"/>
          </a:xfrm>
          <a:prstGeom prst="roundRect">
            <a:avLst>
              <a:gd name="adj" fmla="val 10000"/>
            </a:avLst>
          </a:prstGeom>
          <a:solidFill>
            <a:srgbClr val="F3EFE7"/>
          </a:solidFill>
          <a:ln>
            <a:solidFill>
              <a:srgbClr val="E7E1D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14" name="TextBox 9"/>
          <p:cNvSpPr/>
          <p:nvPr/>
        </p:nvSpPr>
        <p:spPr>
          <a:xfrm>
            <a:off x="7315200" y="1801440"/>
            <a:ext cx="2056680" cy="95940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3000" b="1" u="none" strike="noStrike">
                <a:solidFill>
                  <a:srgbClr val="C04B3D"/>
                </a:solidFill>
                <a:effectLst/>
                <a:uFillTx/>
                <a:latin typeface="Segoe UI Semibold"/>
              </a:rPr>
              <a:t>201,934</a:t>
            </a:r>
            <a:endParaRPr lang="en-IN" sz="3000" b="0" u="none" strike="noStrike">
              <a:solidFill>
                <a:srgbClr val="000000"/>
              </a:solidFill>
              <a:effectLst/>
              <a:uFillTx/>
              <a:latin typeface="Arial"/>
            </a:endParaRPr>
          </a:p>
        </p:txBody>
      </p:sp>
      <p:sp>
        <p:nvSpPr>
          <p:cNvPr id="215" name="TextBox 10"/>
          <p:cNvSpPr/>
          <p:nvPr/>
        </p:nvSpPr>
        <p:spPr>
          <a:xfrm>
            <a:off x="7287840" y="2697480"/>
            <a:ext cx="2111400" cy="41076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1150" b="0" u="none" strike="noStrike">
                <a:solidFill>
                  <a:srgbClr val="667080"/>
                </a:solidFill>
                <a:effectLst/>
                <a:uFillTx/>
                <a:latin typeface="Segoe UI"/>
              </a:rPr>
              <a:t>distinct skills</a:t>
            </a:r>
            <a:endParaRPr lang="en-IN" sz="1150" b="0" u="none" strike="noStrike">
              <a:solidFill>
                <a:srgbClr val="000000"/>
              </a:solidFill>
              <a:effectLst/>
              <a:uFillTx/>
              <a:latin typeface="Arial"/>
            </a:endParaRPr>
          </a:p>
        </p:txBody>
      </p:sp>
      <p:sp>
        <p:nvSpPr>
          <p:cNvPr id="216" name="TextBox 11"/>
          <p:cNvSpPr/>
          <p:nvPr/>
        </p:nvSpPr>
        <p:spPr>
          <a:xfrm>
            <a:off x="6858000" y="2788920"/>
            <a:ext cx="822240" cy="91368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3000" b="0" u="none" strike="noStrike">
                <a:solidFill>
                  <a:srgbClr val="667080"/>
                </a:solidFill>
                <a:effectLst/>
                <a:uFillTx/>
                <a:latin typeface="Segoe UI"/>
              </a:rPr>
              <a:t>→</a:t>
            </a:r>
            <a:endParaRPr lang="en-IN" sz="3000" b="0" u="none" strike="noStrike">
              <a:solidFill>
                <a:srgbClr val="000000"/>
              </a:solidFill>
              <a:effectLst/>
              <a:uFillTx/>
              <a:latin typeface="Arial"/>
            </a:endParaRPr>
          </a:p>
        </p:txBody>
      </p:sp>
      <p:sp>
        <p:nvSpPr>
          <p:cNvPr id="217" name="Rounded Rectangle 12"/>
          <p:cNvSpPr/>
          <p:nvPr/>
        </p:nvSpPr>
        <p:spPr>
          <a:xfrm>
            <a:off x="9509760" y="1691640"/>
            <a:ext cx="2010960" cy="1462320"/>
          </a:xfrm>
          <a:prstGeom prst="roundRect">
            <a:avLst>
              <a:gd name="adj" fmla="val 10000"/>
            </a:avLst>
          </a:prstGeom>
          <a:solidFill>
            <a:srgbClr val="F3EFE7"/>
          </a:solidFill>
          <a:ln>
            <a:solidFill>
              <a:srgbClr val="E7E1D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18" name="TextBox 13"/>
          <p:cNvSpPr/>
          <p:nvPr/>
        </p:nvSpPr>
        <p:spPr>
          <a:xfrm>
            <a:off x="9646920" y="1801440"/>
            <a:ext cx="1736640" cy="95940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3000" b="1" u="none" strike="noStrike">
                <a:solidFill>
                  <a:srgbClr val="2E8B57"/>
                </a:solidFill>
                <a:effectLst/>
                <a:uFillTx/>
                <a:latin typeface="Segoe UI Semibold"/>
              </a:rPr>
              <a:t>132,943</a:t>
            </a:r>
            <a:endParaRPr lang="en-IN" sz="3000" b="0" u="none" strike="noStrike">
              <a:solidFill>
                <a:srgbClr val="000000"/>
              </a:solidFill>
              <a:effectLst/>
              <a:uFillTx/>
              <a:latin typeface="Arial"/>
            </a:endParaRPr>
          </a:p>
        </p:txBody>
      </p:sp>
      <p:sp>
        <p:nvSpPr>
          <p:cNvPr id="219" name="TextBox 14"/>
          <p:cNvSpPr/>
          <p:nvPr/>
        </p:nvSpPr>
        <p:spPr>
          <a:xfrm>
            <a:off x="9619560" y="2697480"/>
            <a:ext cx="1791360" cy="41076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1150" b="0" u="none" strike="noStrike">
                <a:solidFill>
                  <a:srgbClr val="667080"/>
                </a:solidFill>
                <a:effectLst/>
                <a:uFillTx/>
                <a:latin typeface="Segoe UI"/>
              </a:rPr>
              <a:t>after filtering</a:t>
            </a:r>
            <a:endParaRPr lang="en-IN" sz="1150" b="0" u="none" strike="noStrike">
              <a:solidFill>
                <a:srgbClr val="000000"/>
              </a:solidFill>
              <a:effectLst/>
              <a:uFillTx/>
              <a:latin typeface="Arial"/>
            </a:endParaRPr>
          </a:p>
        </p:txBody>
      </p:sp>
      <p:sp>
        <p:nvSpPr>
          <p:cNvPr id="220" name="Rounded Rectangle 15"/>
          <p:cNvSpPr/>
          <p:nvPr/>
        </p:nvSpPr>
        <p:spPr>
          <a:xfrm>
            <a:off x="7178040" y="3429000"/>
            <a:ext cx="4342680" cy="1416600"/>
          </a:xfrm>
          <a:prstGeom prst="roundRect">
            <a:avLst>
              <a:gd name="adj" fmla="val 8000"/>
            </a:avLst>
          </a:prstGeom>
          <a:solidFill>
            <a:srgbClr val="222B3A"/>
          </a:solidFill>
          <a:ln>
            <a:solidFill>
              <a:srgbClr val="222B3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21" name="TextBox 16"/>
          <p:cNvSpPr/>
          <p:nvPr/>
        </p:nvSpPr>
        <p:spPr>
          <a:xfrm>
            <a:off x="7406640" y="3611880"/>
            <a:ext cx="3931200" cy="3650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600" b="1" u="none" strike="noStrike">
                <a:solidFill>
                  <a:srgbClr val="D96B45"/>
                </a:solidFill>
                <a:effectLst/>
                <a:uFillTx/>
                <a:latin typeface="Segoe UI Semibold"/>
              </a:rPr>
              <a:t>100%</a:t>
            </a:r>
            <a:endParaRPr lang="en-IN" sz="2600" b="0" u="none" strike="noStrike">
              <a:solidFill>
                <a:srgbClr val="000000"/>
              </a:solidFill>
              <a:effectLst/>
              <a:uFillTx/>
              <a:latin typeface="Arial"/>
            </a:endParaRPr>
          </a:p>
        </p:txBody>
      </p:sp>
      <p:sp>
        <p:nvSpPr>
          <p:cNvPr id="222" name="TextBox 17"/>
          <p:cNvSpPr/>
          <p:nvPr/>
        </p:nvSpPr>
        <p:spPr>
          <a:xfrm>
            <a:off x="7406640" y="4160520"/>
            <a:ext cx="3931200" cy="54792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200" b="0" u="none" strike="noStrike">
                <a:solidFill>
                  <a:srgbClr val="A9B4C4"/>
                </a:solidFill>
                <a:effectLst/>
                <a:uFillTx/>
                <a:latin typeface="Segoe UI"/>
              </a:rPr>
              <a:t>of catalogue skills retained (positive control)</a:t>
            </a:r>
            <a:endParaRPr lang="en-IN"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Rectangle 1"/>
          <p:cNvSpPr/>
          <p:nvPr/>
        </p:nvSpPr>
        <p:spPr>
          <a:xfrm>
            <a:off x="0" y="0"/>
            <a:ext cx="12191040" cy="6857280"/>
          </a:xfrm>
          <a:prstGeom prst="rect">
            <a:avLst/>
          </a:prstGeom>
          <a:solidFill>
            <a:srgbClr val="FCFBF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24" name="TextBox 2"/>
          <p:cNvSpPr/>
          <p:nvPr/>
        </p:nvSpPr>
        <p:spPr>
          <a:xfrm>
            <a:off x="640080" y="384120"/>
            <a:ext cx="822888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00" b="1" u="none" strike="noStrike">
                <a:solidFill>
                  <a:srgbClr val="D96B45"/>
                </a:solidFill>
                <a:effectLst/>
                <a:uFillTx/>
                <a:latin typeface="Segoe UI Semibold"/>
              </a:rPr>
              <a:t>THE ENGINE</a:t>
            </a:r>
            <a:endParaRPr lang="en-IN" sz="1300" b="0" u="none" strike="noStrike">
              <a:solidFill>
                <a:srgbClr val="000000"/>
              </a:solidFill>
              <a:effectLst/>
              <a:uFillTx/>
              <a:latin typeface="Arial"/>
            </a:endParaRPr>
          </a:p>
        </p:txBody>
      </p:sp>
      <p:sp>
        <p:nvSpPr>
          <p:cNvPr id="225" name="TextBox 3"/>
          <p:cNvSpPr/>
          <p:nvPr/>
        </p:nvSpPr>
        <p:spPr>
          <a:xfrm>
            <a:off x="640080" y="658440"/>
            <a:ext cx="9874800" cy="6850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3000" b="1" u="none" strike="noStrike">
                <a:solidFill>
                  <a:srgbClr val="222B3A"/>
                </a:solidFill>
                <a:effectLst/>
                <a:uFillTx/>
                <a:latin typeface="Segoe UI Semibold"/>
              </a:rPr>
              <a:t>Learner → catalogue skill bridge</a:t>
            </a:r>
            <a:endParaRPr lang="en-IN" sz="3000" b="0" u="none" strike="noStrike">
              <a:solidFill>
                <a:srgbClr val="000000"/>
              </a:solidFill>
              <a:effectLst/>
              <a:uFillTx/>
              <a:latin typeface="Arial"/>
            </a:endParaRPr>
          </a:p>
        </p:txBody>
      </p:sp>
      <p:sp>
        <p:nvSpPr>
          <p:cNvPr id="226" name="Rectangle 4"/>
          <p:cNvSpPr/>
          <p:nvPr/>
        </p:nvSpPr>
        <p:spPr>
          <a:xfrm>
            <a:off x="640080" y="1298520"/>
            <a:ext cx="822240" cy="50040"/>
          </a:xfrm>
          <a:prstGeom prst="rect">
            <a:avLst/>
          </a:prstGeom>
          <a:solidFill>
            <a:srgbClr val="D96B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760" rIns="90000" bIns="5760" anchor="ctr">
            <a:noAutofit/>
          </a:bodyPr>
          <a:p>
            <a:pPr/>
            <a:endParaRPr lang="en-US" sz="1800" b="0" u="none" strike="noStrike">
              <a:solidFill>
                <a:schemeClr val="lt1"/>
              </a:solidFill>
              <a:effectLst/>
              <a:uFillTx/>
              <a:latin typeface="Calibri"/>
            </a:endParaRPr>
          </a:p>
        </p:txBody>
      </p:sp>
      <p:sp>
        <p:nvSpPr>
          <p:cNvPr id="227" name="TextBox 5"/>
          <p:cNvSpPr/>
          <p:nvPr/>
        </p:nvSpPr>
        <p:spPr>
          <a:xfrm>
            <a:off x="11155680" y="6355080"/>
            <a:ext cx="822240" cy="3650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1400" b="0" u="none" strike="noStrike">
                <a:solidFill>
                  <a:srgbClr val="667080"/>
                </a:solidFill>
                <a:effectLst/>
                <a:uFillTx/>
                <a:latin typeface="Segoe UI Semibold"/>
              </a:rPr>
              <a:t>09</a:t>
            </a:r>
            <a:endParaRPr lang="en-IN" sz="1400" b="0" u="none" strike="noStrike">
              <a:solidFill>
                <a:srgbClr val="000000"/>
              </a:solidFill>
              <a:effectLst/>
              <a:uFillTx/>
              <a:latin typeface="Arial"/>
            </a:endParaRPr>
          </a:p>
        </p:txBody>
      </p:sp>
      <p:sp>
        <p:nvSpPr>
          <p:cNvPr id="228" name="TextBox 6"/>
          <p:cNvSpPr/>
          <p:nvPr/>
        </p:nvSpPr>
        <p:spPr>
          <a:xfrm>
            <a:off x="640080" y="6473880"/>
            <a:ext cx="548568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0" u="none" strike="noStrike">
                <a:solidFill>
                  <a:srgbClr val="667080"/>
                </a:solidFill>
                <a:effectLst/>
                <a:uFillTx/>
                <a:latin typeface="Segoe UI"/>
              </a:rPr>
              <a:t>Skill-Gap Course Recommendation Engine</a:t>
            </a:r>
            <a:endParaRPr lang="en-IN" sz="1000" b="0" u="none" strike="noStrike">
              <a:solidFill>
                <a:srgbClr val="000000"/>
              </a:solidFill>
              <a:effectLst/>
              <a:uFillTx/>
              <a:latin typeface="Arial"/>
            </a:endParaRPr>
          </a:p>
        </p:txBody>
      </p:sp>
      <p:sp>
        <p:nvSpPr>
          <p:cNvPr id="229" name="TextBox 7"/>
          <p:cNvSpPr/>
          <p:nvPr/>
        </p:nvSpPr>
        <p:spPr>
          <a:xfrm>
            <a:off x="640080" y="1554480"/>
            <a:ext cx="10880640" cy="547920"/>
          </a:xfrm>
          <a:prstGeom prst="rect">
            <a:avLst/>
          </a:prstGeom>
          <a:noFill/>
          <a:ln w="0">
            <a:noFill/>
          </a:ln>
        </p:spPr>
        <p:style>
          <a:lnRef idx="0"/>
          <a:fillRef idx="0"/>
          <a:effectRef idx="0"/>
          <a:fontRef idx="minor"/>
        </p:style>
        <p:txBody>
          <a:bodyPr lIns="0" tIns="0" rIns="0" bIns="0" anchor="t">
            <a:spAutoFit/>
          </a:bodyPr>
          <a:p>
            <a:pPr defTabSz="457200">
              <a:lnSpc>
                <a:spcPct val="125000"/>
              </a:lnSpc>
            </a:pPr>
            <a:r>
              <a:rPr lang="en-US" sz="1400" b="0" u="none" strike="noStrike">
                <a:solidFill>
                  <a:srgbClr val="667080"/>
                </a:solidFill>
                <a:effectLst/>
                <a:uFillTx/>
                <a:latin typeface="Segoe UI"/>
              </a:rPr>
              <a:t>132,943 learner skills vs. 323 catalogue skills — exact matching alone finds just 237, leaving ~1.5 catalogue skills matched per profile.</a:t>
            </a:r>
            <a:endParaRPr lang="en-IN" sz="1400" b="0" u="none" strike="noStrike">
              <a:solidFill>
                <a:srgbClr val="000000"/>
              </a:solidFill>
              <a:effectLst/>
              <a:uFillTx/>
              <a:latin typeface="Arial"/>
            </a:endParaRPr>
          </a:p>
        </p:txBody>
      </p:sp>
      <p:sp>
        <p:nvSpPr>
          <p:cNvPr id="230" name="Rounded Rectangle 8"/>
          <p:cNvSpPr/>
          <p:nvPr/>
        </p:nvSpPr>
        <p:spPr>
          <a:xfrm>
            <a:off x="640080" y="2331720"/>
            <a:ext cx="2331000" cy="913680"/>
          </a:xfrm>
          <a:prstGeom prst="roundRect">
            <a:avLst>
              <a:gd name="adj" fmla="val 12000"/>
            </a:avLst>
          </a:prstGeom>
          <a:solidFill>
            <a:srgbClr val="222B3A"/>
          </a:solidFill>
          <a:ln w="15875">
            <a:solidFill>
              <a:srgbClr val="D96B4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6320" tIns="45000" rIns="76320" bIns="45000" anchor="ctr">
            <a:noAutofit/>
          </a:bodyPr>
          <a:p>
            <a:pPr algn="ctr" defTabSz="457200">
              <a:lnSpc>
                <a:spcPct val="100000"/>
              </a:lnSpc>
            </a:pPr>
            <a:r>
              <a:rPr lang="en-US" sz="1250" b="1" u="none" strike="noStrike">
                <a:solidFill>
                  <a:srgbClr val="FFFFFF"/>
                </a:solidFill>
                <a:effectLst/>
                <a:uFillTx/>
                <a:latin typeface="Segoe UI Semibold"/>
              </a:rPr>
              <a:t>Raw skill string</a:t>
            </a:r>
            <a:endParaRPr lang="en-IN" sz="1250" b="0" u="none" strike="noStrike">
              <a:solidFill>
                <a:srgbClr val="FFFFFF"/>
              </a:solidFill>
              <a:effectLst/>
              <a:uFillTx/>
              <a:latin typeface="Arial"/>
            </a:endParaRPr>
          </a:p>
          <a:p>
            <a:pPr algn="ctr" defTabSz="457200">
              <a:lnSpc>
                <a:spcPct val="100000"/>
              </a:lnSpc>
            </a:pPr>
            <a:r>
              <a:rPr lang="en-US" sz="950" b="0" u="none" strike="noStrike">
                <a:solidFill>
                  <a:srgbClr val="A9B4C4"/>
                </a:solidFill>
                <a:effectLst/>
                <a:uFillTx/>
                <a:latin typeface="Segoe UI"/>
              </a:rPr>
              <a:t>learner's own words</a:t>
            </a:r>
            <a:endParaRPr lang="en-IN" sz="950" b="0" u="none" strike="noStrike">
              <a:solidFill>
                <a:srgbClr val="FFFFFF"/>
              </a:solidFill>
              <a:effectLst/>
              <a:uFillTx/>
              <a:latin typeface="Arial"/>
            </a:endParaRPr>
          </a:p>
        </p:txBody>
      </p:sp>
      <p:cxnSp>
        <p:nvCxnSpPr>
          <p:cNvPr id="231" name="Connector 9"/>
          <p:cNvCxnSpPr/>
          <p:nvPr/>
        </p:nvCxnSpPr>
        <p:spPr>
          <a:xfrm>
            <a:off x="2971800" y="2788920"/>
            <a:ext cx="275040" cy="720"/>
          </a:xfrm>
          <a:prstGeom prst="straightConnector1">
            <a:avLst/>
          </a:prstGeom>
          <a:ln w="28575">
            <a:solidFill>
              <a:srgbClr val="D96B45"/>
            </a:solidFill>
            <a:round/>
            <a:tailEnd len="med" type="triangle" w="med"/>
          </a:ln>
        </p:spPr>
      </p:cxnSp>
      <p:sp>
        <p:nvSpPr>
          <p:cNvPr id="232" name="Rounded Rectangle 10"/>
          <p:cNvSpPr/>
          <p:nvPr/>
        </p:nvSpPr>
        <p:spPr>
          <a:xfrm>
            <a:off x="3246120" y="2331720"/>
            <a:ext cx="2331000" cy="913680"/>
          </a:xfrm>
          <a:prstGeom prst="roundRect">
            <a:avLst>
              <a:gd name="adj" fmla="val 12000"/>
            </a:avLst>
          </a:prstGeom>
          <a:solidFill>
            <a:srgbClr val="222B3A"/>
          </a:solidFill>
          <a:ln w="15875">
            <a:solidFill>
              <a:srgbClr val="D96B4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6320" tIns="45000" rIns="76320" bIns="45000" anchor="ctr">
            <a:noAutofit/>
          </a:bodyPr>
          <a:p>
            <a:pPr algn="ctr" defTabSz="457200">
              <a:lnSpc>
                <a:spcPct val="100000"/>
              </a:lnSpc>
            </a:pPr>
            <a:r>
              <a:rPr lang="en-US" sz="1250" b="1" u="none" strike="noStrike">
                <a:solidFill>
                  <a:srgbClr val="FFFFFF"/>
                </a:solidFill>
                <a:effectLst/>
                <a:uFillTx/>
                <a:latin typeface="Segoe UI Semibold"/>
              </a:rPr>
              <a:t>Normalise</a:t>
            </a:r>
            <a:endParaRPr lang="en-IN" sz="1250" b="0" u="none" strike="noStrike">
              <a:solidFill>
                <a:srgbClr val="FFFFFF"/>
              </a:solidFill>
              <a:effectLst/>
              <a:uFillTx/>
              <a:latin typeface="Arial"/>
            </a:endParaRPr>
          </a:p>
          <a:p>
            <a:pPr algn="ctr" defTabSz="457200">
              <a:lnSpc>
                <a:spcPct val="100000"/>
              </a:lnSpc>
            </a:pPr>
            <a:r>
              <a:rPr lang="en-US" sz="950" b="0" u="none" strike="noStrike">
                <a:solidFill>
                  <a:srgbClr val="A9B4C4"/>
                </a:solidFill>
                <a:effectLst/>
                <a:uFillTx/>
                <a:latin typeface="Segoe UI"/>
              </a:rPr>
              <a:t>lowercase, punctuation,</a:t>
            </a:r>
            <a:endParaRPr lang="en-IN" sz="950" b="0" u="none" strike="noStrike">
              <a:solidFill>
                <a:srgbClr val="FFFFFF"/>
              </a:solidFill>
              <a:effectLst/>
              <a:uFillTx/>
              <a:latin typeface="Arial"/>
            </a:endParaRPr>
          </a:p>
          <a:p>
            <a:pPr algn="ctr" defTabSz="457200">
              <a:lnSpc>
                <a:spcPct val="100000"/>
              </a:lnSpc>
            </a:pPr>
            <a:r>
              <a:rPr lang="en-US" sz="950" b="0" u="none" strike="noStrike">
                <a:solidFill>
                  <a:srgbClr val="A9B4C4"/>
                </a:solidFill>
                <a:effectLst/>
                <a:uFillTx/>
                <a:latin typeface="Segoe UI"/>
              </a:rPr>
              <a:t>synonyms</a:t>
            </a:r>
            <a:endParaRPr lang="en-IN" sz="950" b="0" u="none" strike="noStrike">
              <a:solidFill>
                <a:srgbClr val="FFFFFF"/>
              </a:solidFill>
              <a:effectLst/>
              <a:uFillTx/>
              <a:latin typeface="Arial"/>
            </a:endParaRPr>
          </a:p>
        </p:txBody>
      </p:sp>
      <p:cxnSp>
        <p:nvCxnSpPr>
          <p:cNvPr id="233" name="Connector 11"/>
          <p:cNvCxnSpPr/>
          <p:nvPr/>
        </p:nvCxnSpPr>
        <p:spPr>
          <a:xfrm>
            <a:off x="5577840" y="2788920"/>
            <a:ext cx="275040" cy="720"/>
          </a:xfrm>
          <a:prstGeom prst="straightConnector1">
            <a:avLst/>
          </a:prstGeom>
          <a:ln w="28575">
            <a:solidFill>
              <a:srgbClr val="D96B45"/>
            </a:solidFill>
            <a:round/>
            <a:tailEnd len="med" type="triangle" w="med"/>
          </a:ln>
        </p:spPr>
      </p:cxnSp>
      <p:sp>
        <p:nvSpPr>
          <p:cNvPr id="234" name="Rounded Rectangle 12"/>
          <p:cNvSpPr/>
          <p:nvPr/>
        </p:nvSpPr>
        <p:spPr>
          <a:xfrm>
            <a:off x="5852160" y="2331720"/>
            <a:ext cx="2331000" cy="913680"/>
          </a:xfrm>
          <a:prstGeom prst="roundRect">
            <a:avLst>
              <a:gd name="adj" fmla="val 12000"/>
            </a:avLst>
          </a:prstGeom>
          <a:solidFill>
            <a:srgbClr val="222B3A"/>
          </a:solidFill>
          <a:ln w="15875">
            <a:solidFill>
              <a:srgbClr val="D96B4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6320" tIns="45000" rIns="76320" bIns="45000" anchor="ctr">
            <a:noAutofit/>
          </a:bodyPr>
          <a:p>
            <a:pPr algn="ctr" defTabSz="457200">
              <a:lnSpc>
                <a:spcPct val="100000"/>
              </a:lnSpc>
            </a:pPr>
            <a:r>
              <a:rPr lang="en-US" sz="1250" b="1" u="none" strike="noStrike">
                <a:solidFill>
                  <a:srgbClr val="FFFFFF"/>
                </a:solidFill>
                <a:effectLst/>
                <a:uFillTx/>
                <a:latin typeface="Segoe UI Semibold"/>
              </a:rPr>
              <a:t>Exact match?</a:t>
            </a:r>
            <a:endParaRPr lang="en-IN" sz="1250" b="0" u="none" strike="noStrike">
              <a:solidFill>
                <a:srgbClr val="FFFFFF"/>
              </a:solidFill>
              <a:effectLst/>
              <a:uFillTx/>
              <a:latin typeface="Arial"/>
            </a:endParaRPr>
          </a:p>
          <a:p>
            <a:pPr algn="ctr" defTabSz="457200">
              <a:lnSpc>
                <a:spcPct val="100000"/>
              </a:lnSpc>
            </a:pPr>
            <a:r>
              <a:rPr lang="en-US" sz="950" b="0" u="none" strike="noStrike">
                <a:solidFill>
                  <a:srgbClr val="A9B4C4"/>
                </a:solidFill>
                <a:effectLst/>
                <a:uFillTx/>
                <a:latin typeface="Segoe UI"/>
              </a:rPr>
              <a:t>vs. 323 catalogue</a:t>
            </a:r>
            <a:endParaRPr lang="en-IN" sz="950" b="0" u="none" strike="noStrike">
              <a:solidFill>
                <a:srgbClr val="FFFFFF"/>
              </a:solidFill>
              <a:effectLst/>
              <a:uFillTx/>
              <a:latin typeface="Arial"/>
            </a:endParaRPr>
          </a:p>
          <a:p>
            <a:pPr algn="ctr" defTabSz="457200">
              <a:lnSpc>
                <a:spcPct val="100000"/>
              </a:lnSpc>
            </a:pPr>
            <a:r>
              <a:rPr lang="en-US" sz="950" b="0" u="none" strike="noStrike">
                <a:solidFill>
                  <a:srgbClr val="A9B4C4"/>
                </a:solidFill>
                <a:effectLst/>
                <a:uFillTx/>
                <a:latin typeface="Segoe UI"/>
              </a:rPr>
              <a:t>skills</a:t>
            </a:r>
            <a:endParaRPr lang="en-IN" sz="950" b="0" u="none" strike="noStrike">
              <a:solidFill>
                <a:srgbClr val="FFFFFF"/>
              </a:solidFill>
              <a:effectLst/>
              <a:uFillTx/>
              <a:latin typeface="Arial"/>
            </a:endParaRPr>
          </a:p>
        </p:txBody>
      </p:sp>
      <p:cxnSp>
        <p:nvCxnSpPr>
          <p:cNvPr id="235" name="Connector 13"/>
          <p:cNvCxnSpPr/>
          <p:nvPr/>
        </p:nvCxnSpPr>
        <p:spPr>
          <a:xfrm>
            <a:off x="8183880" y="2788920"/>
            <a:ext cx="275040" cy="720"/>
          </a:xfrm>
          <a:prstGeom prst="straightConnector1">
            <a:avLst/>
          </a:prstGeom>
          <a:ln w="28575">
            <a:solidFill>
              <a:srgbClr val="D96B45"/>
            </a:solidFill>
            <a:round/>
            <a:tailEnd len="med" type="triangle" w="med"/>
          </a:ln>
        </p:spPr>
      </p:cxnSp>
      <p:sp>
        <p:nvSpPr>
          <p:cNvPr id="236" name="Rounded Rectangle 14"/>
          <p:cNvSpPr/>
          <p:nvPr/>
        </p:nvSpPr>
        <p:spPr>
          <a:xfrm>
            <a:off x="8458200" y="2331720"/>
            <a:ext cx="2331000" cy="913680"/>
          </a:xfrm>
          <a:prstGeom prst="roundRect">
            <a:avLst>
              <a:gd name="adj" fmla="val 12000"/>
            </a:avLst>
          </a:prstGeom>
          <a:solidFill>
            <a:srgbClr val="D96B45"/>
          </a:solidFill>
          <a:ln w="15875">
            <a:solidFill>
              <a:srgbClr val="D96B4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6320" tIns="45000" rIns="76320" bIns="45000" anchor="ctr">
            <a:noAutofit/>
          </a:bodyPr>
          <a:p>
            <a:pPr>
              <a:lnSpc>
                <a:spcPct val="100000"/>
              </a:lnSpc>
            </a:pPr>
            <a:r>
              <a:rPr lang="en-US" sz="1250" b="1" u="none" strike="noStrike">
                <a:solidFill>
                  <a:srgbClr val="FFFFFF"/>
                </a:solidFill>
                <a:effectLst/>
                <a:uFillTx/>
                <a:latin typeface="Segoe UI Semibold"/>
              </a:rPr>
              <a:t>Semantic (MiniLM</a:t>
            </a:r>
            <a:endParaRPr lang="en-IN" sz="1250" b="0" u="none" strike="noStrike">
              <a:solidFill>
                <a:srgbClr val="FFFFFF"/>
              </a:solidFill>
              <a:effectLst/>
              <a:uFillTx/>
              <a:latin typeface="Arial"/>
            </a:endParaRPr>
          </a:p>
          <a:p>
            <a:pPr algn="ctr" defTabSz="457200">
              <a:lnSpc>
                <a:spcPct val="100000"/>
              </a:lnSpc>
            </a:pPr>
            <a:r>
              <a:rPr lang="en-US" sz="1250" b="1" u="none" strike="noStrike">
                <a:solidFill>
                  <a:srgbClr val="FFFFFF"/>
                </a:solidFill>
                <a:effectLst/>
                <a:uFillTx/>
                <a:latin typeface="Segoe UI Semibold"/>
              </a:rPr>
              <a:t>cosine ≥ 0.60)</a:t>
            </a:r>
            <a:endParaRPr lang="en-IN" sz="1250" b="0" u="none" strike="noStrike">
              <a:solidFill>
                <a:srgbClr val="FFFFFF"/>
              </a:solidFill>
              <a:effectLst/>
              <a:uFillTx/>
              <a:latin typeface="Arial"/>
            </a:endParaRPr>
          </a:p>
          <a:p>
            <a:pPr algn="ctr" defTabSz="457200">
              <a:lnSpc>
                <a:spcPct val="100000"/>
              </a:lnSpc>
            </a:pPr>
            <a:r>
              <a:rPr lang="en-US" sz="950" b="0" u="none" strike="noStrike">
                <a:solidFill>
                  <a:srgbClr val="A9B4C4"/>
                </a:solidFill>
                <a:effectLst/>
                <a:uFillTx/>
                <a:latin typeface="Segoe UI"/>
              </a:rPr>
              <a:t>nearest catalogue</a:t>
            </a:r>
            <a:endParaRPr lang="en-IN" sz="950" b="0" u="none" strike="noStrike">
              <a:solidFill>
                <a:srgbClr val="FFFFFF"/>
              </a:solidFill>
              <a:effectLst/>
              <a:uFillTx/>
              <a:latin typeface="Arial"/>
            </a:endParaRPr>
          </a:p>
          <a:p>
            <a:pPr algn="ctr" defTabSz="457200">
              <a:lnSpc>
                <a:spcPct val="100000"/>
              </a:lnSpc>
            </a:pPr>
            <a:r>
              <a:rPr lang="en-US" sz="950" b="0" u="none" strike="noStrike">
                <a:solidFill>
                  <a:srgbClr val="A9B4C4"/>
                </a:solidFill>
                <a:effectLst/>
                <a:uFillTx/>
                <a:latin typeface="Segoe UI"/>
              </a:rPr>
              <a:t>neighbour</a:t>
            </a:r>
            <a:endParaRPr lang="en-IN" sz="950" b="0" u="none" strike="noStrike">
              <a:solidFill>
                <a:srgbClr val="FFFFFF"/>
              </a:solidFill>
              <a:effectLst/>
              <a:uFillTx/>
              <a:latin typeface="Arial"/>
            </a:endParaRPr>
          </a:p>
        </p:txBody>
      </p:sp>
      <p:sp>
        <p:nvSpPr>
          <p:cNvPr id="237" name="TextBox 15"/>
          <p:cNvSpPr/>
          <p:nvPr/>
        </p:nvSpPr>
        <p:spPr>
          <a:xfrm>
            <a:off x="640080" y="3520440"/>
            <a:ext cx="1088064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50" b="0" i="1" u="none" strike="noStrike">
                <a:solidFill>
                  <a:srgbClr val="667080"/>
                </a:solidFill>
                <a:effectLst/>
                <a:uFillTx/>
                <a:latin typeface="Segoe UI"/>
              </a:rPr>
              <a:t>No close neighbour → reported as unmapped, never forced onto a wrong match.</a:t>
            </a:r>
            <a:endParaRPr lang="en-IN" sz="1250" b="0" u="none" strike="noStrike">
              <a:solidFill>
                <a:srgbClr val="000000"/>
              </a:solidFill>
              <a:effectLst/>
              <a:uFillTx/>
              <a:latin typeface="Arial"/>
            </a:endParaRPr>
          </a:p>
        </p:txBody>
      </p:sp>
      <p:sp>
        <p:nvSpPr>
          <p:cNvPr id="238" name="Rounded Rectangle 16"/>
          <p:cNvSpPr/>
          <p:nvPr/>
        </p:nvSpPr>
        <p:spPr>
          <a:xfrm>
            <a:off x="640080" y="4114800"/>
            <a:ext cx="5211360" cy="1599480"/>
          </a:xfrm>
          <a:prstGeom prst="roundRect">
            <a:avLst>
              <a:gd name="adj" fmla="val 10000"/>
            </a:avLst>
          </a:prstGeom>
          <a:solidFill>
            <a:srgbClr val="222B3A"/>
          </a:solidFill>
          <a:ln>
            <a:solidFill>
              <a:srgbClr val="303B5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39" name="TextBox 17"/>
          <p:cNvSpPr/>
          <p:nvPr/>
        </p:nvSpPr>
        <p:spPr>
          <a:xfrm>
            <a:off x="777240" y="4224600"/>
            <a:ext cx="4937040" cy="109656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3000" b="1" u="none" strike="noStrike">
                <a:solidFill>
                  <a:srgbClr val="D96B45"/>
                </a:solidFill>
                <a:effectLst/>
                <a:uFillTx/>
                <a:latin typeface="Segoe UI Semibold"/>
              </a:rPr>
              <a:t>1.47 → 7.23</a:t>
            </a:r>
            <a:endParaRPr lang="en-IN" sz="3000" b="0" u="none" strike="noStrike">
              <a:solidFill>
                <a:srgbClr val="000000"/>
              </a:solidFill>
              <a:effectLst/>
              <a:uFillTx/>
              <a:latin typeface="Arial"/>
            </a:endParaRPr>
          </a:p>
        </p:txBody>
      </p:sp>
      <p:sp>
        <p:nvSpPr>
          <p:cNvPr id="240" name="TextBox 18"/>
          <p:cNvSpPr/>
          <p:nvPr/>
        </p:nvSpPr>
        <p:spPr>
          <a:xfrm>
            <a:off x="749880" y="5257800"/>
            <a:ext cx="4991760" cy="41076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1150" b="0" u="none" strike="noStrike">
                <a:solidFill>
                  <a:srgbClr val="A9B4C4"/>
                </a:solidFill>
                <a:effectLst/>
                <a:uFillTx/>
                <a:latin typeface="Segoe UI"/>
              </a:rPr>
              <a:t>catalogue skills matched per profile</a:t>
            </a:r>
            <a:endParaRPr lang="en-IN" sz="1150" b="0" u="none" strike="noStrike">
              <a:solidFill>
                <a:srgbClr val="000000"/>
              </a:solidFill>
              <a:effectLst/>
              <a:uFillTx/>
              <a:latin typeface="Arial"/>
            </a:endParaRPr>
          </a:p>
        </p:txBody>
      </p:sp>
      <p:sp>
        <p:nvSpPr>
          <p:cNvPr id="241" name="Rounded Rectangle 19"/>
          <p:cNvSpPr/>
          <p:nvPr/>
        </p:nvSpPr>
        <p:spPr>
          <a:xfrm>
            <a:off x="6217920" y="4114800"/>
            <a:ext cx="5211360" cy="1599480"/>
          </a:xfrm>
          <a:prstGeom prst="roundRect">
            <a:avLst>
              <a:gd name="adj" fmla="val 10000"/>
            </a:avLst>
          </a:prstGeom>
          <a:solidFill>
            <a:srgbClr val="222B3A"/>
          </a:solidFill>
          <a:ln>
            <a:solidFill>
              <a:srgbClr val="303B5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42" name="TextBox 20"/>
          <p:cNvSpPr/>
          <p:nvPr/>
        </p:nvSpPr>
        <p:spPr>
          <a:xfrm>
            <a:off x="6355080" y="4224600"/>
            <a:ext cx="4937040" cy="109656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3000" b="1" u="none" strike="noStrike">
                <a:solidFill>
                  <a:srgbClr val="1E8A7A"/>
                </a:solidFill>
                <a:effectLst/>
                <a:uFillTx/>
                <a:latin typeface="Segoe UI Semibold"/>
              </a:rPr>
              <a:t>32.7% → 6.7%</a:t>
            </a:r>
            <a:endParaRPr lang="en-IN" sz="3000" b="0" u="none" strike="noStrike">
              <a:solidFill>
                <a:srgbClr val="000000"/>
              </a:solidFill>
              <a:effectLst/>
              <a:uFillTx/>
              <a:latin typeface="Arial"/>
            </a:endParaRPr>
          </a:p>
        </p:txBody>
      </p:sp>
      <p:sp>
        <p:nvSpPr>
          <p:cNvPr id="243" name="TextBox 21"/>
          <p:cNvSpPr/>
          <p:nvPr/>
        </p:nvSpPr>
        <p:spPr>
          <a:xfrm>
            <a:off x="6327720" y="5257800"/>
            <a:ext cx="4991760" cy="41076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1150" b="0" u="none" strike="noStrike">
                <a:solidFill>
                  <a:srgbClr val="A9B4C4"/>
                </a:solidFill>
                <a:effectLst/>
                <a:uFillTx/>
                <a:latin typeface="Segoe UI"/>
              </a:rPr>
              <a:t>zero-match profiles</a:t>
            </a:r>
            <a:endParaRPr lang="en-IN"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Rectangle 1"/>
          <p:cNvSpPr/>
          <p:nvPr/>
        </p:nvSpPr>
        <p:spPr>
          <a:xfrm>
            <a:off x="0" y="0"/>
            <a:ext cx="12191040" cy="6857280"/>
          </a:xfrm>
          <a:prstGeom prst="rect">
            <a:avLst/>
          </a:prstGeom>
          <a:solidFill>
            <a:srgbClr val="FCFBF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45" name="TextBox 2"/>
          <p:cNvSpPr/>
          <p:nvPr/>
        </p:nvSpPr>
        <p:spPr>
          <a:xfrm>
            <a:off x="640080" y="384120"/>
            <a:ext cx="822888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00" b="1" u="none" strike="noStrike">
                <a:solidFill>
                  <a:srgbClr val="D96B45"/>
                </a:solidFill>
                <a:effectLst/>
                <a:uFillTx/>
                <a:latin typeface="Segoe UI Semibold"/>
              </a:rPr>
              <a:t>THE ENGINE</a:t>
            </a:r>
            <a:endParaRPr lang="en-IN" sz="1300" b="0" u="none" strike="noStrike">
              <a:solidFill>
                <a:srgbClr val="000000"/>
              </a:solidFill>
              <a:effectLst/>
              <a:uFillTx/>
              <a:latin typeface="Arial"/>
            </a:endParaRPr>
          </a:p>
        </p:txBody>
      </p:sp>
      <p:sp>
        <p:nvSpPr>
          <p:cNvPr id="246" name="TextBox 3"/>
          <p:cNvSpPr/>
          <p:nvPr/>
        </p:nvSpPr>
        <p:spPr>
          <a:xfrm>
            <a:off x="640080" y="658440"/>
            <a:ext cx="9874800" cy="6850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3000" b="1" u="none" strike="noStrike">
                <a:solidFill>
                  <a:srgbClr val="222B3A"/>
                </a:solidFill>
                <a:effectLst/>
                <a:uFillTx/>
                <a:latin typeface="Segoe UI Semibold"/>
              </a:rPr>
              <a:t>Five ranking signals, each on a 0–1 scale</a:t>
            </a:r>
            <a:endParaRPr lang="en-IN" sz="3000" b="0" u="none" strike="noStrike">
              <a:solidFill>
                <a:srgbClr val="000000"/>
              </a:solidFill>
              <a:effectLst/>
              <a:uFillTx/>
              <a:latin typeface="Arial"/>
            </a:endParaRPr>
          </a:p>
        </p:txBody>
      </p:sp>
      <p:sp>
        <p:nvSpPr>
          <p:cNvPr id="247" name="Rectangle 4"/>
          <p:cNvSpPr/>
          <p:nvPr/>
        </p:nvSpPr>
        <p:spPr>
          <a:xfrm>
            <a:off x="640080" y="1298520"/>
            <a:ext cx="822240" cy="50040"/>
          </a:xfrm>
          <a:prstGeom prst="rect">
            <a:avLst/>
          </a:prstGeom>
          <a:solidFill>
            <a:srgbClr val="D96B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760" rIns="90000" bIns="5760" anchor="ctr">
            <a:noAutofit/>
          </a:bodyPr>
          <a:p>
            <a:pPr/>
            <a:endParaRPr lang="en-US" sz="1800" b="0" u="none" strike="noStrike">
              <a:solidFill>
                <a:schemeClr val="lt1"/>
              </a:solidFill>
              <a:effectLst/>
              <a:uFillTx/>
              <a:latin typeface="Calibri"/>
            </a:endParaRPr>
          </a:p>
        </p:txBody>
      </p:sp>
      <p:sp>
        <p:nvSpPr>
          <p:cNvPr id="248" name="TextBox 5"/>
          <p:cNvSpPr/>
          <p:nvPr/>
        </p:nvSpPr>
        <p:spPr>
          <a:xfrm>
            <a:off x="11155680" y="6355080"/>
            <a:ext cx="822240" cy="3650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1400" b="0" u="none" strike="noStrike">
                <a:solidFill>
                  <a:srgbClr val="667080"/>
                </a:solidFill>
                <a:effectLst/>
                <a:uFillTx/>
                <a:latin typeface="Segoe UI Semibold"/>
              </a:rPr>
              <a:t>10</a:t>
            </a:r>
            <a:endParaRPr lang="en-IN" sz="1400" b="0" u="none" strike="noStrike">
              <a:solidFill>
                <a:srgbClr val="000000"/>
              </a:solidFill>
              <a:effectLst/>
              <a:uFillTx/>
              <a:latin typeface="Arial"/>
            </a:endParaRPr>
          </a:p>
        </p:txBody>
      </p:sp>
      <p:sp>
        <p:nvSpPr>
          <p:cNvPr id="249" name="TextBox 6"/>
          <p:cNvSpPr/>
          <p:nvPr/>
        </p:nvSpPr>
        <p:spPr>
          <a:xfrm>
            <a:off x="640080" y="6473880"/>
            <a:ext cx="548568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0" u="none" strike="noStrike">
                <a:solidFill>
                  <a:srgbClr val="667080"/>
                </a:solidFill>
                <a:effectLst/>
                <a:uFillTx/>
                <a:latin typeface="Segoe UI"/>
              </a:rPr>
              <a:t>Skill-Gap Course Recommendation Engine</a:t>
            </a:r>
            <a:endParaRPr lang="en-IN" sz="1000" b="0" u="none" strike="noStrike">
              <a:solidFill>
                <a:srgbClr val="000000"/>
              </a:solidFill>
              <a:effectLst/>
              <a:uFillTx/>
              <a:latin typeface="Arial"/>
            </a:endParaRPr>
          </a:p>
        </p:txBody>
      </p:sp>
      <p:graphicFrame>
        <p:nvGraphicFramePr>
          <p:cNvPr id="250" name="Table 7"/>
          <p:cNvGraphicFramePr/>
          <p:nvPr/>
        </p:nvGraphicFramePr>
        <p:xfrm>
          <a:off x="640080" y="1600200"/>
          <a:ext cx="10880640" cy="2773080"/>
        </p:xfrm>
        <a:graphic>
          <a:graphicData uri="http://schemas.openxmlformats.org/drawingml/2006/table">
            <a:tbl>
              <a:tblPr/>
              <a:tblGrid>
                <a:gridCol w="2743200"/>
                <a:gridCol w="1096920"/>
                <a:gridCol w="7040880"/>
              </a:tblGrid>
              <a:tr h="457200">
                <a:tc>
                  <a:txBody>
                    <a:bodyPr lIns="101520" tIns="50760" rIns="101520" bIns="50760" anchor="ctr">
                      <a:noAutofit/>
                    </a:bodyPr>
                    <a:p>
                      <a:pPr defTabSz="457200">
                        <a:lnSpc>
                          <a:spcPct val="100000"/>
                        </a:lnSpc>
                      </a:pPr>
                      <a:r>
                        <a:rPr lang="en-US" sz="1350" b="1" u="none" strike="noStrike">
                          <a:solidFill>
                            <a:srgbClr val="FFFFFF"/>
                          </a:solidFill>
                          <a:effectLst/>
                          <a:uFillTx/>
                          <a:latin typeface="Segoe UI Semibold"/>
                        </a:rPr>
                        <a:t>Signal</a:t>
                      </a:r>
                      <a:endParaRPr lang="en-IN" sz="1350" b="0" u="none" strike="noStrike">
                        <a:solidFill>
                          <a:srgbClr val="FFFFFF"/>
                        </a:solidFill>
                        <a:effectLst/>
                        <a:uFillTx/>
                        <a:latin typeface="Arial"/>
                      </a:endParaRPr>
                    </a:p>
                  </a:txBody>
                  <a:tcPr anchor="ctr" marL="101520" marR="10152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22B3A"/>
                    </a:solidFill>
                  </a:tcPr>
                </a:tc>
                <a:tc>
                  <a:txBody>
                    <a:bodyPr lIns="101520" tIns="50760" rIns="101520" bIns="50760" anchor="ctr">
                      <a:noAutofit/>
                    </a:bodyPr>
                    <a:p>
                      <a:pPr algn="ctr" defTabSz="457200">
                        <a:lnSpc>
                          <a:spcPct val="100000"/>
                        </a:lnSpc>
                      </a:pPr>
                      <a:r>
                        <a:rPr lang="en-US" sz="1350" b="1" u="none" strike="noStrike">
                          <a:solidFill>
                            <a:srgbClr val="FFFFFF"/>
                          </a:solidFill>
                          <a:effectLst/>
                          <a:uFillTx/>
                          <a:latin typeface="Segoe UI Semibold"/>
                        </a:rPr>
                        <a:t>Weight</a:t>
                      </a:r>
                      <a:endParaRPr lang="en-IN" sz="1350" b="0" u="none" strike="noStrike">
                        <a:solidFill>
                          <a:srgbClr val="FFFFFF"/>
                        </a:solidFill>
                        <a:effectLst/>
                        <a:uFillTx/>
                        <a:latin typeface="Arial"/>
                      </a:endParaRPr>
                    </a:p>
                  </a:txBody>
                  <a:tcPr anchor="ctr" marL="101520" marR="10152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22B3A"/>
                    </a:solidFill>
                  </a:tcPr>
                </a:tc>
                <a:tc>
                  <a:txBody>
                    <a:bodyPr lIns="101520" tIns="50760" rIns="101520" bIns="50760" anchor="ctr">
                      <a:noAutofit/>
                    </a:bodyPr>
                    <a:p>
                      <a:pPr defTabSz="457200">
                        <a:lnSpc>
                          <a:spcPct val="100000"/>
                        </a:lnSpc>
                      </a:pPr>
                      <a:r>
                        <a:rPr lang="en-US" sz="1350" b="1" u="none" strike="noStrike">
                          <a:solidFill>
                            <a:srgbClr val="FFFFFF"/>
                          </a:solidFill>
                          <a:effectLst/>
                          <a:uFillTx/>
                          <a:latin typeface="Segoe UI Semibold"/>
                        </a:rPr>
                        <a:t>What it measures</a:t>
                      </a:r>
                      <a:endParaRPr lang="en-IN" sz="1350" b="0" u="none" strike="noStrike">
                        <a:solidFill>
                          <a:srgbClr val="FFFFFF"/>
                        </a:solidFill>
                        <a:effectLst/>
                        <a:uFillTx/>
                        <a:latin typeface="Arial"/>
                      </a:endParaRPr>
                    </a:p>
                  </a:txBody>
                  <a:tcPr anchor="ctr" marL="101520" marR="10152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22B3A"/>
                    </a:solidFill>
                  </a:tcPr>
                </a:tc>
              </a:tr>
              <a:tr h="457200">
                <a:tc>
                  <a:txBody>
                    <a:bodyPr lIns="101520" tIns="37800" rIns="101520" bIns="37800" anchor="ctr">
                      <a:noAutofit/>
                    </a:bodyPr>
                    <a:p>
                      <a:pPr defTabSz="457200">
                        <a:lnSpc>
                          <a:spcPct val="100000"/>
                        </a:lnSpc>
                      </a:pPr>
                      <a:r>
                        <a:rPr lang="en-US" sz="1350" b="0" u="none" strike="noStrike">
                          <a:solidFill>
                            <a:srgbClr val="222B3A"/>
                          </a:solidFill>
                          <a:effectLst/>
                          <a:uFillTx/>
                          <a:latin typeface="Segoe UI"/>
                        </a:rPr>
                        <a:t>Weighted skill-gap coverage</a:t>
                      </a:r>
                      <a:endParaRPr lang="en-IN" sz="135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101520" tIns="37800" rIns="101520" bIns="37800" anchor="ctr">
                      <a:noAutofit/>
                    </a:bodyPr>
                    <a:p>
                      <a:pPr algn="ctr" defTabSz="457200">
                        <a:lnSpc>
                          <a:spcPct val="100000"/>
                        </a:lnSpc>
                      </a:pPr>
                      <a:r>
                        <a:rPr lang="en-US" sz="1350" b="0" u="none" strike="noStrike">
                          <a:solidFill>
                            <a:srgbClr val="222B3A"/>
                          </a:solidFill>
                          <a:effectLst/>
                          <a:uFillTx/>
                          <a:latin typeface="Segoe UI"/>
                        </a:rPr>
                        <a:t>0.40</a:t>
                      </a:r>
                      <a:endParaRPr lang="en-IN" sz="135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101520" tIns="37800" rIns="101520" bIns="37800" anchor="ctr">
                      <a:noAutofit/>
                    </a:bodyPr>
                    <a:p>
                      <a:pPr defTabSz="457200">
                        <a:lnSpc>
                          <a:spcPct val="100000"/>
                        </a:lnSpc>
                      </a:pPr>
                      <a:r>
                        <a:rPr lang="en-US" sz="1350" b="0" u="none" strike="noStrike">
                          <a:solidFill>
                            <a:srgbClr val="222B3A"/>
                          </a:solidFill>
                          <a:effectLst/>
                          <a:uFillTx/>
                          <a:latin typeface="Segoe UI"/>
                        </a:rPr>
                        <a:t>Fraction of the learner's weighted missing skills the course teaches</a:t>
                      </a:r>
                      <a:endParaRPr lang="en-IN" sz="135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57200">
                <a:tc>
                  <a:txBody>
                    <a:bodyPr lIns="101520" tIns="37800" rIns="101520" bIns="37800" anchor="ctr">
                      <a:noAutofit/>
                    </a:bodyPr>
                    <a:p>
                      <a:pPr defTabSz="457200">
                        <a:lnSpc>
                          <a:spcPct val="100000"/>
                        </a:lnSpc>
                      </a:pPr>
                      <a:r>
                        <a:rPr lang="en-US" sz="1350" b="0" u="none" strike="noStrike">
                          <a:solidFill>
                            <a:srgbClr val="222B3A"/>
                          </a:solidFill>
                          <a:effectLst/>
                          <a:uFillTx/>
                          <a:latin typeface="Segoe UI"/>
                        </a:rPr>
                        <a:t>Semantic similarity</a:t>
                      </a:r>
                      <a:endParaRPr lang="en-IN" sz="135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FE7"/>
                    </a:solidFill>
                  </a:tcPr>
                </a:tc>
                <a:tc>
                  <a:txBody>
                    <a:bodyPr lIns="101520" tIns="37800" rIns="101520" bIns="37800" anchor="ctr">
                      <a:noAutofit/>
                    </a:bodyPr>
                    <a:p>
                      <a:pPr algn="ctr" defTabSz="457200">
                        <a:lnSpc>
                          <a:spcPct val="100000"/>
                        </a:lnSpc>
                      </a:pPr>
                      <a:r>
                        <a:rPr lang="en-US" sz="1350" b="0" u="none" strike="noStrike">
                          <a:solidFill>
                            <a:srgbClr val="222B3A"/>
                          </a:solidFill>
                          <a:effectLst/>
                          <a:uFillTx/>
                          <a:latin typeface="Segoe UI"/>
                        </a:rPr>
                        <a:t>0.25</a:t>
                      </a:r>
                      <a:endParaRPr lang="en-IN" sz="135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FE7"/>
                    </a:solidFill>
                  </a:tcPr>
                </a:tc>
                <a:tc>
                  <a:txBody>
                    <a:bodyPr lIns="101520" tIns="37800" rIns="101520" bIns="37800" anchor="ctr">
                      <a:noAutofit/>
                    </a:bodyPr>
                    <a:p>
                      <a:pPr defTabSz="457200">
                        <a:lnSpc>
                          <a:spcPct val="100000"/>
                        </a:lnSpc>
                      </a:pPr>
                      <a:r>
                        <a:rPr lang="en-US" sz="1350" b="0" u="none" strike="noStrike">
                          <a:solidFill>
                            <a:srgbClr val="222B3A"/>
                          </a:solidFill>
                          <a:effectLst/>
                          <a:uFillTx/>
                          <a:latin typeface="Segoe UI"/>
                        </a:rPr>
                        <a:t>MiniLM sentence-embedding similarity between the gap and course description</a:t>
                      </a:r>
                      <a:endParaRPr lang="en-IN" sz="135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FE7"/>
                    </a:solidFill>
                  </a:tcPr>
                </a:tc>
              </a:tr>
              <a:tr h="457200">
                <a:tc>
                  <a:txBody>
                    <a:bodyPr lIns="101520" tIns="37800" rIns="101520" bIns="37800" anchor="ctr">
                      <a:noAutofit/>
                    </a:bodyPr>
                    <a:p>
                      <a:pPr defTabSz="457200">
                        <a:lnSpc>
                          <a:spcPct val="100000"/>
                        </a:lnSpc>
                      </a:pPr>
                      <a:r>
                        <a:rPr lang="en-US" sz="1350" b="0" u="none" strike="noStrike">
                          <a:solidFill>
                            <a:srgbClr val="222B3A"/>
                          </a:solidFill>
                          <a:effectLst/>
                          <a:uFillTx/>
                          <a:latin typeface="Segoe UI"/>
                        </a:rPr>
                        <a:t>TF-IDF similarity</a:t>
                      </a:r>
                      <a:endParaRPr lang="en-IN" sz="135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101520" tIns="37800" rIns="101520" bIns="37800" anchor="ctr">
                      <a:noAutofit/>
                    </a:bodyPr>
                    <a:p>
                      <a:pPr algn="ctr" defTabSz="457200">
                        <a:lnSpc>
                          <a:spcPct val="100000"/>
                        </a:lnSpc>
                      </a:pPr>
                      <a:r>
                        <a:rPr lang="en-US" sz="1350" b="0" u="none" strike="noStrike">
                          <a:solidFill>
                            <a:srgbClr val="222B3A"/>
                          </a:solidFill>
                          <a:effectLst/>
                          <a:uFillTx/>
                          <a:latin typeface="Segoe UI"/>
                        </a:rPr>
                        <a:t>0.15</a:t>
                      </a:r>
                      <a:endParaRPr lang="en-IN" sz="135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101520" tIns="37800" rIns="101520" bIns="37800" anchor="ctr">
                      <a:noAutofit/>
                    </a:bodyPr>
                    <a:p>
                      <a:pPr defTabSz="457200">
                        <a:lnSpc>
                          <a:spcPct val="100000"/>
                        </a:lnSpc>
                      </a:pPr>
                      <a:r>
                        <a:rPr lang="en-US" sz="1350" b="0" u="none" strike="noStrike">
                          <a:solidFill>
                            <a:srgbClr val="222B3A"/>
                          </a:solidFill>
                          <a:effectLst/>
                          <a:uFillTx/>
                          <a:latin typeface="Segoe UI"/>
                        </a:rPr>
                        <a:t>Skill-token similarity, weighted so rare skills matter more</a:t>
                      </a:r>
                      <a:endParaRPr lang="en-IN" sz="135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57200">
                <a:tc>
                  <a:txBody>
                    <a:bodyPr lIns="101520" tIns="37800" rIns="101520" bIns="37800" anchor="ctr">
                      <a:noAutofit/>
                    </a:bodyPr>
                    <a:p>
                      <a:pPr defTabSz="457200">
                        <a:lnSpc>
                          <a:spcPct val="100000"/>
                        </a:lnSpc>
                      </a:pPr>
                      <a:r>
                        <a:rPr lang="en-US" sz="1350" b="0" u="none" strike="noStrike">
                          <a:solidFill>
                            <a:srgbClr val="222B3A"/>
                          </a:solidFill>
                          <a:effectLst/>
                          <a:uFillTx/>
                          <a:latin typeface="Segoe UI"/>
                        </a:rPr>
                        <a:t>Course quality</a:t>
                      </a:r>
                      <a:endParaRPr lang="en-IN" sz="135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FE7"/>
                    </a:solidFill>
                  </a:tcPr>
                </a:tc>
                <a:tc>
                  <a:txBody>
                    <a:bodyPr lIns="101520" tIns="37800" rIns="101520" bIns="37800" anchor="ctr">
                      <a:noAutofit/>
                    </a:bodyPr>
                    <a:p>
                      <a:pPr algn="ctr" defTabSz="457200">
                        <a:lnSpc>
                          <a:spcPct val="100000"/>
                        </a:lnSpc>
                      </a:pPr>
                      <a:r>
                        <a:rPr lang="en-US" sz="1350" b="0" u="none" strike="noStrike">
                          <a:solidFill>
                            <a:srgbClr val="222B3A"/>
                          </a:solidFill>
                          <a:effectLst/>
                          <a:uFillTx/>
                          <a:latin typeface="Segoe UI"/>
                        </a:rPr>
                        <a:t>0.12</a:t>
                      </a:r>
                      <a:endParaRPr lang="en-IN" sz="135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FE7"/>
                    </a:solidFill>
                  </a:tcPr>
                </a:tc>
                <a:tc>
                  <a:txBody>
                    <a:bodyPr lIns="101520" tIns="37800" rIns="101520" bIns="37800" anchor="ctr">
                      <a:noAutofit/>
                    </a:bodyPr>
                    <a:p>
                      <a:pPr defTabSz="457200">
                        <a:lnSpc>
                          <a:spcPct val="100000"/>
                        </a:lnSpc>
                      </a:pPr>
                      <a:r>
                        <a:rPr lang="en-US" sz="1350" b="0" u="none" strike="noStrike">
                          <a:solidFill>
                            <a:srgbClr val="222B3A"/>
                          </a:solidFill>
                          <a:effectLst/>
                          <a:uFillTx/>
                          <a:latin typeface="Segoe UI"/>
                        </a:rPr>
                        <a:t>Bayesian-smoothed rating (guards against a 4.9★ from 3 reviewers beating 4.6★ from thousands)</a:t>
                      </a:r>
                      <a:endParaRPr lang="en-IN" sz="135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FE7"/>
                    </a:solidFill>
                  </a:tcPr>
                </a:tc>
              </a:tr>
              <a:tr h="457200">
                <a:tc>
                  <a:txBody>
                    <a:bodyPr lIns="101520" tIns="37800" rIns="101520" bIns="37800" anchor="ctr">
                      <a:noAutofit/>
                    </a:bodyPr>
                    <a:p>
                      <a:pPr defTabSz="457200">
                        <a:lnSpc>
                          <a:spcPct val="100000"/>
                        </a:lnSpc>
                      </a:pPr>
                      <a:r>
                        <a:rPr lang="en-US" sz="1350" b="0" u="none" strike="noStrike">
                          <a:solidFill>
                            <a:srgbClr val="222B3A"/>
                          </a:solidFill>
                          <a:effectLst/>
                          <a:uFillTx/>
                          <a:latin typeface="Segoe UI"/>
                        </a:rPr>
                        <a:t>Difficulty fit</a:t>
                      </a:r>
                      <a:endParaRPr lang="en-IN" sz="135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101520" tIns="37800" rIns="101520" bIns="37800" anchor="ctr">
                      <a:noAutofit/>
                    </a:bodyPr>
                    <a:p>
                      <a:pPr algn="ctr" defTabSz="457200">
                        <a:lnSpc>
                          <a:spcPct val="100000"/>
                        </a:lnSpc>
                      </a:pPr>
                      <a:r>
                        <a:rPr lang="en-US" sz="1350" b="0" u="none" strike="noStrike">
                          <a:solidFill>
                            <a:srgbClr val="222B3A"/>
                          </a:solidFill>
                          <a:effectLst/>
                          <a:uFillTx/>
                          <a:latin typeface="Segoe UI"/>
                        </a:rPr>
                        <a:t>0.08</a:t>
                      </a:r>
                      <a:endParaRPr lang="en-IN" sz="135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101520" tIns="37800" rIns="101520" bIns="37800" anchor="ctr">
                      <a:noAutofit/>
                    </a:bodyPr>
                    <a:p>
                      <a:pPr defTabSz="457200">
                        <a:lnSpc>
                          <a:spcPct val="100000"/>
                        </a:lnSpc>
                      </a:pPr>
                      <a:r>
                        <a:rPr lang="en-US" sz="1350" b="0" u="none" strike="noStrike">
                          <a:solidFill>
                            <a:srgbClr val="222B3A"/>
                          </a:solidFill>
                          <a:effectLst/>
                          <a:uFillTx/>
                          <a:latin typeface="Segoe UI"/>
                        </a:rPr>
                        <a:t>Course level vs. the learner's inferred level</a:t>
                      </a:r>
                      <a:endParaRPr lang="en-IN" sz="135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
        <p:nvSpPr>
          <p:cNvPr id="251" name="Rounded Rectangle 8"/>
          <p:cNvSpPr/>
          <p:nvPr/>
        </p:nvSpPr>
        <p:spPr>
          <a:xfrm>
            <a:off x="640080" y="4709160"/>
            <a:ext cx="10880640" cy="1233720"/>
          </a:xfrm>
          <a:prstGeom prst="roundRect">
            <a:avLst>
              <a:gd name="adj" fmla="val 8000"/>
            </a:avLst>
          </a:prstGeom>
          <a:solidFill>
            <a:srgbClr val="F3EFE7"/>
          </a:solidFill>
          <a:ln>
            <a:solidFill>
              <a:srgbClr val="E7E1D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52" name="TextBox 9"/>
          <p:cNvSpPr/>
          <p:nvPr/>
        </p:nvSpPr>
        <p:spPr>
          <a:xfrm>
            <a:off x="914400" y="4892040"/>
            <a:ext cx="10332000" cy="913680"/>
          </a:xfrm>
          <a:prstGeom prst="rect">
            <a:avLst/>
          </a:prstGeom>
          <a:noFill/>
          <a:ln w="0">
            <a:noFill/>
          </a:ln>
        </p:spPr>
        <p:style>
          <a:lnRef idx="0"/>
          <a:fillRef idx="0"/>
          <a:effectRef idx="0"/>
          <a:fontRef idx="minor"/>
        </p:style>
        <p:txBody>
          <a:bodyPr lIns="0" tIns="0" rIns="0" bIns="0" anchor="t">
            <a:spAutoFit/>
          </a:bodyPr>
          <a:p>
            <a:pPr defTabSz="457200">
              <a:lnSpc>
                <a:spcPct val="125000"/>
              </a:lnSpc>
            </a:pPr>
            <a:r>
              <a:rPr lang="en-US" sz="1300" b="0" u="none" strike="noStrike">
                <a:solidFill>
                  <a:srgbClr val="222B3A"/>
                </a:solidFill>
                <a:effectLst/>
                <a:uFillTx/>
                <a:latin typeface="Segoe UI"/>
              </a:rPr>
              <a:t>All five signals are independently 0–1 and candidate-pool independent, so they're summed directly — no MinMaxScaler. An earlier version scaled after filtering to the candidate pool, forcing the best course in any pool to score 1.0 regardless of how good it actually was, making scores incomparable across learners.</a:t>
            </a:r>
            <a:endParaRPr lang="en-IN"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Rectangle 1"/>
          <p:cNvSpPr/>
          <p:nvPr/>
        </p:nvSpPr>
        <p:spPr>
          <a:xfrm>
            <a:off x="0" y="0"/>
            <a:ext cx="12191040" cy="6857280"/>
          </a:xfrm>
          <a:prstGeom prst="rect">
            <a:avLst/>
          </a:prstGeom>
          <a:solidFill>
            <a:srgbClr val="FCFBF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54" name="TextBox 2"/>
          <p:cNvSpPr/>
          <p:nvPr/>
        </p:nvSpPr>
        <p:spPr>
          <a:xfrm>
            <a:off x="640080" y="384120"/>
            <a:ext cx="822888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00" b="1" u="none" strike="noStrike">
                <a:solidFill>
                  <a:srgbClr val="D96B45"/>
                </a:solidFill>
                <a:effectLst/>
                <a:uFillTx/>
                <a:latin typeface="Segoe UI Semibold"/>
              </a:rPr>
              <a:t>THE ENGINE</a:t>
            </a:r>
            <a:endParaRPr lang="en-IN" sz="1300" b="0" u="none" strike="noStrike">
              <a:solidFill>
                <a:srgbClr val="000000"/>
              </a:solidFill>
              <a:effectLst/>
              <a:uFillTx/>
              <a:latin typeface="Arial"/>
            </a:endParaRPr>
          </a:p>
        </p:txBody>
      </p:sp>
      <p:sp>
        <p:nvSpPr>
          <p:cNvPr id="255" name="TextBox 3"/>
          <p:cNvSpPr/>
          <p:nvPr/>
        </p:nvSpPr>
        <p:spPr>
          <a:xfrm>
            <a:off x="640080" y="658440"/>
            <a:ext cx="9874800" cy="6850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3000" b="1" u="none" strike="noStrike">
                <a:solidFill>
                  <a:srgbClr val="222B3A"/>
                </a:solidFill>
                <a:effectLst/>
                <a:uFillTx/>
                <a:latin typeface="Segoe UI Semibold"/>
              </a:rPr>
              <a:t>MMR re-ranking for diversity</a:t>
            </a:r>
            <a:endParaRPr lang="en-IN" sz="3000" b="0" u="none" strike="noStrike">
              <a:solidFill>
                <a:srgbClr val="000000"/>
              </a:solidFill>
              <a:effectLst/>
              <a:uFillTx/>
              <a:latin typeface="Arial"/>
            </a:endParaRPr>
          </a:p>
        </p:txBody>
      </p:sp>
      <p:sp>
        <p:nvSpPr>
          <p:cNvPr id="256" name="Rectangle 4"/>
          <p:cNvSpPr/>
          <p:nvPr/>
        </p:nvSpPr>
        <p:spPr>
          <a:xfrm>
            <a:off x="640080" y="1298520"/>
            <a:ext cx="822240" cy="50040"/>
          </a:xfrm>
          <a:prstGeom prst="rect">
            <a:avLst/>
          </a:prstGeom>
          <a:solidFill>
            <a:srgbClr val="D96B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760" rIns="90000" bIns="5760" anchor="ctr">
            <a:noAutofit/>
          </a:bodyPr>
          <a:p>
            <a:pPr/>
            <a:endParaRPr lang="en-US" sz="1800" b="0" u="none" strike="noStrike">
              <a:solidFill>
                <a:schemeClr val="lt1"/>
              </a:solidFill>
              <a:effectLst/>
              <a:uFillTx/>
              <a:latin typeface="Calibri"/>
            </a:endParaRPr>
          </a:p>
        </p:txBody>
      </p:sp>
      <p:sp>
        <p:nvSpPr>
          <p:cNvPr id="257" name="TextBox 5"/>
          <p:cNvSpPr/>
          <p:nvPr/>
        </p:nvSpPr>
        <p:spPr>
          <a:xfrm>
            <a:off x="11155680" y="6355080"/>
            <a:ext cx="822240" cy="3650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1400" b="0" u="none" strike="noStrike">
                <a:solidFill>
                  <a:srgbClr val="667080"/>
                </a:solidFill>
                <a:effectLst/>
                <a:uFillTx/>
                <a:latin typeface="Segoe UI Semibold"/>
              </a:rPr>
              <a:t>11</a:t>
            </a:r>
            <a:endParaRPr lang="en-IN" sz="1400" b="0" u="none" strike="noStrike">
              <a:solidFill>
                <a:srgbClr val="000000"/>
              </a:solidFill>
              <a:effectLst/>
              <a:uFillTx/>
              <a:latin typeface="Arial"/>
            </a:endParaRPr>
          </a:p>
        </p:txBody>
      </p:sp>
      <p:sp>
        <p:nvSpPr>
          <p:cNvPr id="258" name="TextBox 6"/>
          <p:cNvSpPr/>
          <p:nvPr/>
        </p:nvSpPr>
        <p:spPr>
          <a:xfrm>
            <a:off x="640080" y="6473880"/>
            <a:ext cx="548568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0" u="none" strike="noStrike">
                <a:solidFill>
                  <a:srgbClr val="667080"/>
                </a:solidFill>
                <a:effectLst/>
                <a:uFillTx/>
                <a:latin typeface="Segoe UI"/>
              </a:rPr>
              <a:t>Skill-Gap Course Recommendation Engine</a:t>
            </a:r>
            <a:endParaRPr lang="en-IN" sz="1000" b="0" u="none" strike="noStrike">
              <a:solidFill>
                <a:srgbClr val="000000"/>
              </a:solidFill>
              <a:effectLst/>
              <a:uFillTx/>
              <a:latin typeface="Arial"/>
            </a:endParaRPr>
          </a:p>
        </p:txBody>
      </p:sp>
      <p:sp>
        <p:nvSpPr>
          <p:cNvPr id="259" name="TextBox 7"/>
          <p:cNvSpPr/>
          <p:nvPr/>
        </p:nvSpPr>
        <p:spPr>
          <a:xfrm>
            <a:off x="640080" y="1645920"/>
            <a:ext cx="6034320" cy="3291120"/>
          </a:xfrm>
          <a:prstGeom prst="rect">
            <a:avLst/>
          </a:prstGeom>
          <a:noFill/>
          <a:ln w="0">
            <a:noFill/>
          </a:ln>
        </p:spPr>
        <p:style>
          <a:lnRef idx="0"/>
          <a:fillRef idx="0"/>
          <a:effectRef idx="0"/>
          <a:fontRef idx="minor"/>
        </p:style>
        <p:txBody>
          <a:bodyPr lIns="0" tIns="0" rIns="0" bIns="0" anchor="t">
            <a:spAutoFit/>
          </a:bodyPr>
          <a:p>
            <a:pPr defTabSz="457200">
              <a:lnSpc>
                <a:spcPct val="125000"/>
              </a:lnSpc>
              <a:spcAft>
                <a:spcPts val="1199"/>
              </a:spcAft>
            </a:pPr>
            <a:r>
              <a:rPr lang="en-US" sz="1500" b="1" u="none" strike="noStrike">
                <a:solidFill>
                  <a:srgbClr val="D96B45"/>
                </a:solidFill>
                <a:effectLst/>
                <a:uFillTx/>
                <a:latin typeface="Segoe UI"/>
              </a:rPr>
              <a:t>▪ </a:t>
            </a:r>
            <a:r>
              <a:rPr lang="en-US" sz="1500" b="0" u="none" strike="noStrike">
                <a:solidFill>
                  <a:srgbClr val="222B3A"/>
                </a:solidFill>
                <a:effectLst/>
                <a:uFillTx/>
                <a:latin typeface="Segoe UI"/>
              </a:rPr>
              <a:t>Two providers (Google, IBM) hold a quarter of the catalogue — same-provider specializations are often near-duplicates</a:t>
            </a:r>
            <a:endParaRPr lang="en-IN" sz="1500" b="0" u="none" strike="noStrike">
              <a:solidFill>
                <a:srgbClr val="000000"/>
              </a:solidFill>
              <a:effectLst/>
              <a:uFillTx/>
              <a:latin typeface="Arial"/>
            </a:endParaRPr>
          </a:p>
          <a:p>
            <a:pPr defTabSz="457200">
              <a:lnSpc>
                <a:spcPct val="125000"/>
              </a:lnSpc>
              <a:spcAft>
                <a:spcPts val="1199"/>
              </a:spcAft>
            </a:pPr>
            <a:r>
              <a:rPr lang="en-US" sz="1500" b="1" u="none" strike="noStrike">
                <a:solidFill>
                  <a:srgbClr val="D96B45"/>
                </a:solidFill>
                <a:effectLst/>
                <a:uFillTx/>
                <a:latin typeface="Segoe UI"/>
              </a:rPr>
              <a:t>▪ </a:t>
            </a:r>
            <a:r>
              <a:rPr lang="en-US" sz="1500" b="0" u="none" strike="noStrike">
                <a:solidFill>
                  <a:srgbClr val="222B3A"/>
                </a:solidFill>
                <a:effectLst/>
                <a:uFillTx/>
                <a:latin typeface="Segoe UI"/>
              </a:rPr>
              <a:t>Pure score-ranking returns repetitive lists</a:t>
            </a:r>
            <a:endParaRPr lang="en-IN" sz="1500" b="0" u="none" strike="noStrike">
              <a:solidFill>
                <a:srgbClr val="000000"/>
              </a:solidFill>
              <a:effectLst/>
              <a:uFillTx/>
              <a:latin typeface="Arial"/>
            </a:endParaRPr>
          </a:p>
          <a:p>
            <a:pPr defTabSz="457200">
              <a:lnSpc>
                <a:spcPct val="125000"/>
              </a:lnSpc>
              <a:spcAft>
                <a:spcPts val="1199"/>
              </a:spcAft>
            </a:pPr>
            <a:r>
              <a:rPr lang="en-US" sz="1500" b="1" u="none" strike="noStrike">
                <a:solidFill>
                  <a:srgbClr val="D96B45"/>
                </a:solidFill>
                <a:effectLst/>
                <a:uFillTx/>
                <a:latin typeface="Segoe UI"/>
              </a:rPr>
              <a:t>▪ </a:t>
            </a:r>
            <a:r>
              <a:rPr lang="en-US" sz="1500" b="0" u="none" strike="noStrike">
                <a:solidFill>
                  <a:srgbClr val="222B3A"/>
                </a:solidFill>
                <a:effectLst/>
                <a:uFillTx/>
                <a:latin typeface="Segoe UI"/>
              </a:rPr>
              <a:t>Fix: Maximal Marginal Relevance (λ = 0.75)</a:t>
            </a:r>
            <a:endParaRPr lang="en-IN" sz="1500" b="0" u="none" strike="noStrike">
              <a:solidFill>
                <a:srgbClr val="000000"/>
              </a:solidFill>
              <a:effectLst/>
              <a:uFillTx/>
              <a:latin typeface="Arial"/>
            </a:endParaRPr>
          </a:p>
          <a:p>
            <a:pPr defTabSz="457200">
              <a:lnSpc>
                <a:spcPct val="125000"/>
              </a:lnSpc>
              <a:spcAft>
                <a:spcPts val="1199"/>
              </a:spcAft>
            </a:pPr>
            <a:r>
              <a:rPr lang="en-US" sz="1300" b="0" u="none" strike="noStrike">
                <a:solidFill>
                  <a:srgbClr val="667080"/>
                </a:solidFill>
                <a:effectLst/>
                <a:uFillTx/>
                <a:latin typeface="Segoe UI"/>
              </a:rPr>
              <a:t>–  </a:t>
            </a:r>
            <a:r>
              <a:rPr lang="en-US" sz="1300" b="0" u="none" strike="noStrike">
                <a:solidFill>
                  <a:srgbClr val="222B3A"/>
                </a:solidFill>
                <a:effectLst/>
                <a:uFillTx/>
                <a:latin typeface="Segoe UI"/>
              </a:rPr>
              <a:t>Redundancy = max(embedding similarity, same-provider penalty)</a:t>
            </a:r>
            <a:endParaRPr lang="en-IN" sz="1300" b="0" u="none" strike="noStrike">
              <a:solidFill>
                <a:srgbClr val="000000"/>
              </a:solidFill>
              <a:effectLst/>
              <a:uFillTx/>
              <a:latin typeface="Arial"/>
            </a:endParaRPr>
          </a:p>
          <a:p>
            <a:pPr defTabSz="457200">
              <a:lnSpc>
                <a:spcPct val="125000"/>
              </a:lnSpc>
              <a:spcAft>
                <a:spcPts val="1199"/>
              </a:spcAft>
            </a:pPr>
            <a:r>
              <a:rPr lang="en-US" sz="1300" b="0" u="none" strike="noStrike">
                <a:solidFill>
                  <a:srgbClr val="667080"/>
                </a:solidFill>
                <a:effectLst/>
                <a:uFillTx/>
                <a:latin typeface="Segoe UI"/>
              </a:rPr>
              <a:t>–  </a:t>
            </a:r>
            <a:r>
              <a:rPr lang="en-US" sz="1300" b="0" u="none" strike="noStrike">
                <a:solidFill>
                  <a:srgbClr val="222B3A"/>
                </a:solidFill>
                <a:effectLst/>
                <a:uFillTx/>
                <a:latin typeface="Segoe UI"/>
              </a:rPr>
              <a:t>Two courses from the same provider can be near-duplicate in intent while sitting far apart in embedding space</a:t>
            </a:r>
            <a:endParaRPr lang="en-IN" sz="1300" b="0" u="none" strike="noStrike">
              <a:solidFill>
                <a:srgbClr val="000000"/>
              </a:solidFill>
              <a:effectLst/>
              <a:uFillTx/>
              <a:latin typeface="Arial"/>
            </a:endParaRPr>
          </a:p>
        </p:txBody>
      </p:sp>
      <p:sp>
        <p:nvSpPr>
          <p:cNvPr id="260" name="Rounded Rectangle 8"/>
          <p:cNvSpPr/>
          <p:nvPr/>
        </p:nvSpPr>
        <p:spPr>
          <a:xfrm>
            <a:off x="7040880" y="1645920"/>
            <a:ext cx="4479840" cy="3565440"/>
          </a:xfrm>
          <a:prstGeom prst="roundRect">
            <a:avLst>
              <a:gd name="adj" fmla="val 8000"/>
            </a:avLst>
          </a:prstGeom>
          <a:solidFill>
            <a:srgbClr val="222B3A"/>
          </a:solidFill>
          <a:ln>
            <a:solidFill>
              <a:srgbClr val="222B3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61" name="TextBox 9"/>
          <p:cNvSpPr/>
          <p:nvPr/>
        </p:nvSpPr>
        <p:spPr>
          <a:xfrm>
            <a:off x="7315200" y="1874520"/>
            <a:ext cx="3931200" cy="3650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1" u="none" strike="noStrike">
                <a:solidFill>
                  <a:srgbClr val="D96B45"/>
                </a:solidFill>
                <a:effectLst/>
                <a:uFillTx/>
                <a:latin typeface="Segoe UI Semibold"/>
              </a:rPr>
              <a:t>BEFORE → AFTER MMR</a:t>
            </a:r>
            <a:endParaRPr lang="en-IN" sz="1200" b="0" u="none" strike="noStrike">
              <a:solidFill>
                <a:srgbClr val="000000"/>
              </a:solidFill>
              <a:effectLst/>
              <a:uFillTx/>
              <a:latin typeface="Arial"/>
            </a:endParaRPr>
          </a:p>
        </p:txBody>
      </p:sp>
      <p:sp>
        <p:nvSpPr>
          <p:cNvPr id="262" name="TextBox 10"/>
          <p:cNvSpPr/>
          <p:nvPr/>
        </p:nvSpPr>
        <p:spPr>
          <a:xfrm>
            <a:off x="7315200" y="2377440"/>
            <a:ext cx="2376720" cy="4564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50" b="0" u="none" strike="noStrike">
                <a:solidFill>
                  <a:srgbClr val="A9B4C4"/>
                </a:solidFill>
                <a:effectLst/>
                <a:uFillTx/>
                <a:latin typeface="Segoe UI"/>
              </a:rPr>
              <a:t>Mean pairwise similarity</a:t>
            </a:r>
            <a:endParaRPr lang="en-IN" sz="1250" b="0" u="none" strike="noStrike">
              <a:solidFill>
                <a:srgbClr val="000000"/>
              </a:solidFill>
              <a:effectLst/>
              <a:uFillTx/>
              <a:latin typeface="Arial"/>
            </a:endParaRPr>
          </a:p>
        </p:txBody>
      </p:sp>
      <p:sp>
        <p:nvSpPr>
          <p:cNvPr id="263" name="TextBox 11"/>
          <p:cNvSpPr/>
          <p:nvPr/>
        </p:nvSpPr>
        <p:spPr>
          <a:xfrm>
            <a:off x="7315200" y="2670120"/>
            <a:ext cx="3931200" cy="4564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00" b="1" u="none" strike="noStrike">
                <a:solidFill>
                  <a:srgbClr val="FFFFFF"/>
                </a:solidFill>
                <a:effectLst/>
                <a:uFillTx/>
                <a:latin typeface="Segoe UI Semibold"/>
              </a:rPr>
              <a:t>0.541 → 0.523</a:t>
            </a:r>
            <a:endParaRPr lang="en-IN" sz="1900" b="0" u="none" strike="noStrike">
              <a:solidFill>
                <a:srgbClr val="000000"/>
              </a:solidFill>
              <a:effectLst/>
              <a:uFillTx/>
              <a:latin typeface="Arial"/>
            </a:endParaRPr>
          </a:p>
        </p:txBody>
      </p:sp>
      <p:sp>
        <p:nvSpPr>
          <p:cNvPr id="264" name="TextBox 12"/>
          <p:cNvSpPr/>
          <p:nvPr/>
        </p:nvSpPr>
        <p:spPr>
          <a:xfrm>
            <a:off x="7315200" y="3337560"/>
            <a:ext cx="2376720" cy="4564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50" b="0" u="none" strike="noStrike">
                <a:solidFill>
                  <a:srgbClr val="A9B4C4"/>
                </a:solidFill>
                <a:effectLst/>
                <a:uFillTx/>
                <a:latin typeface="Segoe UI"/>
              </a:rPr>
              <a:t>Distinct providers in top 10</a:t>
            </a:r>
            <a:endParaRPr lang="en-IN" sz="1250" b="0" u="none" strike="noStrike">
              <a:solidFill>
                <a:srgbClr val="000000"/>
              </a:solidFill>
              <a:effectLst/>
              <a:uFillTx/>
              <a:latin typeface="Arial"/>
            </a:endParaRPr>
          </a:p>
        </p:txBody>
      </p:sp>
      <p:sp>
        <p:nvSpPr>
          <p:cNvPr id="265" name="TextBox 13"/>
          <p:cNvSpPr/>
          <p:nvPr/>
        </p:nvSpPr>
        <p:spPr>
          <a:xfrm>
            <a:off x="7315200" y="3630240"/>
            <a:ext cx="3931200" cy="4564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00" b="1" u="none" strike="noStrike">
                <a:solidFill>
                  <a:srgbClr val="FFFFFF"/>
                </a:solidFill>
                <a:effectLst/>
                <a:uFillTx/>
                <a:latin typeface="Segoe UI Semibold"/>
              </a:rPr>
              <a:t>7 → 8</a:t>
            </a:r>
            <a:endParaRPr lang="en-IN" sz="1900" b="0" u="none" strike="noStrike">
              <a:solidFill>
                <a:srgbClr val="000000"/>
              </a:solidFill>
              <a:effectLst/>
              <a:uFillTx/>
              <a:latin typeface="Arial"/>
            </a:endParaRPr>
          </a:p>
        </p:txBody>
      </p:sp>
      <p:sp>
        <p:nvSpPr>
          <p:cNvPr id="266" name="TextBox 14"/>
          <p:cNvSpPr/>
          <p:nvPr/>
        </p:nvSpPr>
        <p:spPr>
          <a:xfrm>
            <a:off x="7315200" y="4297680"/>
            <a:ext cx="2376720" cy="4564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50" b="0" u="none" strike="noStrike">
                <a:solidFill>
                  <a:srgbClr val="A9B4C4"/>
                </a:solidFill>
                <a:effectLst/>
                <a:uFillTx/>
                <a:latin typeface="Segoe UI"/>
              </a:rPr>
              <a:t>Cost to mean hybrid score</a:t>
            </a:r>
            <a:endParaRPr lang="en-IN" sz="1250" b="0" u="none" strike="noStrike">
              <a:solidFill>
                <a:srgbClr val="000000"/>
              </a:solidFill>
              <a:effectLst/>
              <a:uFillTx/>
              <a:latin typeface="Arial"/>
            </a:endParaRPr>
          </a:p>
        </p:txBody>
      </p:sp>
      <p:sp>
        <p:nvSpPr>
          <p:cNvPr id="267" name="TextBox 15"/>
          <p:cNvSpPr/>
          <p:nvPr/>
        </p:nvSpPr>
        <p:spPr>
          <a:xfrm>
            <a:off x="7315200" y="4590360"/>
            <a:ext cx="3931200" cy="4564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00" b="1" u="none" strike="noStrike">
                <a:solidFill>
                  <a:srgbClr val="FFFFFF"/>
                </a:solidFill>
                <a:effectLst/>
                <a:uFillTx/>
                <a:latin typeface="Segoe UI Semibold"/>
              </a:rPr>
              <a:t>− 0.006</a:t>
            </a:r>
            <a:endParaRPr lang="en-IN" sz="1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Rectangle 1"/>
          <p:cNvSpPr/>
          <p:nvPr/>
        </p:nvSpPr>
        <p:spPr>
          <a:xfrm>
            <a:off x="0" y="0"/>
            <a:ext cx="12191040" cy="6857280"/>
          </a:xfrm>
          <a:prstGeom prst="rect">
            <a:avLst/>
          </a:prstGeom>
          <a:solidFill>
            <a:srgbClr val="FCFBF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69" name="TextBox 2"/>
          <p:cNvSpPr/>
          <p:nvPr/>
        </p:nvSpPr>
        <p:spPr>
          <a:xfrm>
            <a:off x="640080" y="384120"/>
            <a:ext cx="822888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00" b="1" u="none" strike="noStrike">
                <a:solidFill>
                  <a:srgbClr val="D96B45"/>
                </a:solidFill>
                <a:effectLst/>
                <a:uFillTx/>
                <a:latin typeface="Segoe UI Semibold"/>
              </a:rPr>
              <a:t>THE ENGINE</a:t>
            </a:r>
            <a:endParaRPr lang="en-IN" sz="1300" b="0" u="none" strike="noStrike">
              <a:solidFill>
                <a:srgbClr val="000000"/>
              </a:solidFill>
              <a:effectLst/>
              <a:uFillTx/>
              <a:latin typeface="Arial"/>
            </a:endParaRPr>
          </a:p>
        </p:txBody>
      </p:sp>
      <p:sp>
        <p:nvSpPr>
          <p:cNvPr id="270" name="TextBox 3"/>
          <p:cNvSpPr/>
          <p:nvPr/>
        </p:nvSpPr>
        <p:spPr>
          <a:xfrm>
            <a:off x="640080" y="658440"/>
            <a:ext cx="9874800" cy="6850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3000" b="1" u="none" strike="noStrike">
                <a:solidFill>
                  <a:srgbClr val="222B3A"/>
                </a:solidFill>
                <a:effectLst/>
                <a:uFillTx/>
                <a:latin typeface="Segoe UI Semibold"/>
              </a:rPr>
              <a:t>Honest coverage accounting</a:t>
            </a:r>
            <a:endParaRPr lang="en-IN" sz="3000" b="0" u="none" strike="noStrike">
              <a:solidFill>
                <a:srgbClr val="000000"/>
              </a:solidFill>
              <a:effectLst/>
              <a:uFillTx/>
              <a:latin typeface="Arial"/>
            </a:endParaRPr>
          </a:p>
        </p:txBody>
      </p:sp>
      <p:sp>
        <p:nvSpPr>
          <p:cNvPr id="271" name="Rectangle 4"/>
          <p:cNvSpPr/>
          <p:nvPr/>
        </p:nvSpPr>
        <p:spPr>
          <a:xfrm>
            <a:off x="640080" y="1298520"/>
            <a:ext cx="822240" cy="50040"/>
          </a:xfrm>
          <a:prstGeom prst="rect">
            <a:avLst/>
          </a:prstGeom>
          <a:solidFill>
            <a:srgbClr val="D96B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760" rIns="90000" bIns="5760" anchor="ctr">
            <a:noAutofit/>
          </a:bodyPr>
          <a:p>
            <a:pPr/>
            <a:endParaRPr lang="en-US" sz="1800" b="0" u="none" strike="noStrike">
              <a:solidFill>
                <a:schemeClr val="lt1"/>
              </a:solidFill>
              <a:effectLst/>
              <a:uFillTx/>
              <a:latin typeface="Calibri"/>
            </a:endParaRPr>
          </a:p>
        </p:txBody>
      </p:sp>
      <p:sp>
        <p:nvSpPr>
          <p:cNvPr id="272" name="TextBox 5"/>
          <p:cNvSpPr/>
          <p:nvPr/>
        </p:nvSpPr>
        <p:spPr>
          <a:xfrm>
            <a:off x="11155680" y="6355080"/>
            <a:ext cx="822240" cy="3650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1400" b="0" u="none" strike="noStrike">
                <a:solidFill>
                  <a:srgbClr val="667080"/>
                </a:solidFill>
                <a:effectLst/>
                <a:uFillTx/>
                <a:latin typeface="Segoe UI Semibold"/>
              </a:rPr>
              <a:t>12</a:t>
            </a:r>
            <a:endParaRPr lang="en-IN" sz="1400" b="0" u="none" strike="noStrike">
              <a:solidFill>
                <a:srgbClr val="000000"/>
              </a:solidFill>
              <a:effectLst/>
              <a:uFillTx/>
              <a:latin typeface="Arial"/>
            </a:endParaRPr>
          </a:p>
        </p:txBody>
      </p:sp>
      <p:sp>
        <p:nvSpPr>
          <p:cNvPr id="273" name="TextBox 6"/>
          <p:cNvSpPr/>
          <p:nvPr/>
        </p:nvSpPr>
        <p:spPr>
          <a:xfrm>
            <a:off x="640080" y="6473880"/>
            <a:ext cx="548568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0" u="none" strike="noStrike">
                <a:solidFill>
                  <a:srgbClr val="667080"/>
                </a:solidFill>
                <a:effectLst/>
                <a:uFillTx/>
                <a:latin typeface="Segoe UI"/>
              </a:rPr>
              <a:t>Skill-Gap Course Recommendation Engine</a:t>
            </a:r>
            <a:endParaRPr lang="en-IN" sz="1000" b="0" u="none" strike="noStrike">
              <a:solidFill>
                <a:srgbClr val="000000"/>
              </a:solidFill>
              <a:effectLst/>
              <a:uFillTx/>
              <a:latin typeface="Arial"/>
            </a:endParaRPr>
          </a:p>
        </p:txBody>
      </p:sp>
      <p:sp>
        <p:nvSpPr>
          <p:cNvPr id="274" name="TextBox 7"/>
          <p:cNvSpPr/>
          <p:nvPr/>
        </p:nvSpPr>
        <p:spPr>
          <a:xfrm>
            <a:off x="640080" y="1737360"/>
            <a:ext cx="10880640" cy="2010960"/>
          </a:xfrm>
          <a:prstGeom prst="rect">
            <a:avLst/>
          </a:prstGeom>
          <a:noFill/>
          <a:ln w="0">
            <a:noFill/>
          </a:ln>
        </p:spPr>
        <p:style>
          <a:lnRef idx="0"/>
          <a:fillRef idx="0"/>
          <a:effectRef idx="0"/>
          <a:fontRef idx="minor"/>
        </p:style>
        <p:txBody>
          <a:bodyPr lIns="0" tIns="0" rIns="0" bIns="0" anchor="t">
            <a:spAutoFit/>
          </a:bodyPr>
          <a:p>
            <a:pPr defTabSz="457200">
              <a:lnSpc>
                <a:spcPct val="130000"/>
              </a:lnSpc>
              <a:spcAft>
                <a:spcPts val="1599"/>
              </a:spcAft>
            </a:pPr>
            <a:r>
              <a:rPr lang="en-US" sz="1600" b="1" u="none" strike="noStrike">
                <a:solidFill>
                  <a:srgbClr val="D96B45"/>
                </a:solidFill>
                <a:effectLst/>
                <a:uFillTx/>
                <a:latin typeface="Segoe UI"/>
              </a:rPr>
              <a:t>▪ </a:t>
            </a:r>
            <a:r>
              <a:rPr lang="en-US" sz="1600" b="0" u="none" strike="noStrike">
                <a:solidFill>
                  <a:srgbClr val="222B3A"/>
                </a:solidFill>
                <a:effectLst/>
                <a:uFillTx/>
                <a:latin typeface="Segoe UI"/>
              </a:rPr>
              <a:t>If a target skill is taught by no course, it still counts against the coverage denominator — it doesn't quietly disappear</a:t>
            </a:r>
            <a:endParaRPr lang="en-IN" sz="1600" b="0" u="none" strike="noStrike">
              <a:solidFill>
                <a:srgbClr val="000000"/>
              </a:solidFill>
              <a:effectLst/>
              <a:uFillTx/>
              <a:latin typeface="Arial"/>
            </a:endParaRPr>
          </a:p>
          <a:p>
            <a:pPr defTabSz="457200">
              <a:lnSpc>
                <a:spcPct val="130000"/>
              </a:lnSpc>
              <a:spcAft>
                <a:spcPts val="1599"/>
              </a:spcAft>
            </a:pPr>
            <a:r>
              <a:rPr lang="en-US" sz="1600" b="1" u="none" strike="noStrike">
                <a:solidFill>
                  <a:srgbClr val="D96B45"/>
                </a:solidFill>
                <a:effectLst/>
                <a:uFillTx/>
                <a:latin typeface="Segoe UI"/>
              </a:rPr>
              <a:t>▪ </a:t>
            </a:r>
            <a:r>
              <a:rPr lang="en-US" sz="1600" b="0" u="none" strike="noStrike">
                <a:solidFill>
                  <a:srgbClr val="222B3A"/>
                </a:solidFill>
                <a:effectLst/>
                <a:uFillTx/>
                <a:latin typeface="Segoe UI"/>
              </a:rPr>
              <a:t>Every result also returns gap.ceiling: the best coverage any single course could possibly achieve</a:t>
            </a:r>
            <a:endParaRPr lang="en-IN" sz="1600" b="0" u="none" strike="noStrike">
              <a:solidFill>
                <a:srgbClr val="000000"/>
              </a:solidFill>
              <a:effectLst/>
              <a:uFillTx/>
              <a:latin typeface="Arial"/>
            </a:endParaRPr>
          </a:p>
          <a:p>
            <a:pPr defTabSz="457200">
              <a:lnSpc>
                <a:spcPct val="130000"/>
              </a:lnSpc>
              <a:spcAft>
                <a:spcPts val="1599"/>
              </a:spcAft>
            </a:pPr>
            <a:r>
              <a:rPr lang="en-US" sz="1600" b="1" u="none" strike="noStrike">
                <a:solidFill>
                  <a:srgbClr val="D96B45"/>
                </a:solidFill>
                <a:effectLst/>
                <a:uFillTx/>
                <a:latin typeface="Segoe UI"/>
              </a:rPr>
              <a:t>▪ </a:t>
            </a:r>
            <a:r>
              <a:rPr lang="en-US" sz="1600" b="0" u="none" strike="noStrike">
                <a:solidFill>
                  <a:srgbClr val="222B3A"/>
                </a:solidFill>
                <a:effectLst/>
                <a:uFillTx/>
                <a:latin typeface="Segoe UI"/>
              </a:rPr>
              <a:t>A 0.4 score against a 0.4 ceiling is recognizable as a perfect result — not a mediocre one</a:t>
            </a:r>
            <a:endParaRPr lang="en-IN" sz="1600" b="0" u="none" strike="noStrike">
              <a:solidFill>
                <a:srgbClr val="000000"/>
              </a:solidFill>
              <a:effectLst/>
              <a:uFillTx/>
              <a:latin typeface="Arial"/>
            </a:endParaRPr>
          </a:p>
        </p:txBody>
      </p:sp>
      <p:sp>
        <p:nvSpPr>
          <p:cNvPr id="275" name="Rounded Rectangle 8"/>
          <p:cNvSpPr/>
          <p:nvPr/>
        </p:nvSpPr>
        <p:spPr>
          <a:xfrm>
            <a:off x="640080" y="3931920"/>
            <a:ext cx="10880640" cy="1919520"/>
          </a:xfrm>
          <a:prstGeom prst="roundRect">
            <a:avLst>
              <a:gd name="adj" fmla="val 8000"/>
            </a:avLst>
          </a:prstGeom>
          <a:solidFill>
            <a:srgbClr val="F3EFE7"/>
          </a:solidFill>
          <a:ln>
            <a:solidFill>
              <a:srgbClr val="E7E1D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76" name="TextBox 9"/>
          <p:cNvSpPr/>
          <p:nvPr/>
        </p:nvSpPr>
        <p:spPr>
          <a:xfrm>
            <a:off x="914400" y="4160520"/>
            <a:ext cx="10332000" cy="3650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00" b="1" u="none" strike="noStrike">
                <a:solidFill>
                  <a:srgbClr val="1E8A7A"/>
                </a:solidFill>
                <a:effectLst/>
                <a:uFillTx/>
                <a:latin typeface="Segoe UI Semibold"/>
              </a:rPr>
              <a:t>Example</a:t>
            </a:r>
            <a:endParaRPr lang="en-IN" sz="1300" b="0" u="none" strike="noStrike">
              <a:solidFill>
                <a:srgbClr val="000000"/>
              </a:solidFill>
              <a:effectLst/>
              <a:uFillTx/>
              <a:latin typeface="Arial"/>
            </a:endParaRPr>
          </a:p>
        </p:txBody>
      </p:sp>
      <p:sp>
        <p:nvSpPr>
          <p:cNvPr id="277" name="TextBox 10"/>
          <p:cNvSpPr/>
          <p:nvPr/>
        </p:nvSpPr>
        <p:spPr>
          <a:xfrm>
            <a:off x="914400" y="4572000"/>
            <a:ext cx="10332000" cy="1096560"/>
          </a:xfrm>
          <a:prstGeom prst="rect">
            <a:avLst/>
          </a:prstGeom>
          <a:noFill/>
          <a:ln w="0">
            <a:noFill/>
          </a:ln>
        </p:spPr>
        <p:style>
          <a:lnRef idx="0"/>
          <a:fillRef idx="0"/>
          <a:effectRef idx="0"/>
          <a:fontRef idx="minor"/>
        </p:style>
        <p:txBody>
          <a:bodyPr lIns="0" tIns="0" rIns="0" bIns="0" anchor="t">
            <a:spAutoFit/>
          </a:bodyPr>
          <a:p>
            <a:pPr defTabSz="457200">
              <a:lnSpc>
                <a:spcPct val="130000"/>
              </a:lnSpc>
            </a:pPr>
            <a:r>
              <a:rPr lang="en-US" sz="1550" b="0" u="none" strike="noStrike">
                <a:solidFill>
                  <a:srgbClr val="222B3A"/>
                </a:solidFill>
                <a:effectLst/>
                <a:uFillTx/>
                <a:latin typeface="Segoe UI Semibold"/>
              </a:rPr>
              <a:t>score = 0.40   vs.   ceiling = 0.40   →   this is the best any course in the catalogue can do for this learner — a perfect result, correctly labeled.</a:t>
            </a:r>
            <a:endParaRPr lang="en-IN" sz="15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Rectangle 1"/>
          <p:cNvSpPr/>
          <p:nvPr/>
        </p:nvSpPr>
        <p:spPr>
          <a:xfrm>
            <a:off x="0" y="0"/>
            <a:ext cx="12191040" cy="6857280"/>
          </a:xfrm>
          <a:prstGeom prst="rect">
            <a:avLst/>
          </a:prstGeom>
          <a:solidFill>
            <a:srgbClr val="FCFBF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79" name="TextBox 2"/>
          <p:cNvSpPr/>
          <p:nvPr/>
        </p:nvSpPr>
        <p:spPr>
          <a:xfrm>
            <a:off x="640080" y="384120"/>
            <a:ext cx="822888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00" b="1" u="none" strike="noStrike">
                <a:solidFill>
                  <a:srgbClr val="D96B45"/>
                </a:solidFill>
                <a:effectLst/>
                <a:uFillTx/>
                <a:latin typeface="Segoe UI Semibold"/>
              </a:rPr>
              <a:t>EVALUATION</a:t>
            </a:r>
            <a:endParaRPr lang="en-IN" sz="1300" b="0" u="none" strike="noStrike">
              <a:solidFill>
                <a:srgbClr val="000000"/>
              </a:solidFill>
              <a:effectLst/>
              <a:uFillTx/>
              <a:latin typeface="Arial"/>
            </a:endParaRPr>
          </a:p>
        </p:txBody>
      </p:sp>
      <p:sp>
        <p:nvSpPr>
          <p:cNvPr id="280" name="TextBox 3"/>
          <p:cNvSpPr/>
          <p:nvPr/>
        </p:nvSpPr>
        <p:spPr>
          <a:xfrm>
            <a:off x="640080" y="658440"/>
            <a:ext cx="9874800" cy="6850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3000" b="1" u="none" strike="noStrike">
                <a:solidFill>
                  <a:srgbClr val="222B3A"/>
                </a:solidFill>
                <a:effectLst/>
                <a:uFillTx/>
                <a:latin typeface="Segoe UI Semibold"/>
              </a:rPr>
              <a:t>Two protocols — the obvious one flatters the engine</a:t>
            </a:r>
            <a:endParaRPr lang="en-IN" sz="3000" b="0" u="none" strike="noStrike">
              <a:solidFill>
                <a:srgbClr val="000000"/>
              </a:solidFill>
              <a:effectLst/>
              <a:uFillTx/>
              <a:latin typeface="Arial"/>
            </a:endParaRPr>
          </a:p>
        </p:txBody>
      </p:sp>
      <p:sp>
        <p:nvSpPr>
          <p:cNvPr id="281" name="Rectangle 4"/>
          <p:cNvSpPr/>
          <p:nvPr/>
        </p:nvSpPr>
        <p:spPr>
          <a:xfrm>
            <a:off x="640080" y="1298520"/>
            <a:ext cx="822240" cy="50040"/>
          </a:xfrm>
          <a:prstGeom prst="rect">
            <a:avLst/>
          </a:prstGeom>
          <a:solidFill>
            <a:srgbClr val="D96B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760" rIns="90000" bIns="5760" anchor="ctr">
            <a:noAutofit/>
          </a:bodyPr>
          <a:p>
            <a:pPr/>
            <a:endParaRPr lang="en-US" sz="1800" b="0" u="none" strike="noStrike">
              <a:solidFill>
                <a:schemeClr val="lt1"/>
              </a:solidFill>
              <a:effectLst/>
              <a:uFillTx/>
              <a:latin typeface="Calibri"/>
            </a:endParaRPr>
          </a:p>
        </p:txBody>
      </p:sp>
      <p:sp>
        <p:nvSpPr>
          <p:cNvPr id="282" name="TextBox 5"/>
          <p:cNvSpPr/>
          <p:nvPr/>
        </p:nvSpPr>
        <p:spPr>
          <a:xfrm>
            <a:off x="11155680" y="6355080"/>
            <a:ext cx="822240" cy="3650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1400" b="0" u="none" strike="noStrike">
                <a:solidFill>
                  <a:srgbClr val="667080"/>
                </a:solidFill>
                <a:effectLst/>
                <a:uFillTx/>
                <a:latin typeface="Segoe UI Semibold"/>
              </a:rPr>
              <a:t>13</a:t>
            </a:r>
            <a:endParaRPr lang="en-IN" sz="1400" b="0" u="none" strike="noStrike">
              <a:solidFill>
                <a:srgbClr val="000000"/>
              </a:solidFill>
              <a:effectLst/>
              <a:uFillTx/>
              <a:latin typeface="Arial"/>
            </a:endParaRPr>
          </a:p>
        </p:txBody>
      </p:sp>
      <p:sp>
        <p:nvSpPr>
          <p:cNvPr id="283" name="TextBox 6"/>
          <p:cNvSpPr/>
          <p:nvPr/>
        </p:nvSpPr>
        <p:spPr>
          <a:xfrm>
            <a:off x="640080" y="6473880"/>
            <a:ext cx="548568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0" u="none" strike="noStrike">
                <a:solidFill>
                  <a:srgbClr val="667080"/>
                </a:solidFill>
                <a:effectLst/>
                <a:uFillTx/>
                <a:latin typeface="Segoe UI"/>
              </a:rPr>
              <a:t>Skill-Gap Course Recommendation Engine</a:t>
            </a:r>
            <a:endParaRPr lang="en-IN" sz="1000" b="0" u="none" strike="noStrike">
              <a:solidFill>
                <a:srgbClr val="000000"/>
              </a:solidFill>
              <a:effectLst/>
              <a:uFillTx/>
              <a:latin typeface="Arial"/>
            </a:endParaRPr>
          </a:p>
        </p:txBody>
      </p:sp>
      <p:sp>
        <p:nvSpPr>
          <p:cNvPr id="284" name="Rounded Rectangle 7"/>
          <p:cNvSpPr/>
          <p:nvPr/>
        </p:nvSpPr>
        <p:spPr>
          <a:xfrm>
            <a:off x="640080" y="1645920"/>
            <a:ext cx="5257080" cy="4205520"/>
          </a:xfrm>
          <a:prstGeom prst="roundRect">
            <a:avLst>
              <a:gd name="adj" fmla="val 8000"/>
            </a:avLst>
          </a:prstGeom>
          <a:solidFill>
            <a:srgbClr val="222B3A"/>
          </a:solidFill>
          <a:ln>
            <a:solidFill>
              <a:srgbClr val="222B3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85" name="Rectangle 8"/>
          <p:cNvSpPr/>
          <p:nvPr/>
        </p:nvSpPr>
        <p:spPr>
          <a:xfrm>
            <a:off x="640080" y="1645920"/>
            <a:ext cx="90720" cy="4205520"/>
          </a:xfrm>
          <a:prstGeom prst="rect">
            <a:avLst/>
          </a:prstGeom>
          <a:solidFill>
            <a:srgbClr val="C04B3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360" tIns="45000" rIns="45360" bIns="45000" anchor="ctr">
            <a:noAutofit/>
          </a:bodyPr>
          <a:p>
            <a:pPr/>
            <a:endParaRPr lang="en-US" sz="1800" b="0" u="none" strike="noStrike">
              <a:solidFill>
                <a:schemeClr val="lt1"/>
              </a:solidFill>
              <a:effectLst/>
              <a:uFillTx/>
              <a:latin typeface="Calibri"/>
            </a:endParaRPr>
          </a:p>
        </p:txBody>
      </p:sp>
      <p:sp>
        <p:nvSpPr>
          <p:cNvPr id="286" name="TextBox 9"/>
          <p:cNvSpPr/>
          <p:nvPr/>
        </p:nvSpPr>
        <p:spPr>
          <a:xfrm>
            <a:off x="960120" y="1874520"/>
            <a:ext cx="4708440" cy="639360"/>
          </a:xfrm>
          <a:prstGeom prst="rect">
            <a:avLst/>
          </a:prstGeom>
          <a:noFill/>
          <a:ln w="0">
            <a:noFill/>
          </a:ln>
        </p:spPr>
        <p:style>
          <a:lnRef idx="0"/>
          <a:fillRef idx="0"/>
          <a:effectRef idx="0"/>
          <a:fontRef idx="minor"/>
        </p:style>
        <p:txBody>
          <a:bodyPr lIns="0" tIns="0" rIns="0" bIns="0" anchor="t">
            <a:spAutoFit/>
          </a:bodyPr>
          <a:p>
            <a:pPr defTabSz="457200">
              <a:lnSpc>
                <a:spcPct val="110000"/>
              </a:lnSpc>
            </a:pPr>
            <a:r>
              <a:rPr lang="en-US" sz="1700" b="1" u="none" strike="noStrike">
                <a:solidFill>
                  <a:srgbClr val="FFFFFF"/>
                </a:solidFill>
                <a:effectLst/>
                <a:uFillTx/>
                <a:latin typeface="Segoe UI Semibold"/>
              </a:rPr>
              <a:t>Protocol A — Retrieval check</a:t>
            </a:r>
            <a:endParaRPr lang="en-IN" sz="1700" b="0" u="none" strike="noStrike">
              <a:solidFill>
                <a:srgbClr val="000000"/>
              </a:solidFill>
              <a:effectLst/>
              <a:uFillTx/>
              <a:latin typeface="Arial"/>
            </a:endParaRPr>
          </a:p>
        </p:txBody>
      </p:sp>
      <p:sp>
        <p:nvSpPr>
          <p:cNvPr id="287" name="TextBox 10"/>
          <p:cNvSpPr/>
          <p:nvPr/>
        </p:nvSpPr>
        <p:spPr>
          <a:xfrm>
            <a:off x="960120" y="2606040"/>
            <a:ext cx="470844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100" b="1" u="none" strike="noStrike">
                <a:solidFill>
                  <a:srgbClr val="C04B3D"/>
                </a:solidFill>
                <a:effectLst/>
                <a:uFillTx/>
                <a:latin typeface="Segoe UI Semibold"/>
              </a:rPr>
              <a:t>SETUP</a:t>
            </a:r>
            <a:endParaRPr lang="en-IN" sz="1100" b="0" u="none" strike="noStrike">
              <a:solidFill>
                <a:srgbClr val="000000"/>
              </a:solidFill>
              <a:effectLst/>
              <a:uFillTx/>
              <a:latin typeface="Arial"/>
            </a:endParaRPr>
          </a:p>
        </p:txBody>
      </p:sp>
      <p:sp>
        <p:nvSpPr>
          <p:cNvPr id="288" name="TextBox 11"/>
          <p:cNvSpPr/>
          <p:nvPr/>
        </p:nvSpPr>
        <p:spPr>
          <a:xfrm>
            <a:off x="960120" y="2926080"/>
            <a:ext cx="4708440" cy="1005120"/>
          </a:xfrm>
          <a:prstGeom prst="rect">
            <a:avLst/>
          </a:prstGeom>
          <a:noFill/>
          <a:ln w="0">
            <a:noFill/>
          </a:ln>
        </p:spPr>
        <p:style>
          <a:lnRef idx="0"/>
          <a:fillRef idx="0"/>
          <a:effectRef idx="0"/>
          <a:fontRef idx="minor"/>
        </p:style>
        <p:txBody>
          <a:bodyPr lIns="0" tIns="0" rIns="0" bIns="0" anchor="t">
            <a:spAutoFit/>
          </a:bodyPr>
          <a:p>
            <a:pPr defTabSz="457200">
              <a:lnSpc>
                <a:spcPct val="125000"/>
              </a:lnSpc>
            </a:pPr>
            <a:r>
              <a:rPr lang="en-US" sz="1350" b="0" u="none" strike="noStrike">
                <a:solidFill>
                  <a:srgbClr val="FFFFFF"/>
                </a:solidFill>
                <a:effectLst/>
                <a:uFillTx/>
                <a:latin typeface="Segoe UI"/>
              </a:rPr>
              <a:t>Hide ⅓ of a learner's skills, hand those same skills back as the target</a:t>
            </a:r>
            <a:endParaRPr lang="en-IN" sz="1350" b="0" u="none" strike="noStrike">
              <a:solidFill>
                <a:srgbClr val="000000"/>
              </a:solidFill>
              <a:effectLst/>
              <a:uFillTx/>
              <a:latin typeface="Arial"/>
            </a:endParaRPr>
          </a:p>
        </p:txBody>
      </p:sp>
      <p:sp>
        <p:nvSpPr>
          <p:cNvPr id="289" name="TextBox 12"/>
          <p:cNvSpPr/>
          <p:nvPr/>
        </p:nvSpPr>
        <p:spPr>
          <a:xfrm>
            <a:off x="960120" y="3977640"/>
            <a:ext cx="470844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100" b="1" u="none" strike="noStrike">
                <a:solidFill>
                  <a:srgbClr val="C04B3D"/>
                </a:solidFill>
                <a:effectLst/>
                <a:uFillTx/>
                <a:latin typeface="Segoe UI Semibold"/>
              </a:rPr>
              <a:t>WHAT IT TESTS</a:t>
            </a:r>
            <a:endParaRPr lang="en-IN" sz="1100" b="0" u="none" strike="noStrike">
              <a:solidFill>
                <a:srgbClr val="000000"/>
              </a:solidFill>
              <a:effectLst/>
              <a:uFillTx/>
              <a:latin typeface="Arial"/>
            </a:endParaRPr>
          </a:p>
        </p:txBody>
      </p:sp>
      <p:sp>
        <p:nvSpPr>
          <p:cNvPr id="290" name="TextBox 13"/>
          <p:cNvSpPr/>
          <p:nvPr/>
        </p:nvSpPr>
        <p:spPr>
          <a:xfrm>
            <a:off x="960120" y="4297680"/>
            <a:ext cx="4708440" cy="1462320"/>
          </a:xfrm>
          <a:prstGeom prst="rect">
            <a:avLst/>
          </a:prstGeom>
          <a:noFill/>
          <a:ln w="0">
            <a:noFill/>
          </a:ln>
        </p:spPr>
        <p:style>
          <a:lnRef idx="0"/>
          <a:fillRef idx="0"/>
          <a:effectRef idx="0"/>
          <a:fontRef idx="minor"/>
        </p:style>
        <p:txBody>
          <a:bodyPr lIns="0" tIns="0" rIns="0" bIns="0" anchor="t">
            <a:spAutoFit/>
          </a:bodyPr>
          <a:p>
            <a:pPr defTabSz="457200">
              <a:lnSpc>
                <a:spcPct val="125000"/>
              </a:lnSpc>
            </a:pPr>
            <a:r>
              <a:rPr lang="en-US" sz="1300" b="0" u="none" strike="noStrike">
                <a:solidFill>
                  <a:srgbClr val="A9B4C4"/>
                </a:solidFill>
                <a:effectLst/>
                <a:uFillTx/>
                <a:latin typeface="Segoe UI"/>
              </a:rPr>
              <a:t>Near-tautological — the engine optimizes for exactly what it was told to find. Confirms the ranker / bridge / index aren't broken.</a:t>
            </a:r>
            <a:endParaRPr lang="en-IN" sz="1300" b="0" u="none" strike="noStrike">
              <a:solidFill>
                <a:srgbClr val="000000"/>
              </a:solidFill>
              <a:effectLst/>
              <a:uFillTx/>
              <a:latin typeface="Arial"/>
            </a:endParaRPr>
          </a:p>
        </p:txBody>
      </p:sp>
      <p:sp>
        <p:nvSpPr>
          <p:cNvPr id="291" name="Rounded Rectangle 14"/>
          <p:cNvSpPr/>
          <p:nvPr/>
        </p:nvSpPr>
        <p:spPr>
          <a:xfrm>
            <a:off x="6263640" y="1645920"/>
            <a:ext cx="5257080" cy="4205520"/>
          </a:xfrm>
          <a:prstGeom prst="roundRect">
            <a:avLst>
              <a:gd name="adj" fmla="val 8000"/>
            </a:avLst>
          </a:prstGeom>
          <a:solidFill>
            <a:srgbClr val="222B3A"/>
          </a:solidFill>
          <a:ln>
            <a:solidFill>
              <a:srgbClr val="222B3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92" name="Rectangle 15"/>
          <p:cNvSpPr/>
          <p:nvPr/>
        </p:nvSpPr>
        <p:spPr>
          <a:xfrm>
            <a:off x="6263640" y="1645920"/>
            <a:ext cx="90720" cy="4205520"/>
          </a:xfrm>
          <a:prstGeom prst="rect">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45360" tIns="45000" rIns="45360" bIns="45000" anchor="ctr">
            <a:noAutofit/>
          </a:bodyPr>
          <a:p>
            <a:pPr/>
            <a:endParaRPr lang="en-US" sz="1800" b="0" u="none" strike="noStrike">
              <a:solidFill>
                <a:schemeClr val="lt1"/>
              </a:solidFill>
              <a:effectLst/>
              <a:uFillTx/>
              <a:latin typeface="Calibri"/>
            </a:endParaRPr>
          </a:p>
        </p:txBody>
      </p:sp>
      <p:sp>
        <p:nvSpPr>
          <p:cNvPr id="293" name="TextBox 16"/>
          <p:cNvSpPr/>
          <p:nvPr/>
        </p:nvSpPr>
        <p:spPr>
          <a:xfrm>
            <a:off x="6583680" y="1874520"/>
            <a:ext cx="4708440" cy="639360"/>
          </a:xfrm>
          <a:prstGeom prst="rect">
            <a:avLst/>
          </a:prstGeom>
          <a:noFill/>
          <a:ln w="0">
            <a:noFill/>
          </a:ln>
        </p:spPr>
        <p:style>
          <a:lnRef idx="0"/>
          <a:fillRef idx="0"/>
          <a:effectRef idx="0"/>
          <a:fontRef idx="minor"/>
        </p:style>
        <p:txBody>
          <a:bodyPr lIns="0" tIns="0" rIns="0" bIns="0" anchor="t">
            <a:spAutoFit/>
          </a:bodyPr>
          <a:p>
            <a:pPr defTabSz="457200">
              <a:lnSpc>
                <a:spcPct val="110000"/>
              </a:lnSpc>
            </a:pPr>
            <a:r>
              <a:rPr lang="en-US" sz="1700" b="1" u="none" strike="noStrike">
                <a:solidFill>
                  <a:srgbClr val="FFFFFF"/>
                </a:solidFill>
                <a:effectLst/>
                <a:uFillTx/>
                <a:latin typeface="Segoe UI Semibold"/>
              </a:rPr>
              <a:t>Protocol B — Peer-target prediction</a:t>
            </a:r>
            <a:endParaRPr lang="en-IN" sz="1700" b="0" u="none" strike="noStrike">
              <a:solidFill>
                <a:srgbClr val="000000"/>
              </a:solidFill>
              <a:effectLst/>
              <a:uFillTx/>
              <a:latin typeface="Arial"/>
            </a:endParaRPr>
          </a:p>
        </p:txBody>
      </p:sp>
      <p:sp>
        <p:nvSpPr>
          <p:cNvPr id="294" name="TextBox 17"/>
          <p:cNvSpPr/>
          <p:nvPr/>
        </p:nvSpPr>
        <p:spPr>
          <a:xfrm>
            <a:off x="6583680" y="2606040"/>
            <a:ext cx="470844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100" b="1" u="none" strike="noStrike">
                <a:solidFill>
                  <a:srgbClr val="2E8B57"/>
                </a:solidFill>
                <a:effectLst/>
                <a:uFillTx/>
                <a:latin typeface="Segoe UI Semibold"/>
              </a:rPr>
              <a:t>SETUP</a:t>
            </a:r>
            <a:endParaRPr lang="en-IN" sz="1100" b="0" u="none" strike="noStrike">
              <a:solidFill>
                <a:srgbClr val="000000"/>
              </a:solidFill>
              <a:effectLst/>
              <a:uFillTx/>
              <a:latin typeface="Arial"/>
            </a:endParaRPr>
          </a:p>
        </p:txBody>
      </p:sp>
      <p:sp>
        <p:nvSpPr>
          <p:cNvPr id="295" name="TextBox 18"/>
          <p:cNvSpPr/>
          <p:nvPr/>
        </p:nvSpPr>
        <p:spPr>
          <a:xfrm>
            <a:off x="6583680" y="2926080"/>
            <a:ext cx="4708440" cy="1005120"/>
          </a:xfrm>
          <a:prstGeom prst="rect">
            <a:avLst/>
          </a:prstGeom>
          <a:noFill/>
          <a:ln w="0">
            <a:noFill/>
          </a:ln>
        </p:spPr>
        <p:style>
          <a:lnRef idx="0"/>
          <a:fillRef idx="0"/>
          <a:effectRef idx="0"/>
          <a:fontRef idx="minor"/>
        </p:style>
        <p:txBody>
          <a:bodyPr lIns="0" tIns="0" rIns="0" bIns="0" anchor="t">
            <a:spAutoFit/>
          </a:bodyPr>
          <a:p>
            <a:pPr defTabSz="457200">
              <a:lnSpc>
                <a:spcPct val="125000"/>
              </a:lnSpc>
            </a:pPr>
            <a:r>
              <a:rPr lang="en-US" sz="1350" b="0" u="none" strike="noStrike">
                <a:solidFill>
                  <a:srgbClr val="FFFFFF"/>
                </a:solidFill>
                <a:effectLst/>
                <a:uFillTx/>
                <a:latin typeface="Segoe UI"/>
              </a:rPr>
              <a:t>Target = most common skills of peers in the same job title; the engine never sees the held-out skills</a:t>
            </a:r>
            <a:endParaRPr lang="en-IN" sz="1350" b="0" u="none" strike="noStrike">
              <a:solidFill>
                <a:srgbClr val="000000"/>
              </a:solidFill>
              <a:effectLst/>
              <a:uFillTx/>
              <a:latin typeface="Arial"/>
            </a:endParaRPr>
          </a:p>
        </p:txBody>
      </p:sp>
      <p:sp>
        <p:nvSpPr>
          <p:cNvPr id="296" name="TextBox 19"/>
          <p:cNvSpPr/>
          <p:nvPr/>
        </p:nvSpPr>
        <p:spPr>
          <a:xfrm>
            <a:off x="6583680" y="3977640"/>
            <a:ext cx="470844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100" b="1" u="none" strike="noStrike">
                <a:solidFill>
                  <a:srgbClr val="2E8B57"/>
                </a:solidFill>
                <a:effectLst/>
                <a:uFillTx/>
                <a:latin typeface="Segoe UI Semibold"/>
              </a:rPr>
              <a:t>WHAT IT TESTS</a:t>
            </a:r>
            <a:endParaRPr lang="en-IN" sz="1100" b="0" u="none" strike="noStrike">
              <a:solidFill>
                <a:srgbClr val="000000"/>
              </a:solidFill>
              <a:effectLst/>
              <a:uFillTx/>
              <a:latin typeface="Arial"/>
            </a:endParaRPr>
          </a:p>
        </p:txBody>
      </p:sp>
      <p:sp>
        <p:nvSpPr>
          <p:cNvPr id="297" name="TextBox 20"/>
          <p:cNvSpPr/>
          <p:nvPr/>
        </p:nvSpPr>
        <p:spPr>
          <a:xfrm>
            <a:off x="6583680" y="4297680"/>
            <a:ext cx="4708440" cy="1462320"/>
          </a:xfrm>
          <a:prstGeom prst="rect">
            <a:avLst/>
          </a:prstGeom>
          <a:noFill/>
          <a:ln w="0">
            <a:noFill/>
          </a:ln>
        </p:spPr>
        <p:style>
          <a:lnRef idx="0"/>
          <a:fillRef idx="0"/>
          <a:effectRef idx="0"/>
          <a:fontRef idx="minor"/>
        </p:style>
        <p:txBody>
          <a:bodyPr lIns="0" tIns="0" rIns="0" bIns="0" anchor="t">
            <a:spAutoFit/>
          </a:bodyPr>
          <a:p>
            <a:pPr defTabSz="457200">
              <a:lnSpc>
                <a:spcPct val="125000"/>
              </a:lnSpc>
            </a:pPr>
            <a:r>
              <a:rPr lang="en-US" sz="1300" b="0" u="none" strike="noStrike">
                <a:solidFill>
                  <a:srgbClr val="A9B4C4"/>
                </a:solidFill>
                <a:effectLst/>
                <a:uFillTx/>
                <a:latin typeface="Segoe UI"/>
              </a:rPr>
              <a:t>Genuine generalization: given who this person is and what their role demands, can the system surface what they're missing?</a:t>
            </a:r>
            <a:endParaRPr lang="en-IN"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 name="Rectangle 1"/>
          <p:cNvSpPr/>
          <p:nvPr/>
        </p:nvSpPr>
        <p:spPr>
          <a:xfrm>
            <a:off x="0" y="0"/>
            <a:ext cx="12191040" cy="6857280"/>
          </a:xfrm>
          <a:prstGeom prst="rect">
            <a:avLst/>
          </a:prstGeom>
          <a:solidFill>
            <a:srgbClr val="FCFBF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99" name="TextBox 2"/>
          <p:cNvSpPr/>
          <p:nvPr/>
        </p:nvSpPr>
        <p:spPr>
          <a:xfrm>
            <a:off x="640080" y="384120"/>
            <a:ext cx="822888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00" b="1" u="none" strike="noStrike">
                <a:solidFill>
                  <a:srgbClr val="D96B45"/>
                </a:solidFill>
                <a:effectLst/>
                <a:uFillTx/>
                <a:latin typeface="Segoe UI Semibold"/>
              </a:rPr>
              <a:t>EVALUATION</a:t>
            </a:r>
            <a:endParaRPr lang="en-IN" sz="1300" b="0" u="none" strike="noStrike">
              <a:solidFill>
                <a:srgbClr val="000000"/>
              </a:solidFill>
              <a:effectLst/>
              <a:uFillTx/>
              <a:latin typeface="Arial"/>
            </a:endParaRPr>
          </a:p>
        </p:txBody>
      </p:sp>
      <p:sp>
        <p:nvSpPr>
          <p:cNvPr id="300" name="TextBox 3"/>
          <p:cNvSpPr/>
          <p:nvPr/>
        </p:nvSpPr>
        <p:spPr>
          <a:xfrm>
            <a:off x="640080" y="658440"/>
            <a:ext cx="9874800" cy="6850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3000" b="1" u="none" strike="noStrike">
                <a:solidFill>
                  <a:srgbClr val="222B3A"/>
                </a:solidFill>
                <a:effectLst/>
                <a:uFillTx/>
                <a:latin typeface="Segoe UI Semibold"/>
              </a:rPr>
              <a:t>Results — 150 learners, recall@10</a:t>
            </a:r>
            <a:endParaRPr lang="en-IN" sz="3000" b="0" u="none" strike="noStrike">
              <a:solidFill>
                <a:srgbClr val="000000"/>
              </a:solidFill>
              <a:effectLst/>
              <a:uFillTx/>
              <a:latin typeface="Arial"/>
            </a:endParaRPr>
          </a:p>
        </p:txBody>
      </p:sp>
      <p:sp>
        <p:nvSpPr>
          <p:cNvPr id="301" name="Rectangle 4"/>
          <p:cNvSpPr/>
          <p:nvPr/>
        </p:nvSpPr>
        <p:spPr>
          <a:xfrm>
            <a:off x="640080" y="1298520"/>
            <a:ext cx="822240" cy="50040"/>
          </a:xfrm>
          <a:prstGeom prst="rect">
            <a:avLst/>
          </a:prstGeom>
          <a:solidFill>
            <a:srgbClr val="D96B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760" rIns="90000" bIns="5760" anchor="ctr">
            <a:noAutofit/>
          </a:bodyPr>
          <a:p>
            <a:pPr/>
            <a:endParaRPr lang="en-US" sz="1800" b="0" u="none" strike="noStrike">
              <a:solidFill>
                <a:schemeClr val="lt1"/>
              </a:solidFill>
              <a:effectLst/>
              <a:uFillTx/>
              <a:latin typeface="Calibri"/>
            </a:endParaRPr>
          </a:p>
        </p:txBody>
      </p:sp>
      <p:sp>
        <p:nvSpPr>
          <p:cNvPr id="302" name="TextBox 5"/>
          <p:cNvSpPr/>
          <p:nvPr/>
        </p:nvSpPr>
        <p:spPr>
          <a:xfrm>
            <a:off x="11155680" y="6355080"/>
            <a:ext cx="822240" cy="3650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1400" b="0" u="none" strike="noStrike">
                <a:solidFill>
                  <a:srgbClr val="667080"/>
                </a:solidFill>
                <a:effectLst/>
                <a:uFillTx/>
                <a:latin typeface="Segoe UI Semibold"/>
              </a:rPr>
              <a:t>14</a:t>
            </a:r>
            <a:endParaRPr lang="en-IN" sz="1400" b="0" u="none" strike="noStrike">
              <a:solidFill>
                <a:srgbClr val="000000"/>
              </a:solidFill>
              <a:effectLst/>
              <a:uFillTx/>
              <a:latin typeface="Arial"/>
            </a:endParaRPr>
          </a:p>
        </p:txBody>
      </p:sp>
      <p:sp>
        <p:nvSpPr>
          <p:cNvPr id="303" name="TextBox 6"/>
          <p:cNvSpPr/>
          <p:nvPr/>
        </p:nvSpPr>
        <p:spPr>
          <a:xfrm>
            <a:off x="640080" y="6473880"/>
            <a:ext cx="548568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0" u="none" strike="noStrike">
                <a:solidFill>
                  <a:srgbClr val="667080"/>
                </a:solidFill>
                <a:effectLst/>
                <a:uFillTx/>
                <a:latin typeface="Segoe UI"/>
              </a:rPr>
              <a:t>Skill-Gap Course Recommendation Engine</a:t>
            </a:r>
            <a:endParaRPr lang="en-IN" sz="1000" b="0" u="none" strike="noStrike">
              <a:solidFill>
                <a:srgbClr val="000000"/>
              </a:solidFill>
              <a:effectLst/>
              <a:uFillTx/>
              <a:latin typeface="Arial"/>
            </a:endParaRPr>
          </a:p>
        </p:txBody>
      </p:sp>
      <p:graphicFrame>
        <p:nvGraphicFramePr>
          <p:cNvPr id="304" name="Table 7"/>
          <p:cNvGraphicFramePr/>
          <p:nvPr/>
        </p:nvGraphicFramePr>
        <p:xfrm>
          <a:off x="640080" y="1645920"/>
          <a:ext cx="10881000" cy="2376000"/>
        </p:xfrm>
        <a:graphic>
          <a:graphicData uri="http://schemas.openxmlformats.org/drawingml/2006/table">
            <a:tbl>
              <a:tblPr/>
              <a:tblGrid>
                <a:gridCol w="3200400"/>
                <a:gridCol w="3840480"/>
                <a:gridCol w="3840480"/>
              </a:tblGrid>
              <a:tr h="475200">
                <a:tc>
                  <a:txBody>
                    <a:bodyPr lIns="101520" tIns="50760" rIns="101520" bIns="50760" anchor="ctr">
                      <a:noAutofit/>
                    </a:bodyPr>
                    <a:p>
                      <a:pPr defTabSz="457200">
                        <a:lnSpc>
                          <a:spcPct val="100000"/>
                        </a:lnSpc>
                      </a:pPr>
                      <a:r>
                        <a:rPr lang="en-US" sz="1450" b="1" u="none" strike="noStrike">
                          <a:solidFill>
                            <a:srgbClr val="FFFFFF"/>
                          </a:solidFill>
                          <a:effectLst/>
                          <a:uFillTx/>
                          <a:latin typeface="Segoe UI Semibold"/>
                        </a:rPr>
                        <a:t>recall@10</a:t>
                      </a:r>
                      <a:endParaRPr lang="en-IN" sz="1450" b="0" u="none" strike="noStrike">
                        <a:solidFill>
                          <a:srgbClr val="FFFFFF"/>
                        </a:solidFill>
                        <a:effectLst/>
                        <a:uFillTx/>
                        <a:latin typeface="Arial"/>
                      </a:endParaRPr>
                    </a:p>
                  </a:txBody>
                  <a:tcPr anchor="ctr" marL="101520" marR="10152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22B3A"/>
                    </a:solidFill>
                  </a:tcPr>
                </a:tc>
                <a:tc>
                  <a:txBody>
                    <a:bodyPr lIns="101520" tIns="50760" rIns="101520" bIns="50760" anchor="ctr">
                      <a:noAutofit/>
                    </a:bodyPr>
                    <a:p>
                      <a:pPr algn="ctr" defTabSz="457200">
                        <a:lnSpc>
                          <a:spcPct val="100000"/>
                        </a:lnSpc>
                      </a:pPr>
                      <a:r>
                        <a:rPr lang="en-US" sz="1450" b="1" u="none" strike="noStrike">
                          <a:solidFill>
                            <a:srgbClr val="FFFFFF"/>
                          </a:solidFill>
                          <a:effectLst/>
                          <a:uFillTx/>
                          <a:latin typeface="Segoe UI Semibold"/>
                        </a:rPr>
                        <a:t>Protocol A (retrieval)</a:t>
                      </a:r>
                      <a:endParaRPr lang="en-IN" sz="1450" b="0" u="none" strike="noStrike">
                        <a:solidFill>
                          <a:srgbClr val="FFFFFF"/>
                        </a:solidFill>
                        <a:effectLst/>
                        <a:uFillTx/>
                        <a:latin typeface="Arial"/>
                      </a:endParaRPr>
                    </a:p>
                  </a:txBody>
                  <a:tcPr anchor="ctr" marL="101520" marR="10152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22B3A"/>
                    </a:solidFill>
                  </a:tcPr>
                </a:tc>
                <a:tc>
                  <a:txBody>
                    <a:bodyPr lIns="101520" tIns="50760" rIns="101520" bIns="50760" anchor="ctr">
                      <a:noAutofit/>
                    </a:bodyPr>
                    <a:p>
                      <a:pPr algn="ctr" defTabSz="457200">
                        <a:lnSpc>
                          <a:spcPct val="100000"/>
                        </a:lnSpc>
                      </a:pPr>
                      <a:r>
                        <a:rPr lang="en-US" sz="1450" b="1" u="none" strike="noStrike">
                          <a:solidFill>
                            <a:srgbClr val="FFFFFF"/>
                          </a:solidFill>
                          <a:effectLst/>
                          <a:uFillTx/>
                          <a:latin typeface="Segoe UI Semibold"/>
                        </a:rPr>
                        <a:t>Protocol B (peer targets)</a:t>
                      </a:r>
                      <a:endParaRPr lang="en-IN" sz="1450" b="0" u="none" strike="noStrike">
                        <a:solidFill>
                          <a:srgbClr val="FFFFFF"/>
                        </a:solidFill>
                        <a:effectLst/>
                        <a:uFillTx/>
                        <a:latin typeface="Arial"/>
                      </a:endParaRPr>
                    </a:p>
                  </a:txBody>
                  <a:tcPr anchor="ctr" marL="101520" marR="10152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22B3A"/>
                    </a:solidFill>
                  </a:tcPr>
                </a:tc>
              </a:tr>
              <a:tr h="475200">
                <a:tc>
                  <a:txBody>
                    <a:bodyPr lIns="101520" tIns="37800" rIns="101520" bIns="37800" anchor="ctr">
                      <a:noAutofit/>
                    </a:bodyPr>
                    <a:p>
                      <a:pPr defTabSz="457200">
                        <a:lnSpc>
                          <a:spcPct val="100000"/>
                        </a:lnSpc>
                      </a:pPr>
                      <a:r>
                        <a:rPr lang="en-US" sz="1500" b="0" u="none" strike="noStrike">
                          <a:solidFill>
                            <a:srgbClr val="222B3A"/>
                          </a:solidFill>
                          <a:effectLst/>
                          <a:uFillTx/>
                          <a:latin typeface="Segoe UI"/>
                        </a:rPr>
                        <a:t>Engine</a:t>
                      </a:r>
                      <a:endParaRPr lang="en-IN" sz="15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101520" tIns="37800" rIns="101520" bIns="37800" anchor="ctr">
                      <a:noAutofit/>
                    </a:bodyPr>
                    <a:p>
                      <a:pPr algn="ctr" defTabSz="457200">
                        <a:lnSpc>
                          <a:spcPct val="100000"/>
                        </a:lnSpc>
                      </a:pPr>
                      <a:r>
                        <a:rPr lang="en-US" sz="1500" b="0" u="none" strike="noStrike">
                          <a:solidFill>
                            <a:srgbClr val="222B3A"/>
                          </a:solidFill>
                          <a:effectLst/>
                          <a:uFillTx/>
                          <a:latin typeface="Segoe UI"/>
                        </a:rPr>
                        <a:t>0.979</a:t>
                      </a:r>
                      <a:endParaRPr lang="en-IN" sz="15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101520" tIns="37800" rIns="101520" bIns="37800" anchor="ctr">
                      <a:noAutofit/>
                    </a:bodyPr>
                    <a:p>
                      <a:pPr algn="ctr" defTabSz="457200">
                        <a:lnSpc>
                          <a:spcPct val="100000"/>
                        </a:lnSpc>
                      </a:pPr>
                      <a:r>
                        <a:rPr lang="en-US" sz="1500" b="0" u="none" strike="noStrike">
                          <a:solidFill>
                            <a:srgbClr val="222B3A"/>
                          </a:solidFill>
                          <a:effectLst/>
                          <a:uFillTx/>
                          <a:latin typeface="Segoe UI"/>
                        </a:rPr>
                        <a:t>0.750</a:t>
                      </a:r>
                      <a:endParaRPr lang="en-IN" sz="15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75200">
                <a:tc>
                  <a:txBody>
                    <a:bodyPr lIns="101520" tIns="37800" rIns="101520" bIns="37800" anchor="ctr">
                      <a:noAutofit/>
                    </a:bodyPr>
                    <a:p>
                      <a:pPr defTabSz="457200">
                        <a:lnSpc>
                          <a:spcPct val="100000"/>
                        </a:lnSpc>
                      </a:pPr>
                      <a:r>
                        <a:rPr lang="en-US" sz="1500" b="0" u="none" strike="noStrike">
                          <a:solidFill>
                            <a:srgbClr val="222B3A"/>
                          </a:solidFill>
                          <a:effectLst/>
                          <a:uFillTx/>
                          <a:latin typeface="Segoe UI"/>
                        </a:rPr>
                        <a:t>Random baseline</a:t>
                      </a:r>
                      <a:endParaRPr lang="en-IN" sz="15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FE7"/>
                    </a:solidFill>
                  </a:tcPr>
                </a:tc>
                <a:tc>
                  <a:txBody>
                    <a:bodyPr lIns="101520" tIns="37800" rIns="101520" bIns="37800" anchor="ctr">
                      <a:noAutofit/>
                    </a:bodyPr>
                    <a:p>
                      <a:pPr algn="ctr" defTabSz="457200">
                        <a:lnSpc>
                          <a:spcPct val="100000"/>
                        </a:lnSpc>
                      </a:pPr>
                      <a:r>
                        <a:rPr lang="en-US" sz="1500" b="0" u="none" strike="noStrike">
                          <a:solidFill>
                            <a:srgbClr val="222B3A"/>
                          </a:solidFill>
                          <a:effectLst/>
                          <a:uFillTx/>
                          <a:latin typeface="Segoe UI"/>
                        </a:rPr>
                        <a:t>0.374</a:t>
                      </a:r>
                      <a:endParaRPr lang="en-IN" sz="15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FE7"/>
                    </a:solidFill>
                  </a:tcPr>
                </a:tc>
                <a:tc>
                  <a:txBody>
                    <a:bodyPr lIns="101520" tIns="37800" rIns="101520" bIns="37800" anchor="ctr">
                      <a:noAutofit/>
                    </a:bodyPr>
                    <a:p>
                      <a:pPr algn="ctr" defTabSz="457200">
                        <a:lnSpc>
                          <a:spcPct val="100000"/>
                        </a:lnSpc>
                      </a:pPr>
                      <a:r>
                        <a:rPr lang="en-US" sz="1500" b="0" u="none" strike="noStrike">
                          <a:solidFill>
                            <a:srgbClr val="222B3A"/>
                          </a:solidFill>
                          <a:effectLst/>
                          <a:uFillTx/>
                          <a:latin typeface="Segoe UI"/>
                        </a:rPr>
                        <a:t>0.378</a:t>
                      </a:r>
                      <a:endParaRPr lang="en-IN" sz="15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FE7"/>
                    </a:solidFill>
                  </a:tcPr>
                </a:tc>
              </a:tr>
              <a:tr h="475200">
                <a:tc>
                  <a:txBody>
                    <a:bodyPr lIns="101520" tIns="37800" rIns="101520" bIns="37800" anchor="ctr">
                      <a:noAutofit/>
                    </a:bodyPr>
                    <a:p>
                      <a:pPr defTabSz="457200">
                        <a:lnSpc>
                          <a:spcPct val="100000"/>
                        </a:lnSpc>
                      </a:pPr>
                      <a:r>
                        <a:rPr lang="en-US" sz="1500" b="0" u="none" strike="noStrike">
                          <a:solidFill>
                            <a:srgbClr val="222B3A"/>
                          </a:solidFill>
                          <a:effectLst/>
                          <a:uFillTx/>
                          <a:latin typeface="Segoe UI"/>
                        </a:rPr>
                        <a:t>Popularity baseline</a:t>
                      </a:r>
                      <a:endParaRPr lang="en-IN" sz="15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101520" tIns="37800" rIns="101520" bIns="37800" anchor="ctr">
                      <a:noAutofit/>
                    </a:bodyPr>
                    <a:p>
                      <a:pPr algn="ctr" defTabSz="457200">
                        <a:lnSpc>
                          <a:spcPct val="100000"/>
                        </a:lnSpc>
                      </a:pPr>
                      <a:r>
                        <a:rPr lang="en-US" sz="1500" b="0" u="none" strike="noStrike">
                          <a:solidFill>
                            <a:srgbClr val="222B3A"/>
                          </a:solidFill>
                          <a:effectLst/>
                          <a:uFillTx/>
                          <a:latin typeface="Segoe UI"/>
                        </a:rPr>
                        <a:t>0.110</a:t>
                      </a:r>
                      <a:endParaRPr lang="en-IN" sz="15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101520" tIns="37800" rIns="101520" bIns="37800" anchor="ctr">
                      <a:noAutofit/>
                    </a:bodyPr>
                    <a:p>
                      <a:pPr algn="ctr" defTabSz="457200">
                        <a:lnSpc>
                          <a:spcPct val="100000"/>
                        </a:lnSpc>
                      </a:pPr>
                      <a:r>
                        <a:rPr lang="en-US" sz="1500" b="0" u="none" strike="noStrike">
                          <a:solidFill>
                            <a:srgbClr val="222B3A"/>
                          </a:solidFill>
                          <a:effectLst/>
                          <a:uFillTx/>
                          <a:latin typeface="Segoe UI"/>
                        </a:rPr>
                        <a:t>0.098</a:t>
                      </a:r>
                      <a:endParaRPr lang="en-IN" sz="15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75200">
                <a:tc>
                  <a:txBody>
                    <a:bodyPr lIns="101520" tIns="37800" rIns="101520" bIns="37800" anchor="ctr">
                      <a:noAutofit/>
                    </a:bodyPr>
                    <a:p>
                      <a:pPr defTabSz="457200">
                        <a:lnSpc>
                          <a:spcPct val="100000"/>
                        </a:lnSpc>
                      </a:pPr>
                      <a:r>
                        <a:rPr lang="en-US" sz="1500" b="0" u="none" strike="noStrike">
                          <a:solidFill>
                            <a:srgbClr val="222B3A"/>
                          </a:solidFill>
                          <a:effectLst/>
                          <a:uFillTx/>
                          <a:latin typeface="Segoe UI"/>
                        </a:rPr>
                        <a:t>Lift vs. popularity</a:t>
                      </a:r>
                      <a:endParaRPr lang="en-IN" sz="15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FE7"/>
                    </a:solidFill>
                  </a:tcPr>
                </a:tc>
                <a:tc>
                  <a:txBody>
                    <a:bodyPr lIns="101520" tIns="37800" rIns="101520" bIns="37800" anchor="ctr">
                      <a:noAutofit/>
                    </a:bodyPr>
                    <a:p>
                      <a:pPr algn="ctr" defTabSz="457200">
                        <a:lnSpc>
                          <a:spcPct val="100000"/>
                        </a:lnSpc>
                      </a:pPr>
                      <a:r>
                        <a:rPr lang="en-US" sz="1500" b="0" u="none" strike="noStrike">
                          <a:solidFill>
                            <a:srgbClr val="222B3A"/>
                          </a:solidFill>
                          <a:effectLst/>
                          <a:uFillTx/>
                          <a:latin typeface="Segoe UI"/>
                        </a:rPr>
                        <a:t>8.90×</a:t>
                      </a:r>
                      <a:endParaRPr lang="en-IN" sz="15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FE7"/>
                    </a:solidFill>
                  </a:tcPr>
                </a:tc>
                <a:tc>
                  <a:txBody>
                    <a:bodyPr lIns="101520" tIns="37800" rIns="101520" bIns="37800" anchor="ctr">
                      <a:noAutofit/>
                    </a:bodyPr>
                    <a:p>
                      <a:pPr algn="ctr" defTabSz="457200">
                        <a:lnSpc>
                          <a:spcPct val="100000"/>
                        </a:lnSpc>
                      </a:pPr>
                      <a:r>
                        <a:rPr lang="en-US" sz="1500" b="0" u="none" strike="noStrike">
                          <a:solidFill>
                            <a:srgbClr val="222B3A"/>
                          </a:solidFill>
                          <a:effectLst/>
                          <a:uFillTx/>
                          <a:latin typeface="Segoe UI"/>
                        </a:rPr>
                        <a:t>7.65×</a:t>
                      </a:r>
                      <a:endParaRPr lang="en-IN" sz="15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FE7"/>
                    </a:solidFill>
                  </a:tcPr>
                </a:tc>
              </a:tr>
            </a:tbl>
          </a:graphicData>
        </a:graphic>
      </p:graphicFrame>
      <p:sp>
        <p:nvSpPr>
          <p:cNvPr id="305" name="Rounded Rectangle 8"/>
          <p:cNvSpPr/>
          <p:nvPr/>
        </p:nvSpPr>
        <p:spPr>
          <a:xfrm>
            <a:off x="640080" y="4343400"/>
            <a:ext cx="10880640" cy="1690920"/>
          </a:xfrm>
          <a:prstGeom prst="roundRect">
            <a:avLst>
              <a:gd name="adj" fmla="val 8000"/>
            </a:avLst>
          </a:prstGeom>
          <a:solidFill>
            <a:srgbClr val="222B3A"/>
          </a:solidFill>
          <a:ln>
            <a:solidFill>
              <a:srgbClr val="222B3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06" name="TextBox 9"/>
          <p:cNvSpPr/>
          <p:nvPr/>
        </p:nvSpPr>
        <p:spPr>
          <a:xfrm>
            <a:off x="914400" y="4526280"/>
            <a:ext cx="10332000" cy="3650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1" u="none" strike="noStrike">
                <a:solidFill>
                  <a:srgbClr val="D96B45"/>
                </a:solidFill>
                <a:effectLst/>
                <a:uFillTx/>
                <a:latin typeface="Segoe UI Semibold"/>
              </a:rPr>
              <a:t>HEADLINE NUMBER</a:t>
            </a:r>
            <a:endParaRPr lang="en-IN" sz="1200" b="0" u="none" strike="noStrike">
              <a:solidFill>
                <a:srgbClr val="000000"/>
              </a:solidFill>
              <a:effectLst/>
              <a:uFillTx/>
              <a:latin typeface="Arial"/>
            </a:endParaRPr>
          </a:p>
        </p:txBody>
      </p:sp>
      <p:sp>
        <p:nvSpPr>
          <p:cNvPr id="307" name="TextBox 10"/>
          <p:cNvSpPr/>
          <p:nvPr/>
        </p:nvSpPr>
        <p:spPr>
          <a:xfrm>
            <a:off x="914400" y="4892040"/>
            <a:ext cx="10332000" cy="1050840"/>
          </a:xfrm>
          <a:prstGeom prst="rect">
            <a:avLst/>
          </a:prstGeom>
          <a:noFill/>
          <a:ln w="0">
            <a:noFill/>
          </a:ln>
        </p:spPr>
        <p:style>
          <a:lnRef idx="0"/>
          <a:fillRef idx="0"/>
          <a:effectRef idx="0"/>
          <a:fontRef idx="minor"/>
        </p:style>
        <p:txBody>
          <a:bodyPr lIns="0" tIns="0" rIns="0" bIns="0" anchor="t">
            <a:spAutoFit/>
          </a:bodyPr>
          <a:p>
            <a:pPr defTabSz="457200">
              <a:lnSpc>
                <a:spcPct val="130000"/>
              </a:lnSpc>
            </a:pPr>
            <a:r>
              <a:rPr lang="en-US" sz="1600" b="0" u="none" strike="noStrike">
                <a:solidFill>
                  <a:srgbClr val="FFFFFF"/>
                </a:solidFill>
                <a:effectLst/>
                <a:uFillTx/>
                <a:latin typeface="Segoe UI"/>
              </a:rPr>
              <a:t>Only Protocol B should be read as recommendation quality. 0.750 recall on skills the engine never saw, with peer-derived targets, is 7.65× the popularity baseline.</a:t>
            </a:r>
            <a:endParaRPr lang="en-IN"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Rectangle 1"/>
          <p:cNvSpPr/>
          <p:nvPr/>
        </p:nvSpPr>
        <p:spPr>
          <a:xfrm>
            <a:off x="0" y="0"/>
            <a:ext cx="12191040" cy="6857280"/>
          </a:xfrm>
          <a:prstGeom prst="rect">
            <a:avLst/>
          </a:prstGeom>
          <a:solidFill>
            <a:srgbClr val="FCFBF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09" name="TextBox 2"/>
          <p:cNvSpPr/>
          <p:nvPr/>
        </p:nvSpPr>
        <p:spPr>
          <a:xfrm>
            <a:off x="640080" y="384120"/>
            <a:ext cx="822888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00" b="1" u="none" strike="noStrike">
                <a:solidFill>
                  <a:srgbClr val="D96B45"/>
                </a:solidFill>
                <a:effectLst/>
                <a:uFillTx/>
                <a:latin typeface="Segoe UI Semibold"/>
              </a:rPr>
              <a:t>SERVING LAYER</a:t>
            </a:r>
            <a:endParaRPr lang="en-IN" sz="1300" b="0" u="none" strike="noStrike">
              <a:solidFill>
                <a:srgbClr val="000000"/>
              </a:solidFill>
              <a:effectLst/>
              <a:uFillTx/>
              <a:latin typeface="Arial"/>
            </a:endParaRPr>
          </a:p>
        </p:txBody>
      </p:sp>
      <p:sp>
        <p:nvSpPr>
          <p:cNvPr id="310" name="TextBox 3"/>
          <p:cNvSpPr/>
          <p:nvPr/>
        </p:nvSpPr>
        <p:spPr>
          <a:xfrm>
            <a:off x="640080" y="658440"/>
            <a:ext cx="9874800" cy="6850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3000" b="1" u="none" strike="noStrike">
                <a:solidFill>
                  <a:srgbClr val="222B3A"/>
                </a:solidFill>
                <a:effectLst/>
                <a:uFillTx/>
                <a:latin typeface="Segoe UI Semibold"/>
              </a:rPr>
              <a:t>The AI Training Agent</a:t>
            </a:r>
            <a:endParaRPr lang="en-IN" sz="3000" b="0" u="none" strike="noStrike">
              <a:solidFill>
                <a:srgbClr val="000000"/>
              </a:solidFill>
              <a:effectLst/>
              <a:uFillTx/>
              <a:latin typeface="Arial"/>
            </a:endParaRPr>
          </a:p>
        </p:txBody>
      </p:sp>
      <p:sp>
        <p:nvSpPr>
          <p:cNvPr id="311" name="Rectangle 4"/>
          <p:cNvSpPr/>
          <p:nvPr/>
        </p:nvSpPr>
        <p:spPr>
          <a:xfrm>
            <a:off x="640080" y="1298520"/>
            <a:ext cx="822240" cy="50040"/>
          </a:xfrm>
          <a:prstGeom prst="rect">
            <a:avLst/>
          </a:prstGeom>
          <a:solidFill>
            <a:srgbClr val="D96B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760" rIns="90000" bIns="5760" anchor="ctr">
            <a:noAutofit/>
          </a:bodyPr>
          <a:p>
            <a:pPr/>
            <a:endParaRPr lang="en-US" sz="1800" b="0" u="none" strike="noStrike">
              <a:solidFill>
                <a:schemeClr val="lt1"/>
              </a:solidFill>
              <a:effectLst/>
              <a:uFillTx/>
              <a:latin typeface="Calibri"/>
            </a:endParaRPr>
          </a:p>
        </p:txBody>
      </p:sp>
      <p:sp>
        <p:nvSpPr>
          <p:cNvPr id="312" name="TextBox 5"/>
          <p:cNvSpPr/>
          <p:nvPr/>
        </p:nvSpPr>
        <p:spPr>
          <a:xfrm>
            <a:off x="11155680" y="6355080"/>
            <a:ext cx="822240" cy="3650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1400" b="0" u="none" strike="noStrike">
                <a:solidFill>
                  <a:srgbClr val="667080"/>
                </a:solidFill>
                <a:effectLst/>
                <a:uFillTx/>
                <a:latin typeface="Segoe UI Semibold"/>
              </a:rPr>
              <a:t>15</a:t>
            </a:r>
            <a:endParaRPr lang="en-IN" sz="1400" b="0" u="none" strike="noStrike">
              <a:solidFill>
                <a:srgbClr val="000000"/>
              </a:solidFill>
              <a:effectLst/>
              <a:uFillTx/>
              <a:latin typeface="Arial"/>
            </a:endParaRPr>
          </a:p>
        </p:txBody>
      </p:sp>
      <p:sp>
        <p:nvSpPr>
          <p:cNvPr id="313" name="TextBox 6"/>
          <p:cNvSpPr/>
          <p:nvPr/>
        </p:nvSpPr>
        <p:spPr>
          <a:xfrm>
            <a:off x="640080" y="6473880"/>
            <a:ext cx="548568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0" u="none" strike="noStrike">
                <a:solidFill>
                  <a:srgbClr val="667080"/>
                </a:solidFill>
                <a:effectLst/>
                <a:uFillTx/>
                <a:latin typeface="Segoe UI"/>
              </a:rPr>
              <a:t>Skill-Gap Course Recommendation Engine</a:t>
            </a:r>
            <a:endParaRPr lang="en-IN" sz="1000" b="0" u="none" strike="noStrike">
              <a:solidFill>
                <a:srgbClr val="000000"/>
              </a:solidFill>
              <a:effectLst/>
              <a:uFillTx/>
              <a:latin typeface="Arial"/>
            </a:endParaRPr>
          </a:p>
        </p:txBody>
      </p:sp>
      <p:sp>
        <p:nvSpPr>
          <p:cNvPr id="314" name="TextBox 7"/>
          <p:cNvSpPr/>
          <p:nvPr/>
        </p:nvSpPr>
        <p:spPr>
          <a:xfrm>
            <a:off x="640080" y="1508760"/>
            <a:ext cx="10880640" cy="639360"/>
          </a:xfrm>
          <a:prstGeom prst="rect">
            <a:avLst/>
          </a:prstGeom>
          <a:noFill/>
          <a:ln w="0">
            <a:noFill/>
          </a:ln>
        </p:spPr>
        <p:style>
          <a:lnRef idx="0"/>
          <a:fillRef idx="0"/>
          <a:effectRef idx="0"/>
          <a:fontRef idx="minor"/>
        </p:style>
        <p:txBody>
          <a:bodyPr lIns="0" tIns="0" rIns="0" bIns="0" anchor="t">
            <a:spAutoFit/>
          </a:bodyPr>
          <a:p>
            <a:pPr defTabSz="457200">
              <a:lnSpc>
                <a:spcPct val="125000"/>
              </a:lnSpc>
            </a:pPr>
            <a:r>
              <a:rPr lang="en-US" sz="1400" b="0" i="1" u="none" strike="noStrike">
                <a:solidFill>
                  <a:srgbClr val="667080"/>
                </a:solidFill>
                <a:effectLst/>
                <a:uFillTx/>
                <a:latin typeface="Segoe UI"/>
              </a:rPr>
              <a:t>Design principle: the LLM never invents a ranking or a skill list — it only extracts and grounds, then calls into engine.py for every number it reports.</a:t>
            </a:r>
            <a:endParaRPr lang="en-IN" sz="1400" b="0" u="none" strike="noStrike">
              <a:solidFill>
                <a:srgbClr val="000000"/>
              </a:solidFill>
              <a:effectLst/>
              <a:uFillTx/>
              <a:latin typeface="Arial"/>
            </a:endParaRPr>
          </a:p>
        </p:txBody>
      </p:sp>
      <p:sp>
        <p:nvSpPr>
          <p:cNvPr id="315" name="Rounded Rectangle 8"/>
          <p:cNvSpPr/>
          <p:nvPr/>
        </p:nvSpPr>
        <p:spPr>
          <a:xfrm>
            <a:off x="640080" y="2286000"/>
            <a:ext cx="3382560" cy="867960"/>
          </a:xfrm>
          <a:prstGeom prst="roundRect">
            <a:avLst>
              <a:gd name="adj" fmla="val 12000"/>
            </a:avLst>
          </a:prstGeom>
          <a:solidFill>
            <a:srgbClr val="222B3A"/>
          </a:solidFill>
          <a:ln w="15875">
            <a:solidFill>
              <a:srgbClr val="D96B4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6320" tIns="45000" rIns="76320" bIns="45000" anchor="ctr">
            <a:noAutofit/>
          </a:bodyPr>
          <a:p>
            <a:pPr>
              <a:lnSpc>
                <a:spcPct val="100000"/>
              </a:lnSpc>
            </a:pPr>
            <a:r>
              <a:rPr lang="en-US" sz="1200" b="1" u="none" strike="noStrike">
                <a:solidFill>
                  <a:srgbClr val="FFFFFF"/>
                </a:solidFill>
                <a:effectLst/>
                <a:uFillTx/>
                <a:latin typeface="Segoe UI Semibold"/>
              </a:rPr>
              <a:t>Learner message</a:t>
            </a:r>
            <a:endParaRPr lang="en-IN" sz="1200" b="0" u="none" strike="noStrike">
              <a:solidFill>
                <a:srgbClr val="FFFFFF"/>
              </a:solidFill>
              <a:effectLst/>
              <a:uFillTx/>
              <a:latin typeface="Arial"/>
            </a:endParaRPr>
          </a:p>
          <a:p>
            <a:pPr>
              <a:lnSpc>
                <a:spcPct val="100000"/>
              </a:lnSpc>
            </a:pPr>
            <a:r>
              <a:rPr lang="en-US" sz="1200" b="1" u="none" strike="noStrike">
                <a:solidFill>
                  <a:srgbClr val="FFFFFF"/>
                </a:solidFill>
                <a:effectLst/>
                <a:uFillTx/>
                <a:latin typeface="Segoe UI Semibold"/>
              </a:rPr>
              <a:t>"I know SQL &amp; Tableau,</a:t>
            </a:r>
            <a:endParaRPr lang="en-IN" sz="1200" b="0" u="none" strike="noStrike">
              <a:solidFill>
                <a:srgbClr val="FFFFFF"/>
              </a:solidFill>
              <a:effectLst/>
              <a:uFillTx/>
              <a:latin typeface="Arial"/>
            </a:endParaRPr>
          </a:p>
          <a:p>
            <a:pPr algn="ctr" defTabSz="457200">
              <a:lnSpc>
                <a:spcPct val="100000"/>
              </a:lnSpc>
            </a:pPr>
            <a:r>
              <a:rPr lang="en-US" sz="1200" b="1" u="none" strike="noStrike">
                <a:solidFill>
                  <a:srgbClr val="FFFFFF"/>
                </a:solidFill>
                <a:effectLst/>
                <a:uFillTx/>
                <a:latin typeface="Segoe UI Semibold"/>
              </a:rPr>
              <a:t>want to be a data scientist"</a:t>
            </a:r>
            <a:endParaRPr lang="en-IN" sz="1200" b="0" u="none" strike="noStrike">
              <a:solidFill>
                <a:srgbClr val="FFFFFF"/>
              </a:solidFill>
              <a:effectLst/>
              <a:uFillTx/>
              <a:latin typeface="Arial"/>
            </a:endParaRPr>
          </a:p>
        </p:txBody>
      </p:sp>
      <p:cxnSp>
        <p:nvCxnSpPr>
          <p:cNvPr id="316" name="Connector 9"/>
          <p:cNvCxnSpPr/>
          <p:nvPr/>
        </p:nvCxnSpPr>
        <p:spPr>
          <a:xfrm>
            <a:off x="4023360" y="2720160"/>
            <a:ext cx="320760" cy="720"/>
          </a:xfrm>
          <a:prstGeom prst="straightConnector1">
            <a:avLst/>
          </a:prstGeom>
          <a:ln w="28575">
            <a:solidFill>
              <a:srgbClr val="D96B45"/>
            </a:solidFill>
            <a:round/>
            <a:tailEnd len="med" type="triangle" w="med"/>
          </a:ln>
        </p:spPr>
      </p:cxnSp>
      <p:sp>
        <p:nvSpPr>
          <p:cNvPr id="317" name="Rounded Rectangle 10"/>
          <p:cNvSpPr/>
          <p:nvPr/>
        </p:nvSpPr>
        <p:spPr>
          <a:xfrm>
            <a:off x="4343400" y="2286000"/>
            <a:ext cx="3382560" cy="867960"/>
          </a:xfrm>
          <a:prstGeom prst="roundRect">
            <a:avLst>
              <a:gd name="adj" fmla="val 12000"/>
            </a:avLst>
          </a:prstGeom>
          <a:solidFill>
            <a:srgbClr val="222B3A"/>
          </a:solidFill>
          <a:ln w="15875">
            <a:solidFill>
              <a:srgbClr val="D96B4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6320" tIns="45000" rIns="76320" bIns="45000" anchor="ctr">
            <a:noAutofit/>
          </a:bodyPr>
          <a:p>
            <a:pPr>
              <a:lnSpc>
                <a:spcPct val="100000"/>
              </a:lnSpc>
            </a:pPr>
            <a:r>
              <a:rPr lang="en-US" sz="1200" b="1" u="none" strike="noStrike">
                <a:solidFill>
                  <a:srgbClr val="FFFFFF"/>
                </a:solidFill>
                <a:effectLst/>
                <a:uFillTx/>
                <a:latin typeface="Segoe UI Semibold"/>
              </a:rPr>
              <a:t>lookup_role_skills()</a:t>
            </a:r>
            <a:endParaRPr lang="en-IN" sz="1200" b="0" u="none" strike="noStrike">
              <a:solidFill>
                <a:srgbClr val="FFFFFF"/>
              </a:solidFill>
              <a:effectLst/>
              <a:uFillTx/>
              <a:latin typeface="Arial"/>
            </a:endParaRPr>
          </a:p>
          <a:p>
            <a:pPr algn="ctr" defTabSz="457200">
              <a:lnSpc>
                <a:spcPct val="100000"/>
              </a:lnSpc>
            </a:pPr>
            <a:r>
              <a:rPr lang="en-US" sz="1200" b="1" u="none" strike="noStrike">
                <a:solidFill>
                  <a:srgbClr val="FFFFFF"/>
                </a:solidFill>
                <a:effectLst/>
                <a:uFillTx/>
                <a:latin typeface="Segoe UI Semibold"/>
              </a:rPr>
              <a:t>peer-derived target skills</a:t>
            </a:r>
            <a:endParaRPr lang="en-IN" sz="1200" b="0" u="none" strike="noStrike">
              <a:solidFill>
                <a:srgbClr val="FFFFFF"/>
              </a:solidFill>
              <a:effectLst/>
              <a:uFillTx/>
              <a:latin typeface="Arial"/>
            </a:endParaRPr>
          </a:p>
        </p:txBody>
      </p:sp>
      <p:cxnSp>
        <p:nvCxnSpPr>
          <p:cNvPr id="318" name="Connector 11"/>
          <p:cNvCxnSpPr/>
          <p:nvPr/>
        </p:nvCxnSpPr>
        <p:spPr>
          <a:xfrm>
            <a:off x="7726680" y="2720160"/>
            <a:ext cx="320760" cy="720"/>
          </a:xfrm>
          <a:prstGeom prst="straightConnector1">
            <a:avLst/>
          </a:prstGeom>
          <a:ln w="28575">
            <a:solidFill>
              <a:srgbClr val="D96B45"/>
            </a:solidFill>
            <a:round/>
            <a:tailEnd len="med" type="triangle" w="med"/>
          </a:ln>
        </p:spPr>
      </p:cxnSp>
      <p:sp>
        <p:nvSpPr>
          <p:cNvPr id="319" name="Rounded Rectangle 12"/>
          <p:cNvSpPr/>
          <p:nvPr/>
        </p:nvSpPr>
        <p:spPr>
          <a:xfrm>
            <a:off x="8046720" y="2286000"/>
            <a:ext cx="3382560" cy="867960"/>
          </a:xfrm>
          <a:prstGeom prst="roundRect">
            <a:avLst>
              <a:gd name="adj" fmla="val 12000"/>
            </a:avLst>
          </a:prstGeom>
          <a:solidFill>
            <a:srgbClr val="D96B45"/>
          </a:solidFill>
          <a:ln w="15875">
            <a:solidFill>
              <a:srgbClr val="D96B4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6320" tIns="45000" rIns="76320" bIns="45000" anchor="ctr">
            <a:noAutofit/>
          </a:bodyPr>
          <a:p>
            <a:pPr>
              <a:lnSpc>
                <a:spcPct val="100000"/>
              </a:lnSpc>
            </a:pPr>
            <a:r>
              <a:rPr lang="en-US" sz="1200" b="1" u="none" strike="noStrike">
                <a:solidFill>
                  <a:srgbClr val="FFFFFF"/>
                </a:solidFill>
                <a:effectLst/>
                <a:uFillTx/>
                <a:latin typeface="Segoe UI Semibold"/>
              </a:rPr>
              <a:t>recommend_courses()</a:t>
            </a:r>
            <a:endParaRPr lang="en-IN" sz="1200" b="0" u="none" strike="noStrike">
              <a:solidFill>
                <a:srgbClr val="FFFFFF"/>
              </a:solidFill>
              <a:effectLst/>
              <a:uFillTx/>
              <a:latin typeface="Arial"/>
            </a:endParaRPr>
          </a:p>
          <a:p>
            <a:pPr algn="ctr" defTabSz="457200">
              <a:lnSpc>
                <a:spcPct val="100000"/>
              </a:lnSpc>
            </a:pPr>
            <a:r>
              <a:rPr lang="en-US" sz="1200" b="1" u="none" strike="noStrike">
                <a:solidFill>
                  <a:srgbClr val="FFFFFF"/>
                </a:solidFill>
                <a:effectLst/>
                <a:uFillTx/>
                <a:latin typeface="Segoe UI Semibold"/>
              </a:rPr>
              <a:t>ranked list + gap diagnostics</a:t>
            </a:r>
            <a:endParaRPr lang="en-IN" sz="1200" b="0" u="none" strike="noStrike">
              <a:solidFill>
                <a:srgbClr val="FFFFFF"/>
              </a:solidFill>
              <a:effectLst/>
              <a:uFillTx/>
              <a:latin typeface="Arial"/>
            </a:endParaRPr>
          </a:p>
        </p:txBody>
      </p:sp>
      <p:sp>
        <p:nvSpPr>
          <p:cNvPr id="320" name="TextBox 13"/>
          <p:cNvSpPr/>
          <p:nvPr/>
        </p:nvSpPr>
        <p:spPr>
          <a:xfrm>
            <a:off x="640080" y="3429000"/>
            <a:ext cx="1088064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00" b="1" u="none" strike="noStrike">
                <a:solidFill>
                  <a:srgbClr val="1E8A7A"/>
                </a:solidFill>
                <a:effectLst/>
                <a:uFillTx/>
                <a:latin typeface="Segoe UI Semibold"/>
              </a:rPr>
              <a:t>Two tools exposed to Gemini</a:t>
            </a:r>
            <a:endParaRPr lang="en-IN" sz="1300" b="0" u="none" strike="noStrike">
              <a:solidFill>
                <a:srgbClr val="000000"/>
              </a:solidFill>
              <a:effectLst/>
              <a:uFillTx/>
              <a:latin typeface="Arial"/>
            </a:endParaRPr>
          </a:p>
        </p:txBody>
      </p:sp>
      <p:sp>
        <p:nvSpPr>
          <p:cNvPr id="321" name="TextBox 14"/>
          <p:cNvSpPr/>
          <p:nvPr/>
        </p:nvSpPr>
        <p:spPr>
          <a:xfrm>
            <a:off x="640080" y="3794760"/>
            <a:ext cx="10880640" cy="1005120"/>
          </a:xfrm>
          <a:prstGeom prst="rect">
            <a:avLst/>
          </a:prstGeom>
          <a:noFill/>
          <a:ln w="0">
            <a:noFill/>
          </a:ln>
        </p:spPr>
        <p:style>
          <a:lnRef idx="0"/>
          <a:fillRef idx="0"/>
          <a:effectRef idx="0"/>
          <a:fontRef idx="minor"/>
        </p:style>
        <p:txBody>
          <a:bodyPr lIns="0" tIns="0" rIns="0" bIns="0" anchor="t">
            <a:spAutoFit/>
          </a:bodyPr>
          <a:p>
            <a:pPr defTabSz="457200">
              <a:lnSpc>
                <a:spcPct val="120000"/>
              </a:lnSpc>
              <a:spcAft>
                <a:spcPts val="799"/>
              </a:spcAft>
            </a:pPr>
            <a:r>
              <a:rPr lang="en-US" sz="1350" b="1" u="none" strike="noStrike">
                <a:solidFill>
                  <a:srgbClr val="D96B45"/>
                </a:solidFill>
                <a:effectLst/>
                <a:uFillTx/>
                <a:latin typeface="Segoe UI"/>
              </a:rPr>
              <a:t>▪ </a:t>
            </a:r>
            <a:r>
              <a:rPr lang="en-US" sz="1350" b="0" u="none" strike="noStrike">
                <a:solidFill>
                  <a:srgbClr val="222B3A"/>
                </a:solidFill>
                <a:effectLst/>
                <a:uFillTx/>
                <a:latin typeface="Segoe UI"/>
              </a:rPr>
              <a:t>lookup_role_skills — grounds a stated career goal in real peer data instead of letting the LLM guess from training knowledge</a:t>
            </a:r>
            <a:endParaRPr lang="en-IN" sz="1350" b="0" u="none" strike="noStrike">
              <a:solidFill>
                <a:srgbClr val="000000"/>
              </a:solidFill>
              <a:effectLst/>
              <a:uFillTx/>
              <a:latin typeface="Arial"/>
            </a:endParaRPr>
          </a:p>
          <a:p>
            <a:pPr defTabSz="457200">
              <a:lnSpc>
                <a:spcPct val="120000"/>
              </a:lnSpc>
              <a:spcAft>
                <a:spcPts val="799"/>
              </a:spcAft>
            </a:pPr>
            <a:r>
              <a:rPr lang="en-US" sz="1350" b="1" u="none" strike="noStrike">
                <a:solidFill>
                  <a:srgbClr val="D96B45"/>
                </a:solidFill>
                <a:effectLst/>
                <a:uFillTx/>
                <a:latin typeface="Segoe UI"/>
              </a:rPr>
              <a:t>▪ </a:t>
            </a:r>
            <a:r>
              <a:rPr lang="en-US" sz="1350" b="0" u="none" strike="noStrike">
                <a:solidFill>
                  <a:srgbClr val="222B3A"/>
                </a:solidFill>
                <a:effectLst/>
                <a:uFillTx/>
                <a:latin typeface="Segoe UI"/>
              </a:rPr>
              <a:t>recommend_courses — the actual ranking call into engine.recommend()</a:t>
            </a:r>
            <a:endParaRPr lang="en-IN" sz="1350" b="0" u="none" strike="noStrike">
              <a:solidFill>
                <a:srgbClr val="000000"/>
              </a:solidFill>
              <a:effectLst/>
              <a:uFillTx/>
              <a:latin typeface="Arial"/>
            </a:endParaRPr>
          </a:p>
        </p:txBody>
      </p:sp>
      <p:sp>
        <p:nvSpPr>
          <p:cNvPr id="322" name="Rounded Rectangle 15"/>
          <p:cNvSpPr/>
          <p:nvPr/>
        </p:nvSpPr>
        <p:spPr>
          <a:xfrm>
            <a:off x="640080" y="5074920"/>
            <a:ext cx="10880640" cy="1370880"/>
          </a:xfrm>
          <a:prstGeom prst="roundRect">
            <a:avLst>
              <a:gd name="adj" fmla="val 8000"/>
            </a:avLst>
          </a:prstGeom>
          <a:solidFill>
            <a:srgbClr val="222B3A"/>
          </a:solidFill>
          <a:ln>
            <a:solidFill>
              <a:srgbClr val="222B3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23" name="TextBox 16"/>
          <p:cNvSpPr/>
          <p:nvPr/>
        </p:nvSpPr>
        <p:spPr>
          <a:xfrm>
            <a:off x="914400" y="5230440"/>
            <a:ext cx="1033200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100" b="1" u="none" strike="noStrike">
                <a:solidFill>
                  <a:srgbClr val="D96B45"/>
                </a:solidFill>
                <a:effectLst/>
                <a:uFillTx/>
                <a:latin typeface="Segoe UI Semibold"/>
              </a:rPr>
              <a:t>ENGINEERING ISSUE FOUND &amp; FIXED</a:t>
            </a:r>
            <a:endParaRPr lang="en-IN" sz="1100" b="0" u="none" strike="noStrike">
              <a:solidFill>
                <a:srgbClr val="000000"/>
              </a:solidFill>
              <a:effectLst/>
              <a:uFillTx/>
              <a:latin typeface="Arial"/>
            </a:endParaRPr>
          </a:p>
        </p:txBody>
      </p:sp>
      <p:sp>
        <p:nvSpPr>
          <p:cNvPr id="324" name="TextBox 17"/>
          <p:cNvSpPr/>
          <p:nvPr/>
        </p:nvSpPr>
        <p:spPr>
          <a:xfrm>
            <a:off x="914400" y="5559480"/>
            <a:ext cx="10332000" cy="82224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250" b="0" u="none" strike="noStrike">
                <a:solidFill>
                  <a:srgbClr val="A9B4C4"/>
                </a:solidFill>
                <a:effectLst/>
                <a:uFillTx/>
                <a:latin typeface="Segoe UI"/>
              </a:rPr>
              <a:t>google-genai's automatic function-calling loop closed its internal HTTP client after the first tool round-trip, breaking any turn needing two sequential tool calls. Fixed by driving the tool-call loop manually.</a:t>
            </a:r>
            <a:endParaRPr lang="en-IN"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 name="Rectangle 1"/>
          <p:cNvSpPr/>
          <p:nvPr/>
        </p:nvSpPr>
        <p:spPr>
          <a:xfrm>
            <a:off x="0" y="0"/>
            <a:ext cx="12191040" cy="6857280"/>
          </a:xfrm>
          <a:prstGeom prst="rect">
            <a:avLst/>
          </a:prstGeom>
          <a:solidFill>
            <a:srgbClr val="FCFBF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26" name="TextBox 2"/>
          <p:cNvSpPr/>
          <p:nvPr/>
        </p:nvSpPr>
        <p:spPr>
          <a:xfrm>
            <a:off x="640080" y="384120"/>
            <a:ext cx="822888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00" b="1" u="none" strike="noStrike">
                <a:solidFill>
                  <a:srgbClr val="D96B45"/>
                </a:solidFill>
                <a:effectLst/>
                <a:uFillTx/>
                <a:latin typeface="Segoe UI Semibold"/>
              </a:rPr>
              <a:t>SERVING LAYER</a:t>
            </a:r>
            <a:endParaRPr lang="en-IN" sz="1300" b="0" u="none" strike="noStrike">
              <a:solidFill>
                <a:srgbClr val="000000"/>
              </a:solidFill>
              <a:effectLst/>
              <a:uFillTx/>
              <a:latin typeface="Arial"/>
            </a:endParaRPr>
          </a:p>
        </p:txBody>
      </p:sp>
      <p:sp>
        <p:nvSpPr>
          <p:cNvPr id="327" name="TextBox 3"/>
          <p:cNvSpPr/>
          <p:nvPr/>
        </p:nvSpPr>
        <p:spPr>
          <a:xfrm>
            <a:off x="640080" y="658440"/>
            <a:ext cx="9874800" cy="6850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3000" b="1" u="none" strike="noStrike">
                <a:solidFill>
                  <a:srgbClr val="222B3A"/>
                </a:solidFill>
                <a:effectLst/>
                <a:uFillTx/>
                <a:latin typeface="Segoe UI Semibold"/>
              </a:rPr>
              <a:t>API &amp; Dashboard</a:t>
            </a:r>
            <a:endParaRPr lang="en-IN" sz="3000" b="0" u="none" strike="noStrike">
              <a:solidFill>
                <a:srgbClr val="000000"/>
              </a:solidFill>
              <a:effectLst/>
              <a:uFillTx/>
              <a:latin typeface="Arial"/>
            </a:endParaRPr>
          </a:p>
        </p:txBody>
      </p:sp>
      <p:sp>
        <p:nvSpPr>
          <p:cNvPr id="328" name="Rectangle 4"/>
          <p:cNvSpPr/>
          <p:nvPr/>
        </p:nvSpPr>
        <p:spPr>
          <a:xfrm>
            <a:off x="640080" y="1298520"/>
            <a:ext cx="822240" cy="50040"/>
          </a:xfrm>
          <a:prstGeom prst="rect">
            <a:avLst/>
          </a:prstGeom>
          <a:solidFill>
            <a:srgbClr val="D96B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760" rIns="90000" bIns="5760" anchor="ctr">
            <a:noAutofit/>
          </a:bodyPr>
          <a:p>
            <a:pPr/>
            <a:endParaRPr lang="en-US" sz="1800" b="0" u="none" strike="noStrike">
              <a:solidFill>
                <a:schemeClr val="lt1"/>
              </a:solidFill>
              <a:effectLst/>
              <a:uFillTx/>
              <a:latin typeface="Calibri"/>
            </a:endParaRPr>
          </a:p>
        </p:txBody>
      </p:sp>
      <p:sp>
        <p:nvSpPr>
          <p:cNvPr id="329" name="TextBox 5"/>
          <p:cNvSpPr/>
          <p:nvPr/>
        </p:nvSpPr>
        <p:spPr>
          <a:xfrm>
            <a:off x="11155680" y="6355080"/>
            <a:ext cx="822240" cy="3650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1400" b="0" u="none" strike="noStrike">
                <a:solidFill>
                  <a:srgbClr val="667080"/>
                </a:solidFill>
                <a:effectLst/>
                <a:uFillTx/>
                <a:latin typeface="Segoe UI Semibold"/>
              </a:rPr>
              <a:t>16</a:t>
            </a:r>
            <a:endParaRPr lang="en-IN" sz="1400" b="0" u="none" strike="noStrike">
              <a:solidFill>
                <a:srgbClr val="000000"/>
              </a:solidFill>
              <a:effectLst/>
              <a:uFillTx/>
              <a:latin typeface="Arial"/>
            </a:endParaRPr>
          </a:p>
        </p:txBody>
      </p:sp>
      <p:sp>
        <p:nvSpPr>
          <p:cNvPr id="330" name="TextBox 6"/>
          <p:cNvSpPr/>
          <p:nvPr/>
        </p:nvSpPr>
        <p:spPr>
          <a:xfrm>
            <a:off x="640080" y="6473880"/>
            <a:ext cx="548568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0" u="none" strike="noStrike">
                <a:solidFill>
                  <a:srgbClr val="667080"/>
                </a:solidFill>
                <a:effectLst/>
                <a:uFillTx/>
                <a:latin typeface="Segoe UI"/>
              </a:rPr>
              <a:t>Skill-Gap Course Recommendation Engine</a:t>
            </a:r>
            <a:endParaRPr lang="en-IN" sz="1000" b="0" u="none" strike="noStrike">
              <a:solidFill>
                <a:srgbClr val="000000"/>
              </a:solidFill>
              <a:effectLst/>
              <a:uFillTx/>
              <a:latin typeface="Arial"/>
            </a:endParaRPr>
          </a:p>
        </p:txBody>
      </p:sp>
      <p:sp>
        <p:nvSpPr>
          <p:cNvPr id="331" name="TextBox 7"/>
          <p:cNvSpPr/>
          <p:nvPr/>
        </p:nvSpPr>
        <p:spPr>
          <a:xfrm>
            <a:off x="640080" y="1554480"/>
            <a:ext cx="5119920" cy="3650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500" b="1" u="none" strike="noStrike">
                <a:solidFill>
                  <a:srgbClr val="222B3A"/>
                </a:solidFill>
                <a:effectLst/>
                <a:uFillTx/>
                <a:latin typeface="Segoe UI Semibold"/>
              </a:rPr>
              <a:t>FastAPI (api.py)</a:t>
            </a:r>
            <a:endParaRPr lang="en-IN" sz="1500" b="0" u="none" strike="noStrike">
              <a:solidFill>
                <a:srgbClr val="000000"/>
              </a:solidFill>
              <a:effectLst/>
              <a:uFillTx/>
              <a:latin typeface="Arial"/>
            </a:endParaRPr>
          </a:p>
        </p:txBody>
      </p:sp>
      <p:graphicFrame>
        <p:nvGraphicFramePr>
          <p:cNvPr id="332" name="Table 8"/>
          <p:cNvGraphicFramePr/>
          <p:nvPr/>
        </p:nvGraphicFramePr>
        <p:xfrm>
          <a:off x="640080" y="1965960"/>
          <a:ext cx="5394600" cy="2148480"/>
        </p:xfrm>
        <a:graphic>
          <a:graphicData uri="http://schemas.openxmlformats.org/drawingml/2006/table">
            <a:tbl>
              <a:tblPr/>
              <a:tblGrid>
                <a:gridCol w="2194560"/>
                <a:gridCol w="3200400"/>
              </a:tblGrid>
              <a:tr h="537120">
                <a:tc>
                  <a:txBody>
                    <a:bodyPr lIns="101520" tIns="50760" rIns="101520" bIns="50760" anchor="ctr">
                      <a:noAutofit/>
                    </a:bodyPr>
                    <a:p>
                      <a:pPr defTabSz="457200">
                        <a:lnSpc>
                          <a:spcPct val="100000"/>
                        </a:lnSpc>
                      </a:pPr>
                      <a:r>
                        <a:rPr lang="en-US" sz="1200" b="1" u="none" strike="noStrike">
                          <a:solidFill>
                            <a:srgbClr val="FFFFFF"/>
                          </a:solidFill>
                          <a:effectLst/>
                          <a:uFillTx/>
                          <a:latin typeface="Segoe UI Semibold"/>
                        </a:rPr>
                        <a:t>Endpoint</a:t>
                      </a:r>
                      <a:endParaRPr lang="en-IN" sz="1200" b="0" u="none" strike="noStrike">
                        <a:solidFill>
                          <a:srgbClr val="FFFFFF"/>
                        </a:solidFill>
                        <a:effectLst/>
                        <a:uFillTx/>
                        <a:latin typeface="Arial"/>
                      </a:endParaRPr>
                    </a:p>
                  </a:txBody>
                  <a:tcPr anchor="ctr" marL="101520" marR="10152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22B3A"/>
                    </a:solidFill>
                  </a:tcPr>
                </a:tc>
                <a:tc>
                  <a:txBody>
                    <a:bodyPr lIns="101520" tIns="50760" rIns="101520" bIns="50760" anchor="ctr">
                      <a:noAutofit/>
                    </a:bodyPr>
                    <a:p>
                      <a:pPr defTabSz="457200">
                        <a:lnSpc>
                          <a:spcPct val="100000"/>
                        </a:lnSpc>
                      </a:pPr>
                      <a:r>
                        <a:rPr lang="en-US" sz="1200" b="1" u="none" strike="noStrike">
                          <a:solidFill>
                            <a:srgbClr val="FFFFFF"/>
                          </a:solidFill>
                          <a:effectLst/>
                          <a:uFillTx/>
                          <a:latin typeface="Segoe UI Semibold"/>
                        </a:rPr>
                        <a:t>Purpose</a:t>
                      </a:r>
                      <a:endParaRPr lang="en-IN" sz="1200" b="0" u="none" strike="noStrike">
                        <a:solidFill>
                          <a:srgbClr val="FFFFFF"/>
                        </a:solidFill>
                        <a:effectLst/>
                        <a:uFillTx/>
                        <a:latin typeface="Arial"/>
                      </a:endParaRPr>
                    </a:p>
                  </a:txBody>
                  <a:tcPr anchor="ctr" marL="101520" marR="10152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22B3A"/>
                    </a:solidFill>
                  </a:tcPr>
                </a:tc>
              </a:tr>
              <a:tr h="537120">
                <a:tc>
                  <a:txBody>
                    <a:bodyPr lIns="101520" tIns="37800" rIns="101520" bIns="37800" anchor="ctr">
                      <a:noAutofit/>
                    </a:bodyPr>
                    <a:p>
                      <a:pPr defTabSz="457200">
                        <a:lnSpc>
                          <a:spcPct val="100000"/>
                        </a:lnSpc>
                      </a:pPr>
                      <a:r>
                        <a:rPr lang="en-US" sz="1150" b="0" u="none" strike="noStrike">
                          <a:solidFill>
                            <a:srgbClr val="222B3A"/>
                          </a:solidFill>
                          <a:effectLst/>
                          <a:uFillTx/>
                          <a:latin typeface="Segoe UI"/>
                        </a:rPr>
                        <a:t>POST /recommend</a:t>
                      </a:r>
                      <a:endParaRPr lang="en-IN" sz="115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101520" tIns="37800" rIns="101520" bIns="37800" anchor="ctr">
                      <a:noAutofit/>
                    </a:bodyPr>
                    <a:p>
                      <a:pPr defTabSz="457200">
                        <a:lnSpc>
                          <a:spcPct val="100000"/>
                        </a:lnSpc>
                      </a:pPr>
                      <a:r>
                        <a:rPr lang="en-US" sz="1150" b="0" u="none" strike="noStrike">
                          <a:solidFill>
                            <a:srgbClr val="222B3A"/>
                          </a:solidFill>
                          <a:effectLst/>
                          <a:uFillTx/>
                          <a:latin typeface="Segoe UI"/>
                        </a:rPr>
                        <a:t>Direct engine call — no LLM, no API quota cost</a:t>
                      </a:r>
                      <a:endParaRPr lang="en-IN" sz="115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37120">
                <a:tc>
                  <a:txBody>
                    <a:bodyPr lIns="101520" tIns="37800" rIns="101520" bIns="37800" anchor="ctr">
                      <a:noAutofit/>
                    </a:bodyPr>
                    <a:p>
                      <a:pPr defTabSz="457200">
                        <a:lnSpc>
                          <a:spcPct val="100000"/>
                        </a:lnSpc>
                      </a:pPr>
                      <a:r>
                        <a:rPr lang="en-US" sz="1150" b="0" u="none" strike="noStrike">
                          <a:solidFill>
                            <a:srgbClr val="222B3A"/>
                          </a:solidFill>
                          <a:effectLst/>
                          <a:uFillTx/>
                          <a:latin typeface="Segoe UI"/>
                        </a:rPr>
                        <a:t>POST /recommend/{person_id}</a:t>
                      </a:r>
                      <a:endParaRPr lang="en-IN" sz="115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FE7"/>
                    </a:solidFill>
                  </a:tcPr>
                </a:tc>
                <a:tc>
                  <a:txBody>
                    <a:bodyPr lIns="101520" tIns="37800" rIns="101520" bIns="37800" anchor="ctr">
                      <a:noAutofit/>
                    </a:bodyPr>
                    <a:p>
                      <a:pPr defTabSz="457200">
                        <a:lnSpc>
                          <a:spcPct val="100000"/>
                        </a:lnSpc>
                      </a:pPr>
                      <a:r>
                        <a:rPr lang="en-US" sz="1150" b="0" u="none" strike="noStrike">
                          <a:solidFill>
                            <a:srgbClr val="222B3A"/>
                          </a:solidFill>
                          <a:effectLst/>
                          <a:uFillTx/>
                          <a:latin typeface="Segoe UI"/>
                        </a:rPr>
                        <a:t>Same, pulls current_skills from a stored profile</a:t>
                      </a:r>
                      <a:endParaRPr lang="en-IN" sz="115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FE7"/>
                    </a:solidFill>
                  </a:tcPr>
                </a:tc>
              </a:tr>
              <a:tr h="537120">
                <a:tc>
                  <a:txBody>
                    <a:bodyPr lIns="101520" tIns="37800" rIns="101520" bIns="37800" anchor="ctr">
                      <a:noAutofit/>
                    </a:bodyPr>
                    <a:p>
                      <a:pPr defTabSz="457200">
                        <a:lnSpc>
                          <a:spcPct val="100000"/>
                        </a:lnSpc>
                      </a:pPr>
                      <a:r>
                        <a:rPr lang="en-US" sz="1150" b="0" u="none" strike="noStrike">
                          <a:solidFill>
                            <a:srgbClr val="222B3A"/>
                          </a:solidFill>
                          <a:effectLst/>
                          <a:uFillTx/>
                          <a:latin typeface="Segoe UI"/>
                        </a:rPr>
                        <a:t>POST /chat</a:t>
                      </a:r>
                      <a:endParaRPr lang="en-IN" sz="115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101520" tIns="37800" rIns="101520" bIns="37800" anchor="ctr">
                      <a:noAutofit/>
                    </a:bodyPr>
                    <a:p>
                      <a:pPr defTabSz="457200">
                        <a:lnSpc>
                          <a:spcPct val="100000"/>
                        </a:lnSpc>
                      </a:pPr>
                      <a:r>
                        <a:rPr lang="en-US" sz="1150" b="0" u="none" strike="noStrike">
                          <a:solidFill>
                            <a:srgbClr val="222B3A"/>
                          </a:solidFill>
                          <a:effectLst/>
                          <a:uFillTx/>
                          <a:latin typeface="Segoe UI"/>
                        </a:rPr>
                        <a:t>AI agent over HTTP; Gemini 429s surfaced as proper HTTP status</a:t>
                      </a:r>
                      <a:endParaRPr lang="en-IN" sz="115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
        <p:nvSpPr>
          <p:cNvPr id="333" name="TextBox 9"/>
          <p:cNvSpPr/>
          <p:nvPr/>
        </p:nvSpPr>
        <p:spPr>
          <a:xfrm>
            <a:off x="6309360" y="1554480"/>
            <a:ext cx="5211360" cy="3650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500" b="1" u="none" strike="noStrike">
                <a:solidFill>
                  <a:srgbClr val="222B3A"/>
                </a:solidFill>
                <a:effectLst/>
                <a:uFillTx/>
                <a:latin typeface="Segoe UI Semibold"/>
              </a:rPr>
              <a:t>Streamlit dashboard (dashboard.py)</a:t>
            </a:r>
            <a:endParaRPr lang="en-IN" sz="1500" b="0" u="none" strike="noStrike">
              <a:solidFill>
                <a:srgbClr val="000000"/>
              </a:solidFill>
              <a:effectLst/>
              <a:uFillTx/>
              <a:latin typeface="Arial"/>
            </a:endParaRPr>
          </a:p>
        </p:txBody>
      </p:sp>
      <p:sp>
        <p:nvSpPr>
          <p:cNvPr id="334" name="Rounded Rectangle 10"/>
          <p:cNvSpPr/>
          <p:nvPr/>
        </p:nvSpPr>
        <p:spPr>
          <a:xfrm>
            <a:off x="6309360" y="2011680"/>
            <a:ext cx="5211360" cy="913680"/>
          </a:xfrm>
          <a:prstGeom prst="roundRect">
            <a:avLst>
              <a:gd name="adj" fmla="val 8000"/>
            </a:avLst>
          </a:prstGeom>
          <a:solidFill>
            <a:srgbClr val="F3EFE7"/>
          </a:solidFill>
          <a:ln>
            <a:solidFill>
              <a:srgbClr val="E7E1D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35" name="TextBox 11"/>
          <p:cNvSpPr/>
          <p:nvPr/>
        </p:nvSpPr>
        <p:spPr>
          <a:xfrm>
            <a:off x="6537960" y="2121480"/>
            <a:ext cx="475416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50" b="1" u="none" strike="noStrike">
                <a:solidFill>
                  <a:srgbClr val="1E8A7A"/>
                </a:solidFill>
                <a:effectLst/>
                <a:uFillTx/>
                <a:latin typeface="Segoe UI Semibold"/>
              </a:rPr>
              <a:t>1.  Chat with Agent</a:t>
            </a:r>
            <a:endParaRPr lang="en-IN" sz="1350" b="0" u="none" strike="noStrike">
              <a:solidFill>
                <a:srgbClr val="000000"/>
              </a:solidFill>
              <a:effectLst/>
              <a:uFillTx/>
              <a:latin typeface="Arial"/>
            </a:endParaRPr>
          </a:p>
        </p:txBody>
      </p:sp>
      <p:sp>
        <p:nvSpPr>
          <p:cNvPr id="336" name="TextBox 12"/>
          <p:cNvSpPr/>
          <p:nvPr/>
        </p:nvSpPr>
        <p:spPr>
          <a:xfrm>
            <a:off x="6537960" y="2450520"/>
            <a:ext cx="4754160" cy="410760"/>
          </a:xfrm>
          <a:prstGeom prst="rect">
            <a:avLst/>
          </a:prstGeom>
          <a:noFill/>
          <a:ln w="0">
            <a:noFill/>
          </a:ln>
        </p:spPr>
        <p:style>
          <a:lnRef idx="0"/>
          <a:fillRef idx="0"/>
          <a:effectRef idx="0"/>
          <a:fontRef idx="minor"/>
        </p:style>
        <p:txBody>
          <a:bodyPr lIns="0" tIns="0" rIns="0" bIns="0" anchor="t">
            <a:spAutoFit/>
          </a:bodyPr>
          <a:p>
            <a:pPr defTabSz="457200">
              <a:lnSpc>
                <a:spcPct val="115000"/>
              </a:lnSpc>
            </a:pPr>
            <a:r>
              <a:rPr lang="en-US" sz="1150" b="0" u="none" strike="noStrike">
                <a:solidFill>
                  <a:srgbClr val="222B3A"/>
                </a:solidFill>
                <a:effectLst/>
                <a:uFillTx/>
                <a:latin typeface="Segoe UI"/>
              </a:rPr>
              <a:t>Conversational recommendations; session-only API key, never written to disk</a:t>
            </a:r>
            <a:endParaRPr lang="en-IN" sz="1150" b="0" u="none" strike="noStrike">
              <a:solidFill>
                <a:srgbClr val="000000"/>
              </a:solidFill>
              <a:effectLst/>
              <a:uFillTx/>
              <a:latin typeface="Arial"/>
            </a:endParaRPr>
          </a:p>
        </p:txBody>
      </p:sp>
      <p:sp>
        <p:nvSpPr>
          <p:cNvPr id="337" name="Rounded Rectangle 13"/>
          <p:cNvSpPr/>
          <p:nvPr/>
        </p:nvSpPr>
        <p:spPr>
          <a:xfrm>
            <a:off x="6309360" y="3063240"/>
            <a:ext cx="5211360" cy="913680"/>
          </a:xfrm>
          <a:prstGeom prst="roundRect">
            <a:avLst>
              <a:gd name="adj" fmla="val 8000"/>
            </a:avLst>
          </a:prstGeom>
          <a:solidFill>
            <a:srgbClr val="F3EFE7"/>
          </a:solidFill>
          <a:ln>
            <a:solidFill>
              <a:srgbClr val="E7E1D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38" name="TextBox 14"/>
          <p:cNvSpPr/>
          <p:nvPr/>
        </p:nvSpPr>
        <p:spPr>
          <a:xfrm>
            <a:off x="6537960" y="3173040"/>
            <a:ext cx="475416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50" b="1" u="none" strike="noStrike">
                <a:solidFill>
                  <a:srgbClr val="1E8A7A"/>
                </a:solidFill>
                <a:effectLst/>
                <a:uFillTx/>
                <a:latin typeface="Segoe UI Semibold"/>
              </a:rPr>
              <a:t>2.  Direct Recommend</a:t>
            </a:r>
            <a:endParaRPr lang="en-IN" sz="1350" b="0" u="none" strike="noStrike">
              <a:solidFill>
                <a:srgbClr val="000000"/>
              </a:solidFill>
              <a:effectLst/>
              <a:uFillTx/>
              <a:latin typeface="Arial"/>
            </a:endParaRPr>
          </a:p>
        </p:txBody>
      </p:sp>
      <p:sp>
        <p:nvSpPr>
          <p:cNvPr id="339" name="TextBox 15"/>
          <p:cNvSpPr/>
          <p:nvPr/>
        </p:nvSpPr>
        <p:spPr>
          <a:xfrm>
            <a:off x="6537960" y="3502080"/>
            <a:ext cx="4754160" cy="410760"/>
          </a:xfrm>
          <a:prstGeom prst="rect">
            <a:avLst/>
          </a:prstGeom>
          <a:noFill/>
          <a:ln w="0">
            <a:noFill/>
          </a:ln>
        </p:spPr>
        <p:style>
          <a:lnRef idx="0"/>
          <a:fillRef idx="0"/>
          <a:effectRef idx="0"/>
          <a:fontRef idx="minor"/>
        </p:style>
        <p:txBody>
          <a:bodyPr lIns="0" tIns="0" rIns="0" bIns="0" anchor="t">
            <a:spAutoFit/>
          </a:bodyPr>
          <a:p>
            <a:pPr defTabSz="457200">
              <a:lnSpc>
                <a:spcPct val="115000"/>
              </a:lnSpc>
            </a:pPr>
            <a:r>
              <a:rPr lang="en-US" sz="1150" b="0" u="none" strike="noStrike">
                <a:solidFill>
                  <a:srgbClr val="222B3A"/>
                </a:solidFill>
                <a:effectLst/>
                <a:uFillTx/>
                <a:latin typeface="Segoe UI"/>
              </a:rPr>
              <a:t>Bypasses Gemini entirely — type skills or look up a stored person_id</a:t>
            </a:r>
            <a:endParaRPr lang="en-IN" sz="1150" b="0" u="none" strike="noStrike">
              <a:solidFill>
                <a:srgbClr val="000000"/>
              </a:solidFill>
              <a:effectLst/>
              <a:uFillTx/>
              <a:latin typeface="Arial"/>
            </a:endParaRPr>
          </a:p>
        </p:txBody>
      </p:sp>
      <p:sp>
        <p:nvSpPr>
          <p:cNvPr id="340" name="Rounded Rectangle 16"/>
          <p:cNvSpPr/>
          <p:nvPr/>
        </p:nvSpPr>
        <p:spPr>
          <a:xfrm>
            <a:off x="6309360" y="4114800"/>
            <a:ext cx="5211360" cy="913680"/>
          </a:xfrm>
          <a:prstGeom prst="roundRect">
            <a:avLst>
              <a:gd name="adj" fmla="val 8000"/>
            </a:avLst>
          </a:prstGeom>
          <a:solidFill>
            <a:srgbClr val="F3EFE7"/>
          </a:solidFill>
          <a:ln>
            <a:solidFill>
              <a:srgbClr val="E7E1D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41" name="TextBox 17"/>
          <p:cNvSpPr/>
          <p:nvPr/>
        </p:nvSpPr>
        <p:spPr>
          <a:xfrm>
            <a:off x="6537960" y="4224600"/>
            <a:ext cx="475416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50" b="1" u="none" strike="noStrike">
                <a:solidFill>
                  <a:srgbClr val="1E8A7A"/>
                </a:solidFill>
                <a:effectLst/>
                <a:uFillTx/>
                <a:latin typeface="Segoe UI Semibold"/>
              </a:rPr>
              <a:t>3.  Catalogue &amp; Learner Explorer</a:t>
            </a:r>
            <a:endParaRPr lang="en-IN" sz="1350" b="0" u="none" strike="noStrike">
              <a:solidFill>
                <a:srgbClr val="000000"/>
              </a:solidFill>
              <a:effectLst/>
              <a:uFillTx/>
              <a:latin typeface="Arial"/>
            </a:endParaRPr>
          </a:p>
        </p:txBody>
      </p:sp>
      <p:sp>
        <p:nvSpPr>
          <p:cNvPr id="342" name="TextBox 18"/>
          <p:cNvSpPr/>
          <p:nvPr/>
        </p:nvSpPr>
        <p:spPr>
          <a:xfrm>
            <a:off x="6537960" y="4553640"/>
            <a:ext cx="4754160" cy="410760"/>
          </a:xfrm>
          <a:prstGeom prst="rect">
            <a:avLst/>
          </a:prstGeom>
          <a:noFill/>
          <a:ln w="0">
            <a:noFill/>
          </a:ln>
        </p:spPr>
        <p:style>
          <a:lnRef idx="0"/>
          <a:fillRef idx="0"/>
          <a:effectRef idx="0"/>
          <a:fontRef idx="minor"/>
        </p:style>
        <p:txBody>
          <a:bodyPr lIns="0" tIns="0" rIns="0" bIns="0" anchor="t">
            <a:spAutoFit/>
          </a:bodyPr>
          <a:p>
            <a:pPr defTabSz="457200">
              <a:lnSpc>
                <a:spcPct val="115000"/>
              </a:lnSpc>
            </a:pPr>
            <a:r>
              <a:rPr lang="en-US" sz="1150" b="0" u="none" strike="noStrike">
                <a:solidFill>
                  <a:srgbClr val="222B3A"/>
                </a:solidFill>
                <a:effectLst/>
                <a:uFillTx/>
                <a:latin typeface="Segoe UI"/>
              </a:rPr>
              <a:t>Browse / search courses, learner profiles, skill vocabulary</a:t>
            </a:r>
            <a:endParaRPr lang="en-IN"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Rectangle 1"/>
          <p:cNvSpPr/>
          <p:nvPr/>
        </p:nvSpPr>
        <p:spPr>
          <a:xfrm>
            <a:off x="0" y="0"/>
            <a:ext cx="12191040" cy="6857280"/>
          </a:xfrm>
          <a:prstGeom prst="rect">
            <a:avLst/>
          </a:prstGeom>
          <a:solidFill>
            <a:srgbClr val="FCFBF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44" name="TextBox 2"/>
          <p:cNvSpPr/>
          <p:nvPr/>
        </p:nvSpPr>
        <p:spPr>
          <a:xfrm>
            <a:off x="640080" y="384120"/>
            <a:ext cx="822888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00" b="1" u="none" strike="noStrike">
                <a:solidFill>
                  <a:srgbClr val="D96B45"/>
                </a:solidFill>
                <a:effectLst/>
                <a:uFillTx/>
                <a:latin typeface="Segoe UI Semibold"/>
              </a:rPr>
              <a:t>BUSINESS IMPACT</a:t>
            </a:r>
            <a:endParaRPr lang="en-IN" sz="1300" b="0" u="none" strike="noStrike">
              <a:solidFill>
                <a:srgbClr val="000000"/>
              </a:solidFill>
              <a:effectLst/>
              <a:uFillTx/>
              <a:latin typeface="Arial"/>
            </a:endParaRPr>
          </a:p>
        </p:txBody>
      </p:sp>
      <p:sp>
        <p:nvSpPr>
          <p:cNvPr id="345" name="TextBox 3"/>
          <p:cNvSpPr/>
          <p:nvPr/>
        </p:nvSpPr>
        <p:spPr>
          <a:xfrm>
            <a:off x="640080" y="658440"/>
            <a:ext cx="9874800" cy="6850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3000" b="1" u="none" strike="noStrike">
                <a:solidFill>
                  <a:srgbClr val="222B3A"/>
                </a:solidFill>
                <a:effectLst/>
                <a:uFillTx/>
                <a:latin typeface="Segoe UI Semibold"/>
              </a:rPr>
              <a:t>Analytics report — key findings</a:t>
            </a:r>
            <a:endParaRPr lang="en-IN" sz="3000" b="0" u="none" strike="noStrike">
              <a:solidFill>
                <a:srgbClr val="000000"/>
              </a:solidFill>
              <a:effectLst/>
              <a:uFillTx/>
              <a:latin typeface="Arial"/>
            </a:endParaRPr>
          </a:p>
        </p:txBody>
      </p:sp>
      <p:sp>
        <p:nvSpPr>
          <p:cNvPr id="346" name="Rectangle 4"/>
          <p:cNvSpPr/>
          <p:nvPr/>
        </p:nvSpPr>
        <p:spPr>
          <a:xfrm>
            <a:off x="640080" y="1298520"/>
            <a:ext cx="822240" cy="50040"/>
          </a:xfrm>
          <a:prstGeom prst="rect">
            <a:avLst/>
          </a:prstGeom>
          <a:solidFill>
            <a:srgbClr val="D96B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760" rIns="90000" bIns="5760" anchor="ctr">
            <a:noAutofit/>
          </a:bodyPr>
          <a:p>
            <a:pPr/>
            <a:endParaRPr lang="en-US" sz="1800" b="0" u="none" strike="noStrike">
              <a:solidFill>
                <a:schemeClr val="lt1"/>
              </a:solidFill>
              <a:effectLst/>
              <a:uFillTx/>
              <a:latin typeface="Calibri"/>
            </a:endParaRPr>
          </a:p>
        </p:txBody>
      </p:sp>
      <p:sp>
        <p:nvSpPr>
          <p:cNvPr id="347" name="TextBox 5"/>
          <p:cNvSpPr/>
          <p:nvPr/>
        </p:nvSpPr>
        <p:spPr>
          <a:xfrm>
            <a:off x="11155680" y="6355080"/>
            <a:ext cx="822240" cy="3650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1400" b="0" u="none" strike="noStrike">
                <a:solidFill>
                  <a:srgbClr val="667080"/>
                </a:solidFill>
                <a:effectLst/>
                <a:uFillTx/>
                <a:latin typeface="Segoe UI Semibold"/>
              </a:rPr>
              <a:t>17</a:t>
            </a:r>
            <a:endParaRPr lang="en-IN" sz="1400" b="0" u="none" strike="noStrike">
              <a:solidFill>
                <a:srgbClr val="000000"/>
              </a:solidFill>
              <a:effectLst/>
              <a:uFillTx/>
              <a:latin typeface="Arial"/>
            </a:endParaRPr>
          </a:p>
        </p:txBody>
      </p:sp>
      <p:sp>
        <p:nvSpPr>
          <p:cNvPr id="348" name="TextBox 6"/>
          <p:cNvSpPr/>
          <p:nvPr/>
        </p:nvSpPr>
        <p:spPr>
          <a:xfrm>
            <a:off x="640080" y="6473880"/>
            <a:ext cx="548568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0" u="none" strike="noStrike">
                <a:solidFill>
                  <a:srgbClr val="667080"/>
                </a:solidFill>
                <a:effectLst/>
                <a:uFillTx/>
                <a:latin typeface="Segoe UI"/>
              </a:rPr>
              <a:t>Skill-Gap Course Recommendation Engine</a:t>
            </a:r>
            <a:endParaRPr lang="en-IN" sz="1000" b="0" u="none" strike="noStrike">
              <a:solidFill>
                <a:srgbClr val="000000"/>
              </a:solidFill>
              <a:effectLst/>
              <a:uFillTx/>
              <a:latin typeface="Arial"/>
            </a:endParaRPr>
          </a:p>
        </p:txBody>
      </p:sp>
      <p:sp>
        <p:nvSpPr>
          <p:cNvPr id="349" name="TextBox 7"/>
          <p:cNvSpPr/>
          <p:nvPr/>
        </p:nvSpPr>
        <p:spPr>
          <a:xfrm>
            <a:off x="640080" y="1508760"/>
            <a:ext cx="10880640" cy="3650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00" b="0" i="1" u="none" strike="noStrike">
                <a:solidFill>
                  <a:srgbClr val="667080"/>
                </a:solidFill>
                <a:effectLst/>
                <a:uFillTx/>
                <a:latin typeface="Segoe UI"/>
              </a:rPr>
              <a:t>04_analytics_report.ipynb imports engine.py directly — every figure traces to the exact code path the agent and API use.</a:t>
            </a:r>
            <a:endParaRPr lang="en-IN" sz="1300" b="0" u="none" strike="noStrike">
              <a:solidFill>
                <a:srgbClr val="000000"/>
              </a:solidFill>
              <a:effectLst/>
              <a:uFillTx/>
              <a:latin typeface="Arial"/>
            </a:endParaRPr>
          </a:p>
        </p:txBody>
      </p:sp>
      <p:sp>
        <p:nvSpPr>
          <p:cNvPr id="350" name="Oval 8"/>
          <p:cNvSpPr/>
          <p:nvPr/>
        </p:nvSpPr>
        <p:spPr>
          <a:xfrm>
            <a:off x="640080" y="2148840"/>
            <a:ext cx="145440" cy="145440"/>
          </a:xfrm>
          <a:prstGeom prst="ellipse">
            <a:avLst/>
          </a:prstGeom>
          <a:solidFill>
            <a:srgbClr val="D96B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2720" tIns="45000" rIns="72720" bIns="45000" anchor="ctr">
            <a:noAutofit/>
          </a:bodyPr>
          <a:p>
            <a:pPr/>
            <a:endParaRPr lang="en-US" sz="1800" b="0" u="none" strike="noStrike">
              <a:solidFill>
                <a:schemeClr val="lt1"/>
              </a:solidFill>
              <a:effectLst/>
              <a:uFillTx/>
              <a:latin typeface="Calibri"/>
            </a:endParaRPr>
          </a:p>
        </p:txBody>
      </p:sp>
      <p:sp>
        <p:nvSpPr>
          <p:cNvPr id="351" name="TextBox 9"/>
          <p:cNvSpPr/>
          <p:nvPr/>
        </p:nvSpPr>
        <p:spPr>
          <a:xfrm>
            <a:off x="960120" y="2103120"/>
            <a:ext cx="1042344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500" b="1" u="none" strike="noStrike">
                <a:solidFill>
                  <a:srgbClr val="222B3A"/>
                </a:solidFill>
                <a:effectLst/>
                <a:uFillTx/>
                <a:latin typeface="Segoe UI Semibold"/>
              </a:rPr>
              <a:t>Catalogue blind spots</a:t>
            </a:r>
            <a:endParaRPr lang="en-IN" sz="1500" b="0" u="none" strike="noStrike">
              <a:solidFill>
                <a:srgbClr val="000000"/>
              </a:solidFill>
              <a:effectLst/>
              <a:uFillTx/>
              <a:latin typeface="Arial"/>
            </a:endParaRPr>
          </a:p>
        </p:txBody>
      </p:sp>
      <p:sp>
        <p:nvSpPr>
          <p:cNvPr id="352" name="TextBox 10"/>
          <p:cNvSpPr/>
          <p:nvPr/>
        </p:nvSpPr>
        <p:spPr>
          <a:xfrm>
            <a:off x="960120" y="2468880"/>
            <a:ext cx="10423440" cy="95940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250" b="0" u="none" strike="noStrike">
                <a:solidFill>
                  <a:srgbClr val="667080"/>
                </a:solidFill>
                <a:effectLst/>
                <a:uFillTx/>
                <a:latin typeface="Segoe UI"/>
              </a:rPr>
              <a:t>Of the 15 most common learner-side skills, 13 are taught by zero courses (html, css, jquery, java, ajax, xml, mysql, html5, git, bootstrap, oracle, json, css3, jsp, jira) — a direct, actionable list for catalogue expansion.</a:t>
            </a:r>
            <a:endParaRPr lang="en-IN" sz="1250" b="0" u="none" strike="noStrike">
              <a:solidFill>
                <a:srgbClr val="000000"/>
              </a:solidFill>
              <a:effectLst/>
              <a:uFillTx/>
              <a:latin typeface="Arial"/>
            </a:endParaRPr>
          </a:p>
        </p:txBody>
      </p:sp>
      <p:sp>
        <p:nvSpPr>
          <p:cNvPr id="353" name="Oval 11"/>
          <p:cNvSpPr/>
          <p:nvPr/>
        </p:nvSpPr>
        <p:spPr>
          <a:xfrm>
            <a:off x="640080" y="3566160"/>
            <a:ext cx="145440" cy="145440"/>
          </a:xfrm>
          <a:prstGeom prst="ellipse">
            <a:avLst/>
          </a:prstGeom>
          <a:solidFill>
            <a:srgbClr val="D96B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2720" tIns="45000" rIns="72720" bIns="45000" anchor="ctr">
            <a:noAutofit/>
          </a:bodyPr>
          <a:p>
            <a:pPr/>
            <a:endParaRPr lang="en-US" sz="1800" b="0" u="none" strike="noStrike">
              <a:solidFill>
                <a:schemeClr val="lt1"/>
              </a:solidFill>
              <a:effectLst/>
              <a:uFillTx/>
              <a:latin typeface="Calibri"/>
            </a:endParaRPr>
          </a:p>
        </p:txBody>
      </p:sp>
      <p:sp>
        <p:nvSpPr>
          <p:cNvPr id="354" name="TextBox 12"/>
          <p:cNvSpPr/>
          <p:nvPr/>
        </p:nvSpPr>
        <p:spPr>
          <a:xfrm>
            <a:off x="960120" y="3520440"/>
            <a:ext cx="1042344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500" b="1" u="none" strike="noStrike">
                <a:solidFill>
                  <a:srgbClr val="222B3A"/>
                </a:solidFill>
                <a:effectLst/>
                <a:uFillTx/>
                <a:latin typeface="Segoe UI Semibold"/>
              </a:rPr>
              <a:t>Goal teachability</a:t>
            </a:r>
            <a:endParaRPr lang="en-IN" sz="1500" b="0" u="none" strike="noStrike">
              <a:solidFill>
                <a:srgbClr val="000000"/>
              </a:solidFill>
              <a:effectLst/>
              <a:uFillTx/>
              <a:latin typeface="Arial"/>
            </a:endParaRPr>
          </a:p>
        </p:txBody>
      </p:sp>
      <p:sp>
        <p:nvSpPr>
          <p:cNvPr id="355" name="TextBox 13"/>
          <p:cNvSpPr/>
          <p:nvPr/>
        </p:nvSpPr>
        <p:spPr>
          <a:xfrm>
            <a:off x="960120" y="3886200"/>
            <a:ext cx="10423440" cy="95940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250" b="0" u="none" strike="noStrike">
                <a:solidFill>
                  <a:srgbClr val="667080"/>
                </a:solidFill>
                <a:effectLst/>
                <a:uFillTx/>
                <a:latin typeface="Segoe UI"/>
              </a:rPr>
              <a:t>Across 355 realistic (role, learner) target sets, mean gap.ceiling is 93.5% — most goals are fully teachable because peer-derived targets concentrate on skills the catalogue already covers well.</a:t>
            </a:r>
            <a:endParaRPr lang="en-IN" sz="1250" b="0" u="none" strike="noStrike">
              <a:solidFill>
                <a:srgbClr val="000000"/>
              </a:solidFill>
              <a:effectLst/>
              <a:uFillTx/>
              <a:latin typeface="Arial"/>
            </a:endParaRPr>
          </a:p>
        </p:txBody>
      </p:sp>
      <p:sp>
        <p:nvSpPr>
          <p:cNvPr id="356" name="Oval 14"/>
          <p:cNvSpPr/>
          <p:nvPr/>
        </p:nvSpPr>
        <p:spPr>
          <a:xfrm>
            <a:off x="640080" y="4983480"/>
            <a:ext cx="145440" cy="145440"/>
          </a:xfrm>
          <a:prstGeom prst="ellipse">
            <a:avLst/>
          </a:prstGeom>
          <a:solidFill>
            <a:srgbClr val="D96B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2720" tIns="45000" rIns="72720" bIns="45000" anchor="ctr">
            <a:noAutofit/>
          </a:bodyPr>
          <a:p>
            <a:pPr/>
            <a:endParaRPr lang="en-US" sz="1800" b="0" u="none" strike="noStrike">
              <a:solidFill>
                <a:schemeClr val="lt1"/>
              </a:solidFill>
              <a:effectLst/>
              <a:uFillTx/>
              <a:latin typeface="Calibri"/>
            </a:endParaRPr>
          </a:p>
        </p:txBody>
      </p:sp>
      <p:sp>
        <p:nvSpPr>
          <p:cNvPr id="357" name="TextBox 15"/>
          <p:cNvSpPr/>
          <p:nvPr/>
        </p:nvSpPr>
        <p:spPr>
          <a:xfrm>
            <a:off x="960120" y="4937760"/>
            <a:ext cx="1042344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500" b="1" u="none" strike="noStrike">
                <a:solidFill>
                  <a:srgbClr val="222B3A"/>
                </a:solidFill>
                <a:effectLst/>
                <a:uFillTx/>
                <a:latin typeface="Segoe UI Semibold"/>
              </a:rPr>
              <a:t>Independent re-verification</a:t>
            </a:r>
            <a:endParaRPr lang="en-IN" sz="1500" b="0" u="none" strike="noStrike">
              <a:solidFill>
                <a:srgbClr val="000000"/>
              </a:solidFill>
              <a:effectLst/>
              <a:uFillTx/>
              <a:latin typeface="Arial"/>
            </a:endParaRPr>
          </a:p>
        </p:txBody>
      </p:sp>
      <p:sp>
        <p:nvSpPr>
          <p:cNvPr id="358" name="TextBox 16"/>
          <p:cNvSpPr/>
          <p:nvPr/>
        </p:nvSpPr>
        <p:spPr>
          <a:xfrm>
            <a:off x="960120" y="5303520"/>
            <a:ext cx="10423440" cy="95940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250" b="0" u="none" strike="noStrike">
                <a:solidFill>
                  <a:srgbClr val="667080"/>
                </a:solidFill>
                <a:effectLst/>
                <a:uFillTx/>
                <a:latin typeface="Segoe UI"/>
              </a:rPr>
              <a:t>Re-running Protocol A/B through engine.py (fresh 150-learner sample) reproduced 0.979 / 0.749 recall — confirming the extraction from notebook 03 changed nothing about the scoring.</a:t>
            </a:r>
            <a:endParaRPr lang="en-IN"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9" name="Rectangle 1"/>
          <p:cNvSpPr/>
          <p:nvPr/>
        </p:nvSpPr>
        <p:spPr>
          <a:xfrm>
            <a:off x="0" y="0"/>
            <a:ext cx="12191040" cy="6857280"/>
          </a:xfrm>
          <a:prstGeom prst="rect">
            <a:avLst/>
          </a:prstGeom>
          <a:solidFill>
            <a:srgbClr val="FCFBF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60" name="TextBox 2"/>
          <p:cNvSpPr/>
          <p:nvPr/>
        </p:nvSpPr>
        <p:spPr>
          <a:xfrm>
            <a:off x="640080" y="384120"/>
            <a:ext cx="822888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00" b="1" u="none" strike="noStrike">
                <a:solidFill>
                  <a:srgbClr val="D96B45"/>
                </a:solidFill>
                <a:effectLst/>
                <a:uFillTx/>
                <a:latin typeface="Segoe UI Semibold"/>
              </a:rPr>
              <a:t>UNDER THE HOOD</a:t>
            </a:r>
            <a:endParaRPr lang="en-IN" sz="1300" b="0" u="none" strike="noStrike">
              <a:solidFill>
                <a:srgbClr val="000000"/>
              </a:solidFill>
              <a:effectLst/>
              <a:uFillTx/>
              <a:latin typeface="Arial"/>
            </a:endParaRPr>
          </a:p>
        </p:txBody>
      </p:sp>
      <p:sp>
        <p:nvSpPr>
          <p:cNvPr id="361" name="TextBox 3"/>
          <p:cNvSpPr/>
          <p:nvPr/>
        </p:nvSpPr>
        <p:spPr>
          <a:xfrm>
            <a:off x="640080" y="658440"/>
            <a:ext cx="9874800" cy="6850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3000" b="1" u="none" strike="noStrike">
                <a:solidFill>
                  <a:srgbClr val="222B3A"/>
                </a:solidFill>
                <a:effectLst/>
                <a:uFillTx/>
                <a:latin typeface="Segoe UI Semibold"/>
              </a:rPr>
              <a:t>Technology stack</a:t>
            </a:r>
            <a:endParaRPr lang="en-IN" sz="3000" b="0" u="none" strike="noStrike">
              <a:solidFill>
                <a:srgbClr val="000000"/>
              </a:solidFill>
              <a:effectLst/>
              <a:uFillTx/>
              <a:latin typeface="Arial"/>
            </a:endParaRPr>
          </a:p>
        </p:txBody>
      </p:sp>
      <p:sp>
        <p:nvSpPr>
          <p:cNvPr id="362" name="Rectangle 4"/>
          <p:cNvSpPr/>
          <p:nvPr/>
        </p:nvSpPr>
        <p:spPr>
          <a:xfrm>
            <a:off x="640080" y="1298520"/>
            <a:ext cx="822240" cy="50040"/>
          </a:xfrm>
          <a:prstGeom prst="rect">
            <a:avLst/>
          </a:prstGeom>
          <a:solidFill>
            <a:srgbClr val="D96B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760" rIns="90000" bIns="5760" anchor="ctr">
            <a:noAutofit/>
          </a:bodyPr>
          <a:p>
            <a:pPr/>
            <a:endParaRPr lang="en-US" sz="1800" b="0" u="none" strike="noStrike">
              <a:solidFill>
                <a:schemeClr val="lt1"/>
              </a:solidFill>
              <a:effectLst/>
              <a:uFillTx/>
              <a:latin typeface="Calibri"/>
            </a:endParaRPr>
          </a:p>
        </p:txBody>
      </p:sp>
      <p:sp>
        <p:nvSpPr>
          <p:cNvPr id="363" name="TextBox 5"/>
          <p:cNvSpPr/>
          <p:nvPr/>
        </p:nvSpPr>
        <p:spPr>
          <a:xfrm>
            <a:off x="11155680" y="6355080"/>
            <a:ext cx="822240" cy="3650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1400" b="0" u="none" strike="noStrike">
                <a:solidFill>
                  <a:srgbClr val="667080"/>
                </a:solidFill>
                <a:effectLst/>
                <a:uFillTx/>
                <a:latin typeface="Segoe UI Semibold"/>
              </a:rPr>
              <a:t>18</a:t>
            </a:r>
            <a:endParaRPr lang="en-IN" sz="1400" b="0" u="none" strike="noStrike">
              <a:solidFill>
                <a:srgbClr val="000000"/>
              </a:solidFill>
              <a:effectLst/>
              <a:uFillTx/>
              <a:latin typeface="Arial"/>
            </a:endParaRPr>
          </a:p>
        </p:txBody>
      </p:sp>
      <p:sp>
        <p:nvSpPr>
          <p:cNvPr id="364" name="TextBox 6"/>
          <p:cNvSpPr/>
          <p:nvPr/>
        </p:nvSpPr>
        <p:spPr>
          <a:xfrm>
            <a:off x="640080" y="6473880"/>
            <a:ext cx="548568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0" u="none" strike="noStrike">
                <a:solidFill>
                  <a:srgbClr val="667080"/>
                </a:solidFill>
                <a:effectLst/>
                <a:uFillTx/>
                <a:latin typeface="Segoe UI"/>
              </a:rPr>
              <a:t>Skill-Gap Course Recommendation Engine</a:t>
            </a:r>
            <a:endParaRPr lang="en-IN" sz="1000" b="0" u="none" strike="noStrike">
              <a:solidFill>
                <a:srgbClr val="000000"/>
              </a:solidFill>
              <a:effectLst/>
              <a:uFillTx/>
              <a:latin typeface="Arial"/>
            </a:endParaRPr>
          </a:p>
        </p:txBody>
      </p:sp>
      <p:graphicFrame>
        <p:nvGraphicFramePr>
          <p:cNvPr id="365" name="Table 7"/>
          <p:cNvGraphicFramePr/>
          <p:nvPr/>
        </p:nvGraphicFramePr>
        <p:xfrm>
          <a:off x="640080" y="1554480"/>
          <a:ext cx="10881000" cy="4569840"/>
        </p:xfrm>
        <a:graphic>
          <a:graphicData uri="http://schemas.openxmlformats.org/drawingml/2006/table">
            <a:tbl>
              <a:tblPr/>
              <a:tblGrid>
                <a:gridCol w="2560320"/>
                <a:gridCol w="8321040"/>
              </a:tblGrid>
              <a:tr h="415440">
                <a:tc>
                  <a:txBody>
                    <a:bodyPr lIns="101520" tIns="50760" rIns="101520" bIns="50760" anchor="ctr">
                      <a:noAutofit/>
                    </a:bodyPr>
                    <a:p>
                      <a:pPr defTabSz="457200">
                        <a:lnSpc>
                          <a:spcPct val="100000"/>
                        </a:lnSpc>
                      </a:pPr>
                      <a:r>
                        <a:rPr lang="en-US" sz="1300" b="1" u="none" strike="noStrike">
                          <a:solidFill>
                            <a:srgbClr val="FFFFFF"/>
                          </a:solidFill>
                          <a:effectLst/>
                          <a:uFillTx/>
                          <a:latin typeface="Segoe UI Semibold"/>
                        </a:rPr>
                        <a:t>Layer</a:t>
                      </a:r>
                      <a:endParaRPr lang="en-IN" sz="1300" b="0" u="none" strike="noStrike">
                        <a:solidFill>
                          <a:srgbClr val="FFFFFF"/>
                        </a:solidFill>
                        <a:effectLst/>
                        <a:uFillTx/>
                        <a:latin typeface="Arial"/>
                      </a:endParaRPr>
                    </a:p>
                  </a:txBody>
                  <a:tcPr anchor="ctr" marL="101520" marR="10152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22B3A"/>
                    </a:solidFill>
                  </a:tcPr>
                </a:tc>
                <a:tc>
                  <a:txBody>
                    <a:bodyPr lIns="101520" tIns="50760" rIns="101520" bIns="50760" anchor="ctr">
                      <a:noAutofit/>
                    </a:bodyPr>
                    <a:p>
                      <a:pPr defTabSz="457200">
                        <a:lnSpc>
                          <a:spcPct val="100000"/>
                        </a:lnSpc>
                      </a:pPr>
                      <a:r>
                        <a:rPr lang="en-US" sz="1300" b="1" u="none" strike="noStrike">
                          <a:solidFill>
                            <a:srgbClr val="FFFFFF"/>
                          </a:solidFill>
                          <a:effectLst/>
                          <a:uFillTx/>
                          <a:latin typeface="Segoe UI Semibold"/>
                        </a:rPr>
                        <a:t>Technology</a:t>
                      </a:r>
                      <a:endParaRPr lang="en-IN" sz="1300" b="0" u="none" strike="noStrike">
                        <a:solidFill>
                          <a:srgbClr val="FFFFFF"/>
                        </a:solidFill>
                        <a:effectLst/>
                        <a:uFillTx/>
                        <a:latin typeface="Arial"/>
                      </a:endParaRPr>
                    </a:p>
                  </a:txBody>
                  <a:tcPr anchor="ctr" marL="101520" marR="10152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22B3A"/>
                    </a:solidFill>
                  </a:tcPr>
                </a:tc>
              </a:tr>
              <a:tr h="415440">
                <a:tc>
                  <a:txBody>
                    <a:bodyPr lIns="101520" tIns="37800" rIns="101520" bIns="37800" anchor="ctr">
                      <a:noAutofit/>
                    </a:bodyPr>
                    <a:p>
                      <a:pPr defTabSz="457200">
                        <a:lnSpc>
                          <a:spcPct val="100000"/>
                        </a:lnSpc>
                      </a:pPr>
                      <a:r>
                        <a:rPr lang="en-US" sz="1250" b="0" u="none" strike="noStrike">
                          <a:solidFill>
                            <a:srgbClr val="222B3A"/>
                          </a:solidFill>
                          <a:effectLst/>
                          <a:uFillTx/>
                          <a:latin typeface="Segoe UI"/>
                        </a:rPr>
                        <a:t>Language</a:t>
                      </a:r>
                      <a:endParaRPr lang="en-IN" sz="125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101520" tIns="37800" rIns="101520" bIns="37800" anchor="ctr">
                      <a:noAutofit/>
                    </a:bodyPr>
                    <a:p>
                      <a:pPr defTabSz="457200">
                        <a:lnSpc>
                          <a:spcPct val="100000"/>
                        </a:lnSpc>
                      </a:pPr>
                      <a:r>
                        <a:rPr lang="en-US" sz="1250" b="0" u="none" strike="noStrike">
                          <a:solidFill>
                            <a:srgbClr val="222B3A"/>
                          </a:solidFill>
                          <a:effectLst/>
                          <a:uFillTx/>
                          <a:latin typeface="Segoe UI"/>
                        </a:rPr>
                        <a:t>Python 3.13</a:t>
                      </a:r>
                      <a:endParaRPr lang="en-IN" sz="125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15440">
                <a:tc>
                  <a:txBody>
                    <a:bodyPr lIns="101520" tIns="37800" rIns="101520" bIns="37800" anchor="ctr">
                      <a:noAutofit/>
                    </a:bodyPr>
                    <a:p>
                      <a:pPr defTabSz="457200">
                        <a:lnSpc>
                          <a:spcPct val="100000"/>
                        </a:lnSpc>
                      </a:pPr>
                      <a:r>
                        <a:rPr lang="en-US" sz="1250" b="0" u="none" strike="noStrike">
                          <a:solidFill>
                            <a:srgbClr val="222B3A"/>
                          </a:solidFill>
                          <a:effectLst/>
                          <a:uFillTx/>
                          <a:latin typeface="Segoe UI"/>
                        </a:rPr>
                        <a:t>Data processing</a:t>
                      </a:r>
                      <a:endParaRPr lang="en-IN" sz="125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FE7"/>
                    </a:solidFill>
                  </a:tcPr>
                </a:tc>
                <a:tc>
                  <a:txBody>
                    <a:bodyPr lIns="101520" tIns="37800" rIns="101520" bIns="37800" anchor="ctr">
                      <a:noAutofit/>
                    </a:bodyPr>
                    <a:p>
                      <a:pPr defTabSz="457200">
                        <a:lnSpc>
                          <a:spcPct val="100000"/>
                        </a:lnSpc>
                      </a:pPr>
                      <a:r>
                        <a:rPr lang="en-US" sz="1250" b="0" u="none" strike="noStrike">
                          <a:solidFill>
                            <a:srgbClr val="222B3A"/>
                          </a:solidFill>
                          <a:effectLst/>
                          <a:uFillTx/>
                          <a:latin typeface="Segoe UI"/>
                        </a:rPr>
                        <a:t>pandas, numpy</a:t>
                      </a:r>
                      <a:endParaRPr lang="en-IN" sz="125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FE7"/>
                    </a:solidFill>
                  </a:tcPr>
                </a:tc>
              </a:tr>
              <a:tr h="415440">
                <a:tc>
                  <a:txBody>
                    <a:bodyPr lIns="101520" tIns="37800" rIns="101520" bIns="37800" anchor="ctr">
                      <a:noAutofit/>
                    </a:bodyPr>
                    <a:p>
                      <a:pPr defTabSz="457200">
                        <a:lnSpc>
                          <a:spcPct val="100000"/>
                        </a:lnSpc>
                      </a:pPr>
                      <a:r>
                        <a:rPr lang="en-US" sz="1250" b="0" u="none" strike="noStrike">
                          <a:solidFill>
                            <a:srgbClr val="222B3A"/>
                          </a:solidFill>
                          <a:effectLst/>
                          <a:uFillTx/>
                          <a:latin typeface="Segoe UI"/>
                        </a:rPr>
                        <a:t>Semantic embeddings</a:t>
                      </a:r>
                      <a:endParaRPr lang="en-IN" sz="125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101520" tIns="37800" rIns="101520" bIns="37800" anchor="ctr">
                      <a:noAutofit/>
                    </a:bodyPr>
                    <a:p>
                      <a:pPr defTabSz="457200">
                        <a:lnSpc>
                          <a:spcPct val="100000"/>
                        </a:lnSpc>
                      </a:pPr>
                      <a:r>
                        <a:rPr lang="en-US" sz="1250" b="0" u="none" strike="noStrike">
                          <a:solidFill>
                            <a:srgbClr val="222B3A"/>
                          </a:solidFill>
                          <a:effectLst/>
                          <a:uFillTx/>
                          <a:latin typeface="Segoe UI"/>
                        </a:rPr>
                        <a:t>sentence-transformers (all-MiniLM-L6-v2, CPU-only, ~90 MB)</a:t>
                      </a:r>
                      <a:endParaRPr lang="en-IN" sz="125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15440">
                <a:tc>
                  <a:txBody>
                    <a:bodyPr lIns="101520" tIns="37800" rIns="101520" bIns="37800" anchor="ctr">
                      <a:noAutofit/>
                    </a:bodyPr>
                    <a:p>
                      <a:pPr defTabSz="457200">
                        <a:lnSpc>
                          <a:spcPct val="100000"/>
                        </a:lnSpc>
                      </a:pPr>
                      <a:r>
                        <a:rPr lang="en-US" sz="1250" b="0" u="none" strike="noStrike">
                          <a:solidFill>
                            <a:srgbClr val="222B3A"/>
                          </a:solidFill>
                          <a:effectLst/>
                          <a:uFillTx/>
                          <a:latin typeface="Segoe UI"/>
                        </a:rPr>
                        <a:t>Classical NLP signal</a:t>
                      </a:r>
                      <a:endParaRPr lang="en-IN" sz="125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FE7"/>
                    </a:solidFill>
                  </a:tcPr>
                </a:tc>
                <a:tc>
                  <a:txBody>
                    <a:bodyPr lIns="101520" tIns="37800" rIns="101520" bIns="37800" anchor="ctr">
                      <a:noAutofit/>
                    </a:bodyPr>
                    <a:p>
                      <a:pPr defTabSz="457200">
                        <a:lnSpc>
                          <a:spcPct val="100000"/>
                        </a:lnSpc>
                      </a:pPr>
                      <a:r>
                        <a:rPr lang="en-US" sz="1250" b="0" u="none" strike="noStrike">
                          <a:solidFill>
                            <a:srgbClr val="222B3A"/>
                          </a:solidFill>
                          <a:effectLst/>
                          <a:uFillTx/>
                          <a:latin typeface="Segoe UI"/>
                        </a:rPr>
                        <a:t>scikit-learn TfidfVectorizer, cosine similarity</a:t>
                      </a:r>
                      <a:endParaRPr lang="en-IN" sz="125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FE7"/>
                    </a:solidFill>
                  </a:tcPr>
                </a:tc>
              </a:tr>
              <a:tr h="415440">
                <a:tc>
                  <a:txBody>
                    <a:bodyPr lIns="101520" tIns="37800" rIns="101520" bIns="37800" anchor="ctr">
                      <a:noAutofit/>
                    </a:bodyPr>
                    <a:p>
                      <a:pPr defTabSz="457200">
                        <a:lnSpc>
                          <a:spcPct val="100000"/>
                        </a:lnSpc>
                      </a:pPr>
                      <a:r>
                        <a:rPr lang="en-US" sz="1250" b="0" u="none" strike="noStrike">
                          <a:solidFill>
                            <a:srgbClr val="222B3A"/>
                          </a:solidFill>
                          <a:effectLst/>
                          <a:uFillTx/>
                          <a:latin typeface="Segoe UI"/>
                        </a:rPr>
                        <a:t>Diversification</a:t>
                      </a:r>
                      <a:endParaRPr lang="en-IN" sz="125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101520" tIns="37800" rIns="101520" bIns="37800" anchor="ctr">
                      <a:noAutofit/>
                    </a:bodyPr>
                    <a:p>
                      <a:pPr defTabSz="457200">
                        <a:lnSpc>
                          <a:spcPct val="100000"/>
                        </a:lnSpc>
                      </a:pPr>
                      <a:r>
                        <a:rPr lang="en-US" sz="1250" b="0" u="none" strike="noStrike">
                          <a:solidFill>
                            <a:srgbClr val="222B3A"/>
                          </a:solidFill>
                          <a:effectLst/>
                          <a:uFillTx/>
                          <a:latin typeface="Segoe UI"/>
                        </a:rPr>
                        <a:t>Custom greedy MMR implementation</a:t>
                      </a:r>
                      <a:endParaRPr lang="en-IN" sz="125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15440">
                <a:tc>
                  <a:txBody>
                    <a:bodyPr lIns="101520" tIns="37800" rIns="101520" bIns="37800" anchor="ctr">
                      <a:noAutofit/>
                    </a:bodyPr>
                    <a:p>
                      <a:pPr defTabSz="457200">
                        <a:lnSpc>
                          <a:spcPct val="100000"/>
                        </a:lnSpc>
                      </a:pPr>
                      <a:r>
                        <a:rPr lang="en-US" sz="1250" b="0" u="none" strike="noStrike">
                          <a:solidFill>
                            <a:srgbClr val="222B3A"/>
                          </a:solidFill>
                          <a:effectLst/>
                          <a:uFillTx/>
                          <a:latin typeface="Segoe UI"/>
                        </a:rPr>
                        <a:t>AI Agent</a:t>
                      </a:r>
                      <a:endParaRPr lang="en-IN" sz="125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FE7"/>
                    </a:solidFill>
                  </a:tcPr>
                </a:tc>
                <a:tc>
                  <a:txBody>
                    <a:bodyPr lIns="101520" tIns="37800" rIns="101520" bIns="37800" anchor="ctr">
                      <a:noAutofit/>
                    </a:bodyPr>
                    <a:p>
                      <a:pPr defTabSz="457200">
                        <a:lnSpc>
                          <a:spcPct val="100000"/>
                        </a:lnSpc>
                      </a:pPr>
                      <a:r>
                        <a:rPr lang="en-US" sz="1250" b="0" u="none" strike="noStrike">
                          <a:solidFill>
                            <a:srgbClr val="222B3A"/>
                          </a:solidFill>
                          <a:effectLst/>
                          <a:uFillTx/>
                          <a:latin typeface="Segoe UI"/>
                        </a:rPr>
                        <a:t>Google Gemini (gemini-3.6-flash) via google-genai, manual tool-calling loop</a:t>
                      </a:r>
                      <a:endParaRPr lang="en-IN" sz="125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FE7"/>
                    </a:solidFill>
                  </a:tcPr>
                </a:tc>
              </a:tr>
              <a:tr h="415440">
                <a:tc>
                  <a:txBody>
                    <a:bodyPr lIns="101520" tIns="37800" rIns="101520" bIns="37800" anchor="ctr">
                      <a:noAutofit/>
                    </a:bodyPr>
                    <a:p>
                      <a:pPr defTabSz="457200">
                        <a:lnSpc>
                          <a:spcPct val="100000"/>
                        </a:lnSpc>
                      </a:pPr>
                      <a:r>
                        <a:rPr lang="en-US" sz="1250" b="0" u="none" strike="noStrike">
                          <a:solidFill>
                            <a:srgbClr val="222B3A"/>
                          </a:solidFill>
                          <a:effectLst/>
                          <a:uFillTx/>
                          <a:latin typeface="Segoe UI"/>
                        </a:rPr>
                        <a:t>API</a:t>
                      </a:r>
                      <a:endParaRPr lang="en-IN" sz="125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101520" tIns="37800" rIns="101520" bIns="37800" anchor="ctr">
                      <a:noAutofit/>
                    </a:bodyPr>
                    <a:p>
                      <a:pPr defTabSz="457200">
                        <a:lnSpc>
                          <a:spcPct val="100000"/>
                        </a:lnSpc>
                      </a:pPr>
                      <a:r>
                        <a:rPr lang="en-US" sz="1250" b="0" u="none" strike="noStrike">
                          <a:solidFill>
                            <a:srgbClr val="222B3A"/>
                          </a:solidFill>
                          <a:effectLst/>
                          <a:uFillTx/>
                          <a:latin typeface="Segoe UI"/>
                        </a:rPr>
                        <a:t>FastAPI + Pydantic + Uvicorn</a:t>
                      </a:r>
                      <a:endParaRPr lang="en-IN" sz="125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15440">
                <a:tc>
                  <a:txBody>
                    <a:bodyPr lIns="101520" tIns="37800" rIns="101520" bIns="37800" anchor="ctr">
                      <a:noAutofit/>
                    </a:bodyPr>
                    <a:p>
                      <a:pPr defTabSz="457200">
                        <a:lnSpc>
                          <a:spcPct val="100000"/>
                        </a:lnSpc>
                      </a:pPr>
                      <a:r>
                        <a:rPr lang="en-US" sz="1250" b="0" u="none" strike="noStrike">
                          <a:solidFill>
                            <a:srgbClr val="222B3A"/>
                          </a:solidFill>
                          <a:effectLst/>
                          <a:uFillTx/>
                          <a:latin typeface="Segoe UI"/>
                        </a:rPr>
                        <a:t>Dashboard</a:t>
                      </a:r>
                      <a:endParaRPr lang="en-IN" sz="125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FE7"/>
                    </a:solidFill>
                  </a:tcPr>
                </a:tc>
                <a:tc>
                  <a:txBody>
                    <a:bodyPr lIns="101520" tIns="37800" rIns="101520" bIns="37800" anchor="ctr">
                      <a:noAutofit/>
                    </a:bodyPr>
                    <a:p>
                      <a:pPr defTabSz="457200">
                        <a:lnSpc>
                          <a:spcPct val="100000"/>
                        </a:lnSpc>
                      </a:pPr>
                      <a:r>
                        <a:rPr lang="en-US" sz="1250" b="0" u="none" strike="noStrike">
                          <a:solidFill>
                            <a:srgbClr val="222B3A"/>
                          </a:solidFill>
                          <a:effectLst/>
                          <a:uFillTx/>
                          <a:latin typeface="Segoe UI"/>
                        </a:rPr>
                        <a:t>Streamlit</a:t>
                      </a:r>
                      <a:endParaRPr lang="en-IN" sz="125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FE7"/>
                    </a:solidFill>
                  </a:tcPr>
                </a:tc>
              </a:tr>
              <a:tr h="415440">
                <a:tc>
                  <a:txBody>
                    <a:bodyPr lIns="101520" tIns="37800" rIns="101520" bIns="37800" anchor="ctr">
                      <a:noAutofit/>
                    </a:bodyPr>
                    <a:p>
                      <a:pPr defTabSz="457200">
                        <a:lnSpc>
                          <a:spcPct val="100000"/>
                        </a:lnSpc>
                      </a:pPr>
                      <a:r>
                        <a:rPr lang="en-US" sz="1250" b="0" u="none" strike="noStrike">
                          <a:solidFill>
                            <a:srgbClr val="222B3A"/>
                          </a:solidFill>
                          <a:effectLst/>
                          <a:uFillTx/>
                          <a:latin typeface="Segoe UI"/>
                        </a:rPr>
                        <a:t>Notebooks</a:t>
                      </a:r>
                      <a:endParaRPr lang="en-IN" sz="125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101520" tIns="37800" rIns="101520" bIns="37800" anchor="ctr">
                      <a:noAutofit/>
                    </a:bodyPr>
                    <a:p>
                      <a:pPr defTabSz="457200">
                        <a:lnSpc>
                          <a:spcPct val="100000"/>
                        </a:lnSpc>
                      </a:pPr>
                      <a:r>
                        <a:rPr lang="en-US" sz="1250" b="0" u="none" strike="noStrike">
                          <a:solidFill>
                            <a:srgbClr val="222B3A"/>
                          </a:solidFill>
                          <a:effectLst/>
                          <a:uFillTx/>
                          <a:latin typeface="Segoe UI"/>
                        </a:rPr>
                        <a:t>Jupyter / ipykernel, nbconvert</a:t>
                      </a:r>
                      <a:endParaRPr lang="en-IN" sz="125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15440">
                <a:tc>
                  <a:txBody>
                    <a:bodyPr lIns="101520" tIns="37800" rIns="101520" bIns="37800" anchor="ctr">
                      <a:noAutofit/>
                    </a:bodyPr>
                    <a:p>
                      <a:pPr defTabSz="457200">
                        <a:lnSpc>
                          <a:spcPct val="100000"/>
                        </a:lnSpc>
                      </a:pPr>
                      <a:r>
                        <a:rPr lang="en-US" sz="1250" b="0" u="none" strike="noStrike">
                          <a:solidFill>
                            <a:srgbClr val="222B3A"/>
                          </a:solidFill>
                          <a:effectLst/>
                          <a:uFillTx/>
                          <a:latin typeface="Segoe UI"/>
                        </a:rPr>
                        <a:t>Analytics / plots</a:t>
                      </a:r>
                      <a:endParaRPr lang="en-IN" sz="125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FE7"/>
                    </a:solidFill>
                  </a:tcPr>
                </a:tc>
                <a:tc>
                  <a:txBody>
                    <a:bodyPr lIns="101520" tIns="37800" rIns="101520" bIns="37800" anchor="ctr">
                      <a:noAutofit/>
                    </a:bodyPr>
                    <a:p>
                      <a:pPr defTabSz="457200">
                        <a:lnSpc>
                          <a:spcPct val="100000"/>
                        </a:lnSpc>
                      </a:pPr>
                      <a:r>
                        <a:rPr lang="en-US" sz="1250" b="0" u="none" strike="noStrike">
                          <a:solidFill>
                            <a:srgbClr val="222B3A"/>
                          </a:solidFill>
                          <a:effectLst/>
                          <a:uFillTx/>
                          <a:latin typeface="Segoe UI"/>
                        </a:rPr>
                        <a:t>matplotlib, seaborn</a:t>
                      </a:r>
                      <a:endParaRPr lang="en-IN" sz="125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FE7"/>
                    </a:solidFill>
                  </a:tcPr>
                </a:tc>
              </a:tr>
            </a:tbl>
          </a:graphicData>
        </a:graphic>
      </p:graphicFrame>
      <p:sp>
        <p:nvSpPr>
          <p:cNvPr id="366" name="TextBox 8"/>
          <p:cNvSpPr/>
          <p:nvPr/>
        </p:nvSpPr>
        <p:spPr>
          <a:xfrm>
            <a:off x="640080" y="6263640"/>
            <a:ext cx="548568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200" b="1" i="1" u="none" strike="noStrike">
                <a:solidFill>
                  <a:srgbClr val="1E8A7A"/>
                </a:solidFill>
                <a:effectLst/>
                <a:uFillTx/>
                <a:latin typeface="Segoe UI"/>
              </a:rPr>
              <a:t>Everything runs on CPU — no GPU required.</a:t>
            </a:r>
            <a:endParaRPr lang="en-IN"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7" name="Rectangle 1"/>
          <p:cNvSpPr/>
          <p:nvPr/>
        </p:nvSpPr>
        <p:spPr>
          <a:xfrm>
            <a:off x="0" y="0"/>
            <a:ext cx="12191040" cy="6857280"/>
          </a:xfrm>
          <a:prstGeom prst="rect">
            <a:avLst/>
          </a:prstGeom>
          <a:solidFill>
            <a:srgbClr val="FCFBF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68" name="TextBox 2"/>
          <p:cNvSpPr/>
          <p:nvPr/>
        </p:nvSpPr>
        <p:spPr>
          <a:xfrm>
            <a:off x="640080" y="384120"/>
            <a:ext cx="822888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00" b="1" u="none" strike="noStrike">
                <a:solidFill>
                  <a:srgbClr val="D96B45"/>
                </a:solidFill>
                <a:effectLst/>
                <a:uFillTx/>
                <a:latin typeface="Segoe UI Semibold"/>
              </a:rPr>
              <a:t>ENGINEERING</a:t>
            </a:r>
            <a:endParaRPr lang="en-IN" sz="1300" b="0" u="none" strike="noStrike">
              <a:solidFill>
                <a:srgbClr val="000000"/>
              </a:solidFill>
              <a:effectLst/>
              <a:uFillTx/>
              <a:latin typeface="Arial"/>
            </a:endParaRPr>
          </a:p>
        </p:txBody>
      </p:sp>
      <p:sp>
        <p:nvSpPr>
          <p:cNvPr id="369" name="TextBox 3"/>
          <p:cNvSpPr/>
          <p:nvPr/>
        </p:nvSpPr>
        <p:spPr>
          <a:xfrm>
            <a:off x="640080" y="658440"/>
            <a:ext cx="9874800" cy="6850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3000" b="1" u="none" strike="noStrike">
                <a:solidFill>
                  <a:srgbClr val="222B3A"/>
                </a:solidFill>
                <a:effectLst/>
                <a:uFillTx/>
                <a:latin typeface="Segoe UI Semibold"/>
              </a:rPr>
              <a:t>Challenges &amp; how they were solved (1/2)</a:t>
            </a:r>
            <a:endParaRPr lang="en-IN" sz="3000" b="0" u="none" strike="noStrike">
              <a:solidFill>
                <a:srgbClr val="000000"/>
              </a:solidFill>
              <a:effectLst/>
              <a:uFillTx/>
              <a:latin typeface="Arial"/>
            </a:endParaRPr>
          </a:p>
        </p:txBody>
      </p:sp>
      <p:sp>
        <p:nvSpPr>
          <p:cNvPr id="370" name="Rectangle 4"/>
          <p:cNvSpPr/>
          <p:nvPr/>
        </p:nvSpPr>
        <p:spPr>
          <a:xfrm>
            <a:off x="640080" y="1298520"/>
            <a:ext cx="822240" cy="50040"/>
          </a:xfrm>
          <a:prstGeom prst="rect">
            <a:avLst/>
          </a:prstGeom>
          <a:solidFill>
            <a:srgbClr val="D96B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760" rIns="90000" bIns="5760" anchor="ctr">
            <a:noAutofit/>
          </a:bodyPr>
          <a:p>
            <a:pPr/>
            <a:endParaRPr lang="en-US" sz="1800" b="0" u="none" strike="noStrike">
              <a:solidFill>
                <a:schemeClr val="lt1"/>
              </a:solidFill>
              <a:effectLst/>
              <a:uFillTx/>
              <a:latin typeface="Calibri"/>
            </a:endParaRPr>
          </a:p>
        </p:txBody>
      </p:sp>
      <p:sp>
        <p:nvSpPr>
          <p:cNvPr id="371" name="TextBox 5"/>
          <p:cNvSpPr/>
          <p:nvPr/>
        </p:nvSpPr>
        <p:spPr>
          <a:xfrm>
            <a:off x="11155680" y="6355080"/>
            <a:ext cx="822240" cy="3650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1400" b="0" u="none" strike="noStrike">
                <a:solidFill>
                  <a:srgbClr val="667080"/>
                </a:solidFill>
                <a:effectLst/>
                <a:uFillTx/>
                <a:latin typeface="Segoe UI Semibold"/>
              </a:rPr>
              <a:t>19</a:t>
            </a:r>
            <a:endParaRPr lang="en-IN" sz="1400" b="0" u="none" strike="noStrike">
              <a:solidFill>
                <a:srgbClr val="000000"/>
              </a:solidFill>
              <a:effectLst/>
              <a:uFillTx/>
              <a:latin typeface="Arial"/>
            </a:endParaRPr>
          </a:p>
        </p:txBody>
      </p:sp>
      <p:sp>
        <p:nvSpPr>
          <p:cNvPr id="372" name="TextBox 6"/>
          <p:cNvSpPr/>
          <p:nvPr/>
        </p:nvSpPr>
        <p:spPr>
          <a:xfrm>
            <a:off x="640080" y="6473880"/>
            <a:ext cx="548568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0" u="none" strike="noStrike">
                <a:solidFill>
                  <a:srgbClr val="667080"/>
                </a:solidFill>
                <a:effectLst/>
                <a:uFillTx/>
                <a:latin typeface="Segoe UI"/>
              </a:rPr>
              <a:t>Skill-Gap Course Recommendation Engine</a:t>
            </a:r>
            <a:endParaRPr lang="en-IN" sz="1000" b="0" u="none" strike="noStrike">
              <a:solidFill>
                <a:srgbClr val="000000"/>
              </a:solidFill>
              <a:effectLst/>
              <a:uFillTx/>
              <a:latin typeface="Arial"/>
            </a:endParaRPr>
          </a:p>
        </p:txBody>
      </p:sp>
      <p:graphicFrame>
        <p:nvGraphicFramePr>
          <p:cNvPr id="373" name="Table 7"/>
          <p:cNvGraphicFramePr/>
          <p:nvPr/>
        </p:nvGraphicFramePr>
        <p:xfrm>
          <a:off x="640080" y="1600200"/>
          <a:ext cx="10881000" cy="4570560"/>
        </p:xfrm>
        <a:graphic>
          <a:graphicData uri="http://schemas.openxmlformats.org/drawingml/2006/table">
            <a:tbl>
              <a:tblPr/>
              <a:tblGrid>
                <a:gridCol w="5120640"/>
                <a:gridCol w="5760720"/>
              </a:tblGrid>
              <a:tr h="761760">
                <a:tc>
                  <a:txBody>
                    <a:bodyPr lIns="101520" tIns="50760" rIns="101520" bIns="50760" anchor="ctr">
                      <a:noAutofit/>
                    </a:bodyPr>
                    <a:p>
                      <a:pPr defTabSz="457200">
                        <a:lnSpc>
                          <a:spcPct val="100000"/>
                        </a:lnSpc>
                      </a:pPr>
                      <a:r>
                        <a:rPr lang="en-US" sz="1300" b="1" u="none" strike="noStrike">
                          <a:solidFill>
                            <a:srgbClr val="FFFFFF"/>
                          </a:solidFill>
                          <a:effectLst/>
                          <a:uFillTx/>
                          <a:latin typeface="Segoe UI Semibold"/>
                        </a:rPr>
                        <a:t>Challenge</a:t>
                      </a:r>
                      <a:endParaRPr lang="en-IN" sz="1300" b="0" u="none" strike="noStrike">
                        <a:solidFill>
                          <a:srgbClr val="FFFFFF"/>
                        </a:solidFill>
                        <a:effectLst/>
                        <a:uFillTx/>
                        <a:latin typeface="Arial"/>
                      </a:endParaRPr>
                    </a:p>
                  </a:txBody>
                  <a:tcPr anchor="ctr" marL="101520" marR="10152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22B3A"/>
                    </a:solidFill>
                  </a:tcPr>
                </a:tc>
                <a:tc>
                  <a:txBody>
                    <a:bodyPr lIns="101520" tIns="50760" rIns="101520" bIns="50760" anchor="ctr">
                      <a:noAutofit/>
                    </a:bodyPr>
                    <a:p>
                      <a:pPr defTabSz="457200">
                        <a:lnSpc>
                          <a:spcPct val="100000"/>
                        </a:lnSpc>
                      </a:pPr>
                      <a:r>
                        <a:rPr lang="en-US" sz="1300" b="1" u="none" strike="noStrike">
                          <a:solidFill>
                            <a:srgbClr val="FFFFFF"/>
                          </a:solidFill>
                          <a:effectLst/>
                          <a:uFillTx/>
                          <a:latin typeface="Segoe UI Semibold"/>
                        </a:rPr>
                        <a:t>Resolution</a:t>
                      </a:r>
                      <a:endParaRPr lang="en-IN" sz="1300" b="0" u="none" strike="noStrike">
                        <a:solidFill>
                          <a:srgbClr val="FFFFFF"/>
                        </a:solidFill>
                        <a:effectLst/>
                        <a:uFillTx/>
                        <a:latin typeface="Arial"/>
                      </a:endParaRPr>
                    </a:p>
                  </a:txBody>
                  <a:tcPr anchor="ctr" marL="101520" marR="10152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22B3A"/>
                    </a:solidFill>
                  </a:tcPr>
                </a:tc>
              </a:tr>
              <a:tr h="761760">
                <a:tc>
                  <a:txBody>
                    <a:bodyPr lIns="101520" tIns="37800" rIns="101520" bIns="37800" anchor="ctr">
                      <a:noAutofit/>
                    </a:bodyPr>
                    <a:p>
                      <a:pPr defTabSz="457200">
                        <a:lnSpc>
                          <a:spcPct val="100000"/>
                        </a:lnSpc>
                      </a:pPr>
                      <a:r>
                        <a:rPr lang="en-US" sz="1200" b="0" u="none" strike="noStrike">
                          <a:solidFill>
                            <a:srgbClr val="222B3A"/>
                          </a:solidFill>
                          <a:effectLst/>
                          <a:uFillTx/>
                          <a:latin typeface="Segoe UI"/>
                        </a:rPr>
                        <a:t>3× duplicated learner population, invisible to drop_duplicates(person_id)</a:t>
                      </a:r>
                      <a:endParaRPr lang="en-IN" sz="12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101520" tIns="37800" rIns="101520" bIns="37800" anchor="ctr">
                      <a:noAutofit/>
                    </a:bodyPr>
                    <a:p>
                      <a:pPr defTabSz="457200">
                        <a:lnSpc>
                          <a:spcPct val="100000"/>
                        </a:lnSpc>
                      </a:pPr>
                      <a:r>
                        <a:rPr lang="en-US" sz="1200" b="0" u="none" strike="noStrike">
                          <a:solidFill>
                            <a:srgbClr val="222B3A"/>
                          </a:solidFill>
                          <a:effectLst/>
                          <a:uFillTx/>
                          <a:latin typeface="Segoe UI"/>
                        </a:rPr>
                        <a:t>Content-fingerprint dedup + automated diagnostic in the cleaning notebook</a:t>
                      </a:r>
                      <a:endParaRPr lang="en-IN" sz="12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761760">
                <a:tc>
                  <a:txBody>
                    <a:bodyPr lIns="101520" tIns="37800" rIns="101520" bIns="37800" anchor="ctr">
                      <a:noAutofit/>
                    </a:bodyPr>
                    <a:p>
                      <a:pPr defTabSz="457200">
                        <a:lnSpc>
                          <a:spcPct val="100000"/>
                        </a:lnSpc>
                      </a:pPr>
                      <a:r>
                        <a:rPr lang="en-US" sz="1200" b="0" u="none" strike="noStrike">
                          <a:solidFill>
                            <a:srgbClr val="222B3A"/>
                          </a:solidFill>
                          <a:effectLst/>
                          <a:uFillTx/>
                          <a:latin typeface="Segoe UI"/>
                        </a:rPr>
                        <a:t>⅓ of “skills” were resume prose, not real skills</a:t>
                      </a:r>
                      <a:endParaRPr lang="en-IN" sz="12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FE7"/>
                    </a:solidFill>
                  </a:tcPr>
                </a:tc>
                <a:tc>
                  <a:txBody>
                    <a:bodyPr lIns="101520" tIns="37800" rIns="101520" bIns="37800" anchor="ctr">
                      <a:noAutofit/>
                    </a:bodyPr>
                    <a:p>
                      <a:pPr defTabSz="457200">
                        <a:lnSpc>
                          <a:spcPct val="100000"/>
                        </a:lnSpc>
                      </a:pPr>
                      <a:r>
                        <a:rPr lang="en-US" sz="1200" b="0" u="none" strike="noStrike">
                          <a:solidFill>
                            <a:srgbClr val="222B3A"/>
                          </a:solidFill>
                          <a:effectLst/>
                          <a:uFillTx/>
                          <a:latin typeface="Segoe UI"/>
                        </a:rPr>
                        <a:t>Length + grammar filter, tuned against a positive control (100% catalogue retained)</a:t>
                      </a:r>
                      <a:endParaRPr lang="en-IN" sz="12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FE7"/>
                    </a:solidFill>
                  </a:tcPr>
                </a:tc>
              </a:tr>
              <a:tr h="761760">
                <a:tc>
                  <a:txBody>
                    <a:bodyPr lIns="101520" tIns="37800" rIns="101520" bIns="37800" anchor="ctr">
                      <a:noAutofit/>
                    </a:bodyPr>
                    <a:p>
                      <a:pPr defTabSz="457200">
                        <a:lnSpc>
                          <a:spcPct val="100000"/>
                        </a:lnSpc>
                      </a:pPr>
                      <a:r>
                        <a:rPr lang="en-US" sz="1200" b="0" u="none" strike="noStrike">
                          <a:solidFill>
                            <a:srgbClr val="222B3A"/>
                          </a:solidFill>
                          <a:effectLst/>
                          <a:uFillTx/>
                          <a:latin typeface="Segoe UI"/>
                        </a:rPr>
                        <a:t>Only 237 / 132,943 skills matched the catalogue exactly</a:t>
                      </a:r>
                      <a:endParaRPr lang="en-IN" sz="12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101520" tIns="37800" rIns="101520" bIns="37800" anchor="ctr">
                      <a:noAutofit/>
                    </a:bodyPr>
                    <a:p>
                      <a:pPr defTabSz="457200">
                        <a:lnSpc>
                          <a:spcPct val="100000"/>
                        </a:lnSpc>
                      </a:pPr>
                      <a:r>
                        <a:rPr lang="en-US" sz="1200" b="0" u="none" strike="noStrike">
                          <a:solidFill>
                            <a:srgbClr val="222B3A"/>
                          </a:solidFill>
                          <a:effectLst/>
                          <a:uFillTx/>
                          <a:latin typeface="Segoe UI"/>
                        </a:rPr>
                        <a:t>Three-stage semantic skill bridge (normalise → exact → embedding NN ≥ 0.60)</a:t>
                      </a:r>
                      <a:endParaRPr lang="en-IN" sz="12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761760">
                <a:tc>
                  <a:txBody>
                    <a:bodyPr lIns="101520" tIns="37800" rIns="101520" bIns="37800" anchor="ctr">
                      <a:noAutofit/>
                    </a:bodyPr>
                    <a:p>
                      <a:pPr defTabSz="457200">
                        <a:lnSpc>
                          <a:spcPct val="100000"/>
                        </a:lnSpc>
                      </a:pPr>
                      <a:r>
                        <a:rPr lang="en-US" sz="1200" b="0" u="none" strike="noStrike">
                          <a:solidFill>
                            <a:srgbClr val="222B3A"/>
                          </a:solidFill>
                          <a:effectLst/>
                          <a:uFillTx/>
                          <a:latin typeface="Segoe UI"/>
                        </a:rPr>
                        <a:t>MinMaxScaler made scores incomparable across learners</a:t>
                      </a:r>
                      <a:endParaRPr lang="en-IN" sz="12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FE7"/>
                    </a:solidFill>
                  </a:tcPr>
                </a:tc>
                <a:tc>
                  <a:txBody>
                    <a:bodyPr lIns="101520" tIns="37800" rIns="101520" bIns="37800" anchor="ctr">
                      <a:noAutofit/>
                    </a:bodyPr>
                    <a:p>
                      <a:pPr defTabSz="457200">
                        <a:lnSpc>
                          <a:spcPct val="100000"/>
                        </a:lnSpc>
                      </a:pPr>
                      <a:r>
                        <a:rPr lang="en-US" sz="1200" b="0" u="none" strike="noStrike">
                          <a:solidFill>
                            <a:srgbClr val="222B3A"/>
                          </a:solidFill>
                          <a:effectLst/>
                          <a:uFillTx/>
                          <a:latin typeface="Segoe UI"/>
                        </a:rPr>
                        <a:t>Removed; all 5 signals redesigned to be independently 0–1 and pool-independent</a:t>
                      </a:r>
                      <a:endParaRPr lang="en-IN" sz="12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FE7"/>
                    </a:solidFill>
                  </a:tcPr>
                </a:tc>
              </a:tr>
              <a:tr h="761760">
                <a:tc>
                  <a:txBody>
                    <a:bodyPr lIns="101520" tIns="37800" rIns="101520" bIns="37800" anchor="ctr">
                      <a:noAutofit/>
                    </a:bodyPr>
                    <a:p>
                      <a:pPr defTabSz="457200">
                        <a:lnSpc>
                          <a:spcPct val="100000"/>
                        </a:lnSpc>
                      </a:pPr>
                      <a:r>
                        <a:rPr lang="en-US" sz="1200" b="0" u="none" strike="noStrike">
                          <a:solidFill>
                            <a:srgbClr val="222B3A"/>
                          </a:solidFill>
                          <a:effectLst/>
                          <a:uFillTx/>
                          <a:latin typeface="Segoe UI"/>
                        </a:rPr>
                        <a:t>MMR using embedding similarity alone reduced provider diversity</a:t>
                      </a:r>
                      <a:endParaRPr lang="en-IN" sz="12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101520" tIns="37800" rIns="101520" bIns="37800" anchor="ctr">
                      <a:noAutofit/>
                    </a:bodyPr>
                    <a:p>
                      <a:pPr defTabSz="457200">
                        <a:lnSpc>
                          <a:spcPct val="100000"/>
                        </a:lnSpc>
                      </a:pPr>
                      <a:r>
                        <a:rPr lang="en-US" sz="1200" b="0" u="none" strike="noStrike">
                          <a:solidFill>
                            <a:srgbClr val="222B3A"/>
                          </a:solidFill>
                          <a:effectLst/>
                          <a:uFillTx/>
                          <a:latin typeface="Segoe UI"/>
                        </a:rPr>
                        <a:t>Redundancy redefined as max(content similarity, same-provider penalty)</a:t>
                      </a:r>
                      <a:endParaRPr lang="en-IN" sz="12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 name="Rectangle 1"/>
          <p:cNvSpPr/>
          <p:nvPr/>
        </p:nvSpPr>
        <p:spPr>
          <a:xfrm>
            <a:off x="0" y="0"/>
            <a:ext cx="12191040" cy="6857280"/>
          </a:xfrm>
          <a:prstGeom prst="rect">
            <a:avLst/>
          </a:prstGeom>
          <a:solidFill>
            <a:srgbClr val="FCFBF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75" name="TextBox 2"/>
          <p:cNvSpPr/>
          <p:nvPr/>
        </p:nvSpPr>
        <p:spPr>
          <a:xfrm>
            <a:off x="640080" y="384120"/>
            <a:ext cx="822888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00" b="1" u="none" strike="noStrike">
                <a:solidFill>
                  <a:srgbClr val="D96B45"/>
                </a:solidFill>
                <a:effectLst/>
                <a:uFillTx/>
                <a:latin typeface="Segoe UI Semibold"/>
              </a:rPr>
              <a:t>ENGINEERING</a:t>
            </a:r>
            <a:endParaRPr lang="en-IN" sz="1300" b="0" u="none" strike="noStrike">
              <a:solidFill>
                <a:srgbClr val="000000"/>
              </a:solidFill>
              <a:effectLst/>
              <a:uFillTx/>
              <a:latin typeface="Arial"/>
            </a:endParaRPr>
          </a:p>
        </p:txBody>
      </p:sp>
      <p:sp>
        <p:nvSpPr>
          <p:cNvPr id="376" name="TextBox 3"/>
          <p:cNvSpPr/>
          <p:nvPr/>
        </p:nvSpPr>
        <p:spPr>
          <a:xfrm>
            <a:off x="640080" y="658440"/>
            <a:ext cx="9874800" cy="6850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3000" b="1" u="none" strike="noStrike">
                <a:solidFill>
                  <a:srgbClr val="222B3A"/>
                </a:solidFill>
                <a:effectLst/>
                <a:uFillTx/>
                <a:latin typeface="Segoe UI Semibold"/>
              </a:rPr>
              <a:t>Challenges &amp; how they were solved (2/2)</a:t>
            </a:r>
            <a:endParaRPr lang="en-IN" sz="3000" b="0" u="none" strike="noStrike">
              <a:solidFill>
                <a:srgbClr val="000000"/>
              </a:solidFill>
              <a:effectLst/>
              <a:uFillTx/>
              <a:latin typeface="Arial"/>
            </a:endParaRPr>
          </a:p>
        </p:txBody>
      </p:sp>
      <p:sp>
        <p:nvSpPr>
          <p:cNvPr id="377" name="Rectangle 4"/>
          <p:cNvSpPr/>
          <p:nvPr/>
        </p:nvSpPr>
        <p:spPr>
          <a:xfrm>
            <a:off x="640080" y="1298520"/>
            <a:ext cx="822240" cy="50040"/>
          </a:xfrm>
          <a:prstGeom prst="rect">
            <a:avLst/>
          </a:prstGeom>
          <a:solidFill>
            <a:srgbClr val="D96B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760" rIns="90000" bIns="5760" anchor="ctr">
            <a:noAutofit/>
          </a:bodyPr>
          <a:p>
            <a:pPr/>
            <a:endParaRPr lang="en-US" sz="1800" b="0" u="none" strike="noStrike">
              <a:solidFill>
                <a:schemeClr val="lt1"/>
              </a:solidFill>
              <a:effectLst/>
              <a:uFillTx/>
              <a:latin typeface="Calibri"/>
            </a:endParaRPr>
          </a:p>
        </p:txBody>
      </p:sp>
      <p:sp>
        <p:nvSpPr>
          <p:cNvPr id="378" name="TextBox 5"/>
          <p:cNvSpPr/>
          <p:nvPr/>
        </p:nvSpPr>
        <p:spPr>
          <a:xfrm>
            <a:off x="11155680" y="6355080"/>
            <a:ext cx="822240" cy="3650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1400" b="0" u="none" strike="noStrike">
                <a:solidFill>
                  <a:srgbClr val="667080"/>
                </a:solidFill>
                <a:effectLst/>
                <a:uFillTx/>
                <a:latin typeface="Segoe UI Semibold"/>
              </a:rPr>
              <a:t>20</a:t>
            </a:r>
            <a:endParaRPr lang="en-IN" sz="1400" b="0" u="none" strike="noStrike">
              <a:solidFill>
                <a:srgbClr val="000000"/>
              </a:solidFill>
              <a:effectLst/>
              <a:uFillTx/>
              <a:latin typeface="Arial"/>
            </a:endParaRPr>
          </a:p>
        </p:txBody>
      </p:sp>
      <p:sp>
        <p:nvSpPr>
          <p:cNvPr id="379" name="TextBox 6"/>
          <p:cNvSpPr/>
          <p:nvPr/>
        </p:nvSpPr>
        <p:spPr>
          <a:xfrm>
            <a:off x="640080" y="6473880"/>
            <a:ext cx="548568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0" u="none" strike="noStrike">
                <a:solidFill>
                  <a:srgbClr val="667080"/>
                </a:solidFill>
                <a:effectLst/>
                <a:uFillTx/>
                <a:latin typeface="Segoe UI"/>
              </a:rPr>
              <a:t>Skill-Gap Course Recommendation Engine</a:t>
            </a:r>
            <a:endParaRPr lang="en-IN" sz="1000" b="0" u="none" strike="noStrike">
              <a:solidFill>
                <a:srgbClr val="000000"/>
              </a:solidFill>
              <a:effectLst/>
              <a:uFillTx/>
              <a:latin typeface="Arial"/>
            </a:endParaRPr>
          </a:p>
        </p:txBody>
      </p:sp>
      <p:graphicFrame>
        <p:nvGraphicFramePr>
          <p:cNvPr id="380" name="Table 7"/>
          <p:cNvGraphicFramePr/>
          <p:nvPr/>
        </p:nvGraphicFramePr>
        <p:xfrm>
          <a:off x="640080" y="1600200"/>
          <a:ext cx="10881000" cy="3747600"/>
        </p:xfrm>
        <a:graphic>
          <a:graphicData uri="http://schemas.openxmlformats.org/drawingml/2006/table">
            <a:tbl>
              <a:tblPr/>
              <a:tblGrid>
                <a:gridCol w="5120640"/>
                <a:gridCol w="5760720"/>
              </a:tblGrid>
              <a:tr h="749520">
                <a:tc>
                  <a:txBody>
                    <a:bodyPr lIns="101520" tIns="50760" rIns="101520" bIns="50760" anchor="ctr">
                      <a:noAutofit/>
                    </a:bodyPr>
                    <a:p>
                      <a:pPr defTabSz="457200">
                        <a:lnSpc>
                          <a:spcPct val="100000"/>
                        </a:lnSpc>
                      </a:pPr>
                      <a:r>
                        <a:rPr lang="en-US" sz="1300" b="1" u="none" strike="noStrike">
                          <a:solidFill>
                            <a:srgbClr val="FFFFFF"/>
                          </a:solidFill>
                          <a:effectLst/>
                          <a:uFillTx/>
                          <a:latin typeface="Segoe UI Semibold"/>
                        </a:rPr>
                        <a:t>Challenge</a:t>
                      </a:r>
                      <a:endParaRPr lang="en-IN" sz="1300" b="0" u="none" strike="noStrike">
                        <a:solidFill>
                          <a:srgbClr val="FFFFFF"/>
                        </a:solidFill>
                        <a:effectLst/>
                        <a:uFillTx/>
                        <a:latin typeface="Arial"/>
                      </a:endParaRPr>
                    </a:p>
                  </a:txBody>
                  <a:tcPr anchor="ctr" marL="101520" marR="10152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22B3A"/>
                    </a:solidFill>
                  </a:tcPr>
                </a:tc>
                <a:tc>
                  <a:txBody>
                    <a:bodyPr lIns="101520" tIns="50760" rIns="101520" bIns="50760" anchor="ctr">
                      <a:noAutofit/>
                    </a:bodyPr>
                    <a:p>
                      <a:pPr defTabSz="457200">
                        <a:lnSpc>
                          <a:spcPct val="100000"/>
                        </a:lnSpc>
                      </a:pPr>
                      <a:r>
                        <a:rPr lang="en-US" sz="1300" b="1" u="none" strike="noStrike">
                          <a:solidFill>
                            <a:srgbClr val="FFFFFF"/>
                          </a:solidFill>
                          <a:effectLst/>
                          <a:uFillTx/>
                          <a:latin typeface="Segoe UI Semibold"/>
                        </a:rPr>
                        <a:t>Resolution</a:t>
                      </a:r>
                      <a:endParaRPr lang="en-IN" sz="1300" b="0" u="none" strike="noStrike">
                        <a:solidFill>
                          <a:srgbClr val="FFFFFF"/>
                        </a:solidFill>
                        <a:effectLst/>
                        <a:uFillTx/>
                        <a:latin typeface="Arial"/>
                      </a:endParaRPr>
                    </a:p>
                  </a:txBody>
                  <a:tcPr anchor="ctr" marL="101520" marR="101520" marT="50760" marB="507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22B3A"/>
                    </a:solidFill>
                  </a:tcPr>
                </a:tc>
              </a:tr>
              <a:tr h="749520">
                <a:tc>
                  <a:txBody>
                    <a:bodyPr lIns="101520" tIns="37800" rIns="101520" bIns="37800" anchor="ctr">
                      <a:noAutofit/>
                    </a:bodyPr>
                    <a:p>
                      <a:pPr defTabSz="457200">
                        <a:lnSpc>
                          <a:spcPct val="100000"/>
                        </a:lnSpc>
                      </a:pPr>
                      <a:r>
                        <a:rPr lang="en-US" sz="1300" b="0" u="none" strike="noStrike">
                          <a:solidFill>
                            <a:srgbClr val="222B3A"/>
                          </a:solidFill>
                          <a:effectLst/>
                          <a:uFillTx/>
                          <a:latin typeface="Segoe UI"/>
                        </a:rPr>
                        <a:t>Near-tautological evaluation (headline recall 0.979 meant nothing)</a:t>
                      </a:r>
                      <a:endParaRPr lang="en-IN" sz="13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101520" tIns="37800" rIns="101520" bIns="37800" anchor="ctr">
                      <a:noAutofit/>
                    </a:bodyPr>
                    <a:p>
                      <a:pPr defTabSz="457200">
                        <a:lnSpc>
                          <a:spcPct val="100000"/>
                        </a:lnSpc>
                      </a:pPr>
                      <a:r>
                        <a:rPr lang="en-US" sz="1300" b="0" u="none" strike="noStrike">
                          <a:solidFill>
                            <a:srgbClr val="222B3A"/>
                          </a:solidFill>
                          <a:effectLst/>
                          <a:uFillTx/>
                          <a:latin typeface="Segoe UI"/>
                        </a:rPr>
                        <a:t>Added Protocol B (peer-target prediction) as the honest quality measure</a:t>
                      </a:r>
                      <a:endParaRPr lang="en-IN" sz="13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749520">
                <a:tc>
                  <a:txBody>
                    <a:bodyPr lIns="101520" tIns="37800" rIns="101520" bIns="37800" anchor="ctr">
                      <a:noAutofit/>
                    </a:bodyPr>
                    <a:p>
                      <a:pPr defTabSz="457200">
                        <a:lnSpc>
                          <a:spcPct val="100000"/>
                        </a:lnSpc>
                      </a:pPr>
                      <a:r>
                        <a:rPr lang="en-US" sz="1300" b="0" u="none" strike="noStrike">
                          <a:solidFill>
                            <a:srgbClr val="222B3A"/>
                          </a:solidFill>
                          <a:effectLst/>
                          <a:uFillTx/>
                          <a:latin typeface="Segoe UI"/>
                        </a:rPr>
                        <a:t>difficulty signal column silently overwrote the difficulty display column</a:t>
                      </a:r>
                      <a:endParaRPr lang="en-IN" sz="13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FE7"/>
                    </a:solidFill>
                  </a:tcPr>
                </a:tc>
                <a:tc>
                  <a:txBody>
                    <a:bodyPr lIns="101520" tIns="37800" rIns="101520" bIns="37800" anchor="ctr">
                      <a:noAutofit/>
                    </a:bodyPr>
                    <a:p>
                      <a:pPr defTabSz="457200">
                        <a:lnSpc>
                          <a:spcPct val="100000"/>
                        </a:lnSpc>
                      </a:pPr>
                      <a:r>
                        <a:rPr lang="en-US" sz="1300" b="0" u="none" strike="noStrike">
                          <a:solidFill>
                            <a:srgbClr val="222B3A"/>
                          </a:solidFill>
                          <a:effectLst/>
                          <a:uFillTx/>
                          <a:latin typeface="Segoe UI"/>
                        </a:rPr>
                        <a:t>Renamed the signal output to difficulty_fit</a:t>
                      </a:r>
                      <a:endParaRPr lang="en-IN" sz="13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FE7"/>
                    </a:solidFill>
                  </a:tcPr>
                </a:tc>
              </a:tr>
              <a:tr h="749520">
                <a:tc>
                  <a:txBody>
                    <a:bodyPr lIns="101520" tIns="37800" rIns="101520" bIns="37800" anchor="ctr">
                      <a:noAutofit/>
                    </a:bodyPr>
                    <a:p>
                      <a:pPr defTabSz="457200">
                        <a:lnSpc>
                          <a:spcPct val="100000"/>
                        </a:lnSpc>
                      </a:pPr>
                      <a:r>
                        <a:rPr lang="en-US" sz="1300" b="0" u="none" strike="noStrike">
                          <a:solidFill>
                            <a:srgbClr val="222B3A"/>
                          </a:solidFill>
                          <a:effectLst/>
                          <a:uFillTx/>
                          <a:latin typeface="Segoe UI"/>
                        </a:rPr>
                        <a:t>Gemini SDK's automatic function-calling broke on 2 sequential tool calls</a:t>
                      </a:r>
                      <a:endParaRPr lang="en-IN" sz="13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101520" tIns="37800" rIns="101520" bIns="37800" anchor="ctr">
                      <a:noAutofit/>
                    </a:bodyPr>
                    <a:p>
                      <a:pPr defTabSz="457200">
                        <a:lnSpc>
                          <a:spcPct val="100000"/>
                        </a:lnSpc>
                      </a:pPr>
                      <a:r>
                        <a:rPr lang="en-US" sz="1300" b="0" u="none" strike="noStrike">
                          <a:solidFill>
                            <a:srgbClr val="222B3A"/>
                          </a:solidFill>
                          <a:effectLst/>
                          <a:uFillTx/>
                          <a:latin typeface="Segoe UI"/>
                        </a:rPr>
                        <a:t>Replaced with a manual tool-call loop in TrainingAgent.send</a:t>
                      </a:r>
                      <a:endParaRPr lang="en-IN" sz="13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749520">
                <a:tc>
                  <a:txBody>
                    <a:bodyPr lIns="101520" tIns="37800" rIns="101520" bIns="37800" anchor="ctr">
                      <a:noAutofit/>
                    </a:bodyPr>
                    <a:p>
                      <a:pPr defTabSz="457200">
                        <a:lnSpc>
                          <a:spcPct val="100000"/>
                        </a:lnSpc>
                      </a:pPr>
                      <a:r>
                        <a:rPr lang="en-US" sz="1300" b="0" u="none" strike="noStrike">
                          <a:solidFill>
                            <a:srgbClr val="222B3A"/>
                          </a:solidFill>
                          <a:effectLst/>
                          <a:uFillTx/>
                          <a:latin typeface="Segoe UI"/>
                        </a:rPr>
                        <a:t>Notebooks 01/02 unrunnable (missing data/raw/, data/cleaned/)</a:t>
                      </a:r>
                      <a:endParaRPr lang="en-IN" sz="13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FE7"/>
                    </a:solidFill>
                  </a:tcPr>
                </a:tc>
                <a:tc>
                  <a:txBody>
                    <a:bodyPr lIns="101520" tIns="37800" rIns="101520" bIns="37800" anchor="ctr">
                      <a:noAutofit/>
                    </a:bodyPr>
                    <a:p>
                      <a:pPr defTabSz="457200">
                        <a:lnSpc>
                          <a:spcPct val="100000"/>
                        </a:lnSpc>
                      </a:pPr>
                      <a:r>
                        <a:rPr lang="en-US" sz="1300" b="0" u="none" strike="noStrike">
                          <a:solidFill>
                            <a:srgbClr val="222B3A"/>
                          </a:solidFill>
                          <a:effectLst/>
                          <a:uFillTx/>
                          <a:latin typeface="Segoe UI"/>
                        </a:rPr>
                        <a:t>Rebuilt data/ layout; added a fallback loader in notebook 02</a:t>
                      </a:r>
                      <a:endParaRPr lang="en-IN" sz="1300" b="0" u="none" strike="noStrike">
                        <a:solidFill>
                          <a:srgbClr val="000000"/>
                        </a:solidFill>
                        <a:effectLst/>
                        <a:uFillTx/>
                        <a:latin typeface="Arial"/>
                      </a:endParaRPr>
                    </a:p>
                  </a:txBody>
                  <a:tcPr anchor="ctr" marL="101520" marR="101520" marT="37800" marB="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3EFE7"/>
                    </a:solidFill>
                  </a:tcPr>
                </a:tc>
              </a:tr>
            </a:tbl>
          </a:graphicData>
        </a:graphic>
      </p:graphicFrame>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1" name="Rectangle 1"/>
          <p:cNvSpPr/>
          <p:nvPr/>
        </p:nvSpPr>
        <p:spPr>
          <a:xfrm>
            <a:off x="0" y="0"/>
            <a:ext cx="12191040" cy="6857280"/>
          </a:xfrm>
          <a:prstGeom prst="rect">
            <a:avLst/>
          </a:prstGeom>
          <a:solidFill>
            <a:srgbClr val="FCFBF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82" name="TextBox 2"/>
          <p:cNvSpPr/>
          <p:nvPr/>
        </p:nvSpPr>
        <p:spPr>
          <a:xfrm>
            <a:off x="640080" y="384120"/>
            <a:ext cx="822888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00" b="1" u="none" strike="noStrike">
                <a:solidFill>
                  <a:srgbClr val="D96B45"/>
                </a:solidFill>
                <a:effectLst/>
                <a:uFillTx/>
                <a:latin typeface="Segoe UI Semibold"/>
              </a:rPr>
              <a:t>HONESTY PASS</a:t>
            </a:r>
            <a:endParaRPr lang="en-IN" sz="1300" b="0" u="none" strike="noStrike">
              <a:solidFill>
                <a:srgbClr val="000000"/>
              </a:solidFill>
              <a:effectLst/>
              <a:uFillTx/>
              <a:latin typeface="Arial"/>
            </a:endParaRPr>
          </a:p>
        </p:txBody>
      </p:sp>
      <p:sp>
        <p:nvSpPr>
          <p:cNvPr id="383" name="TextBox 3"/>
          <p:cNvSpPr/>
          <p:nvPr/>
        </p:nvSpPr>
        <p:spPr>
          <a:xfrm>
            <a:off x="640080" y="658440"/>
            <a:ext cx="9874800" cy="6850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3000" b="1" u="none" strike="noStrike">
                <a:solidFill>
                  <a:srgbClr val="222B3A"/>
                </a:solidFill>
                <a:effectLst/>
                <a:uFillTx/>
                <a:latin typeface="Segoe UI Semibold"/>
              </a:rPr>
              <a:t>Known limits</a:t>
            </a:r>
            <a:endParaRPr lang="en-IN" sz="3000" b="0" u="none" strike="noStrike">
              <a:solidFill>
                <a:srgbClr val="000000"/>
              </a:solidFill>
              <a:effectLst/>
              <a:uFillTx/>
              <a:latin typeface="Arial"/>
            </a:endParaRPr>
          </a:p>
        </p:txBody>
      </p:sp>
      <p:sp>
        <p:nvSpPr>
          <p:cNvPr id="384" name="Rectangle 4"/>
          <p:cNvSpPr/>
          <p:nvPr/>
        </p:nvSpPr>
        <p:spPr>
          <a:xfrm>
            <a:off x="640080" y="1298520"/>
            <a:ext cx="822240" cy="50040"/>
          </a:xfrm>
          <a:prstGeom prst="rect">
            <a:avLst/>
          </a:prstGeom>
          <a:solidFill>
            <a:srgbClr val="D96B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760" rIns="90000" bIns="5760" anchor="ctr">
            <a:noAutofit/>
          </a:bodyPr>
          <a:p>
            <a:pPr/>
            <a:endParaRPr lang="en-US" sz="1800" b="0" u="none" strike="noStrike">
              <a:solidFill>
                <a:schemeClr val="lt1"/>
              </a:solidFill>
              <a:effectLst/>
              <a:uFillTx/>
              <a:latin typeface="Calibri"/>
            </a:endParaRPr>
          </a:p>
        </p:txBody>
      </p:sp>
      <p:sp>
        <p:nvSpPr>
          <p:cNvPr id="385" name="TextBox 5"/>
          <p:cNvSpPr/>
          <p:nvPr/>
        </p:nvSpPr>
        <p:spPr>
          <a:xfrm>
            <a:off x="11155680" y="6355080"/>
            <a:ext cx="822240" cy="3650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1400" b="0" u="none" strike="noStrike">
                <a:solidFill>
                  <a:srgbClr val="667080"/>
                </a:solidFill>
                <a:effectLst/>
                <a:uFillTx/>
                <a:latin typeface="Segoe UI Semibold"/>
              </a:rPr>
              <a:t>21</a:t>
            </a:r>
            <a:endParaRPr lang="en-IN" sz="1400" b="0" u="none" strike="noStrike">
              <a:solidFill>
                <a:srgbClr val="000000"/>
              </a:solidFill>
              <a:effectLst/>
              <a:uFillTx/>
              <a:latin typeface="Arial"/>
            </a:endParaRPr>
          </a:p>
        </p:txBody>
      </p:sp>
      <p:sp>
        <p:nvSpPr>
          <p:cNvPr id="386" name="TextBox 6"/>
          <p:cNvSpPr/>
          <p:nvPr/>
        </p:nvSpPr>
        <p:spPr>
          <a:xfrm>
            <a:off x="640080" y="6473880"/>
            <a:ext cx="548568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0" u="none" strike="noStrike">
                <a:solidFill>
                  <a:srgbClr val="667080"/>
                </a:solidFill>
                <a:effectLst/>
                <a:uFillTx/>
                <a:latin typeface="Segoe UI"/>
              </a:rPr>
              <a:t>Skill-Gap Course Recommendation Engine</a:t>
            </a:r>
            <a:endParaRPr lang="en-IN" sz="1000" b="0" u="none" strike="noStrike">
              <a:solidFill>
                <a:srgbClr val="000000"/>
              </a:solidFill>
              <a:effectLst/>
              <a:uFillTx/>
              <a:latin typeface="Arial"/>
            </a:endParaRPr>
          </a:p>
        </p:txBody>
      </p:sp>
      <p:sp>
        <p:nvSpPr>
          <p:cNvPr id="387" name="TextBox 7"/>
          <p:cNvSpPr/>
          <p:nvPr/>
        </p:nvSpPr>
        <p:spPr>
          <a:xfrm>
            <a:off x="640080" y="1691640"/>
            <a:ext cx="10880640" cy="4388400"/>
          </a:xfrm>
          <a:prstGeom prst="rect">
            <a:avLst/>
          </a:prstGeom>
          <a:noFill/>
          <a:ln w="0">
            <a:noFill/>
          </a:ln>
        </p:spPr>
        <p:style>
          <a:lnRef idx="0"/>
          <a:fillRef idx="0"/>
          <a:effectRef idx="0"/>
          <a:fontRef idx="minor"/>
        </p:style>
        <p:txBody>
          <a:bodyPr lIns="0" tIns="0" rIns="0" bIns="0" anchor="t">
            <a:spAutoFit/>
          </a:bodyPr>
          <a:p>
            <a:pPr defTabSz="457200">
              <a:lnSpc>
                <a:spcPct val="115000"/>
              </a:lnSpc>
              <a:spcAft>
                <a:spcPts val="1001"/>
              </a:spcAft>
            </a:pPr>
            <a:r>
              <a:rPr lang="en-US" sz="1500" b="1" u="none" strike="noStrike">
                <a:solidFill>
                  <a:srgbClr val="D96B45"/>
                </a:solidFill>
                <a:effectLst/>
                <a:uFillTx/>
                <a:latin typeface="Segoe UI"/>
              </a:rPr>
              <a:t>▪ </a:t>
            </a:r>
            <a:r>
              <a:rPr lang="en-US" sz="1500" b="0" u="none" strike="noStrike">
                <a:solidFill>
                  <a:srgbClr val="222B3A"/>
                </a:solidFill>
                <a:effectLst/>
                <a:uFillTx/>
                <a:latin typeface="Segoe UI"/>
              </a:rPr>
              <a:t>Catalogue is small:</a:t>
            </a:r>
            <a:endParaRPr lang="en-IN" sz="1500" b="0" u="none" strike="noStrike">
              <a:solidFill>
                <a:srgbClr val="000000"/>
              </a:solidFill>
              <a:effectLst/>
              <a:uFillTx/>
              <a:latin typeface="Arial"/>
            </a:endParaRPr>
          </a:p>
          <a:p>
            <a:pPr defTabSz="457200">
              <a:lnSpc>
                <a:spcPct val="115000"/>
              </a:lnSpc>
              <a:spcAft>
                <a:spcPts val="1001"/>
              </a:spcAft>
            </a:pPr>
            <a:r>
              <a:rPr lang="en-US" sz="1300" b="0" u="none" strike="noStrike">
                <a:solidFill>
                  <a:srgbClr val="667080"/>
                </a:solidFill>
                <a:effectLst/>
                <a:uFillTx/>
                <a:latin typeface="Segoe UI"/>
              </a:rPr>
              <a:t>–  </a:t>
            </a:r>
            <a:r>
              <a:rPr lang="en-US" sz="1300" b="0" u="none" strike="noStrike">
                <a:solidFill>
                  <a:srgbClr val="222B3A"/>
                </a:solidFill>
                <a:effectLst/>
                <a:uFillTx/>
                <a:latin typeface="Segoe UI"/>
              </a:rPr>
              <a:t>404 courses covering 323 distinct skills — many realistic learner goals aren't teachable by it; gap.ceiling makes this visible per request rather than hiding it</a:t>
            </a:r>
            <a:endParaRPr lang="en-IN" sz="1300" b="0" u="none" strike="noStrike">
              <a:solidFill>
                <a:srgbClr val="000000"/>
              </a:solidFill>
              <a:effectLst/>
              <a:uFillTx/>
              <a:latin typeface="Arial"/>
            </a:endParaRPr>
          </a:p>
          <a:p>
            <a:pPr defTabSz="457200">
              <a:lnSpc>
                <a:spcPct val="115000"/>
              </a:lnSpc>
              <a:spcAft>
                <a:spcPts val="1001"/>
              </a:spcAft>
            </a:pPr>
            <a:r>
              <a:rPr lang="en-US" sz="1500" b="1" u="none" strike="noStrike">
                <a:solidFill>
                  <a:srgbClr val="D96B45"/>
                </a:solidFill>
                <a:effectLst/>
                <a:uFillTx/>
                <a:latin typeface="Segoe UI"/>
              </a:rPr>
              <a:t>▪ </a:t>
            </a:r>
            <a:r>
              <a:rPr lang="en-US" sz="1500" b="0" u="none" strike="noStrike">
                <a:solidFill>
                  <a:srgbClr val="222B3A"/>
                </a:solidFill>
                <a:effectLst/>
                <a:uFillTx/>
                <a:latin typeface="Segoe UI"/>
              </a:rPr>
              <a:t>Quality is a weak signal by construction:</a:t>
            </a:r>
            <a:endParaRPr lang="en-IN" sz="1500" b="0" u="none" strike="noStrike">
              <a:solidFill>
                <a:srgbClr val="000000"/>
              </a:solidFill>
              <a:effectLst/>
              <a:uFillTx/>
              <a:latin typeface="Arial"/>
            </a:endParaRPr>
          </a:p>
          <a:p>
            <a:pPr defTabSz="457200">
              <a:lnSpc>
                <a:spcPct val="115000"/>
              </a:lnSpc>
              <a:spcAft>
                <a:spcPts val="1001"/>
              </a:spcAft>
            </a:pPr>
            <a:r>
              <a:rPr lang="en-US" sz="1300" b="0" u="none" strike="noStrike">
                <a:solidFill>
                  <a:srgbClr val="667080"/>
                </a:solidFill>
                <a:effectLst/>
                <a:uFillTx/>
                <a:latin typeface="Segoe UI"/>
              </a:rPr>
              <a:t>–  </a:t>
            </a:r>
            <a:r>
              <a:rPr lang="en-US" sz="1300" b="0" u="none" strike="noStrike">
                <a:solidFill>
                  <a:srgbClr val="222B3A"/>
                </a:solidFill>
                <a:effectLst/>
                <a:uFillTx/>
                <a:latin typeface="Segoe UI"/>
              </a:rPr>
              <a:t>Ratings are compressed (mean 4.68, σ 0.17), and review_count is missing for 75% of courses</a:t>
            </a:r>
            <a:endParaRPr lang="en-IN" sz="1300" b="0" u="none" strike="noStrike">
              <a:solidFill>
                <a:srgbClr val="000000"/>
              </a:solidFill>
              <a:effectLst/>
              <a:uFillTx/>
              <a:latin typeface="Arial"/>
            </a:endParaRPr>
          </a:p>
          <a:p>
            <a:pPr defTabSz="457200">
              <a:lnSpc>
                <a:spcPct val="115000"/>
              </a:lnSpc>
              <a:spcAft>
                <a:spcPts val="1001"/>
              </a:spcAft>
            </a:pPr>
            <a:r>
              <a:rPr lang="en-US" sz="1500" b="1" u="none" strike="noStrike">
                <a:solidFill>
                  <a:srgbClr val="D96B45"/>
                </a:solidFill>
                <a:effectLst/>
                <a:uFillTx/>
                <a:latin typeface="Segoe UI"/>
              </a:rPr>
              <a:t>▪ </a:t>
            </a:r>
            <a:r>
              <a:rPr lang="en-US" sz="1500" b="0" u="none" strike="noStrike">
                <a:solidFill>
                  <a:srgbClr val="222B3A"/>
                </a:solidFill>
                <a:effectLst/>
                <a:uFillTx/>
                <a:latin typeface="Segoe UI"/>
              </a:rPr>
              <a:t>Evaluation measures skill retrieval, not learning outcomes:</a:t>
            </a:r>
            <a:endParaRPr lang="en-IN" sz="1500" b="0" u="none" strike="noStrike">
              <a:solidFill>
                <a:srgbClr val="000000"/>
              </a:solidFill>
              <a:effectLst/>
              <a:uFillTx/>
              <a:latin typeface="Arial"/>
            </a:endParaRPr>
          </a:p>
          <a:p>
            <a:pPr defTabSz="457200">
              <a:lnSpc>
                <a:spcPct val="115000"/>
              </a:lnSpc>
              <a:spcAft>
                <a:spcPts val="1001"/>
              </a:spcAft>
            </a:pPr>
            <a:r>
              <a:rPr lang="en-US" sz="1300" b="0" u="none" strike="noStrike">
                <a:solidFill>
                  <a:srgbClr val="667080"/>
                </a:solidFill>
                <a:effectLst/>
                <a:uFillTx/>
                <a:latin typeface="Segoe UI"/>
              </a:rPr>
              <a:t>–  </a:t>
            </a:r>
            <a:r>
              <a:rPr lang="en-US" sz="1300" b="0" u="none" strike="noStrike">
                <a:solidFill>
                  <a:srgbClr val="222B3A"/>
                </a:solidFill>
                <a:effectLst/>
                <a:uFillTx/>
                <a:latin typeface="Segoe UI"/>
              </a:rPr>
              <a:t>Cannot capture teaching quality, prerequisites, or course ordering</a:t>
            </a:r>
            <a:endParaRPr lang="en-IN" sz="1300" b="0" u="none" strike="noStrike">
              <a:solidFill>
                <a:srgbClr val="000000"/>
              </a:solidFill>
              <a:effectLst/>
              <a:uFillTx/>
              <a:latin typeface="Arial"/>
            </a:endParaRPr>
          </a:p>
          <a:p>
            <a:pPr defTabSz="457200">
              <a:lnSpc>
                <a:spcPct val="115000"/>
              </a:lnSpc>
              <a:spcAft>
                <a:spcPts val="1001"/>
              </a:spcAft>
            </a:pPr>
            <a:r>
              <a:rPr lang="en-US" sz="1500" b="1" u="none" strike="noStrike">
                <a:solidFill>
                  <a:srgbClr val="D96B45"/>
                </a:solidFill>
                <a:effectLst/>
                <a:uFillTx/>
                <a:latin typeface="Segoe UI"/>
              </a:rPr>
              <a:t>▪ </a:t>
            </a:r>
            <a:r>
              <a:rPr lang="en-US" sz="1500" b="0" u="none" strike="noStrike">
                <a:solidFill>
                  <a:srgbClr val="222B3A"/>
                </a:solidFill>
                <a:effectLst/>
                <a:uFillTx/>
                <a:latin typeface="Segoe UI"/>
              </a:rPr>
              <a:t>Signal weights (0.40 / 0.25 / 0.15 / 0.12 / 0.08) are reasoned defaults, not learned:</a:t>
            </a:r>
            <a:endParaRPr lang="en-IN" sz="1500" b="0" u="none" strike="noStrike">
              <a:solidFill>
                <a:srgbClr val="000000"/>
              </a:solidFill>
              <a:effectLst/>
              <a:uFillTx/>
              <a:latin typeface="Arial"/>
            </a:endParaRPr>
          </a:p>
          <a:p>
            <a:pPr defTabSz="457200">
              <a:lnSpc>
                <a:spcPct val="115000"/>
              </a:lnSpc>
              <a:spcAft>
                <a:spcPts val="1001"/>
              </a:spcAft>
            </a:pPr>
            <a:r>
              <a:rPr lang="en-US" sz="1300" b="0" u="none" strike="noStrike">
                <a:solidFill>
                  <a:srgbClr val="667080"/>
                </a:solidFill>
                <a:effectLst/>
                <a:uFillTx/>
                <a:latin typeface="Segoe UI"/>
              </a:rPr>
              <a:t>–  </a:t>
            </a:r>
            <a:r>
              <a:rPr lang="en-US" sz="1300" b="0" u="none" strike="noStrike">
                <a:solidFill>
                  <a:srgbClr val="222B3A"/>
                </a:solidFill>
                <a:effectLst/>
                <a:uFillTx/>
                <a:latin typeface="Segoe UI"/>
              </a:rPr>
              <a:t>With real interaction data they should be fit, e.g. via grid search against Protocol B</a:t>
            </a:r>
            <a:endParaRPr lang="en-IN" sz="1300" b="0" u="none" strike="noStrike">
              <a:solidFill>
                <a:srgbClr val="000000"/>
              </a:solidFill>
              <a:effectLst/>
              <a:uFillTx/>
              <a:latin typeface="Arial"/>
            </a:endParaRPr>
          </a:p>
          <a:p>
            <a:pPr defTabSz="457200">
              <a:lnSpc>
                <a:spcPct val="115000"/>
              </a:lnSpc>
              <a:spcAft>
                <a:spcPts val="1001"/>
              </a:spcAft>
            </a:pPr>
            <a:r>
              <a:rPr lang="en-US" sz="1500" b="1" u="none" strike="noStrike">
                <a:solidFill>
                  <a:srgbClr val="D96B45"/>
                </a:solidFill>
                <a:effectLst/>
                <a:uFillTx/>
                <a:latin typeface="Segoe UI"/>
              </a:rPr>
              <a:t>▪ </a:t>
            </a:r>
            <a:r>
              <a:rPr lang="en-US" sz="1500" b="0" u="none" strike="noStrike">
                <a:solidFill>
                  <a:srgbClr val="222B3A"/>
                </a:solidFill>
                <a:effectLst/>
                <a:uFillTx/>
                <a:latin typeface="Segoe UI"/>
              </a:rPr>
              <a:t>No persistence for embeddings or chat sessions:</a:t>
            </a:r>
            <a:endParaRPr lang="en-IN" sz="1500" b="0" u="none" strike="noStrike">
              <a:solidFill>
                <a:srgbClr val="000000"/>
              </a:solidFill>
              <a:effectLst/>
              <a:uFillTx/>
              <a:latin typeface="Arial"/>
            </a:endParaRPr>
          </a:p>
          <a:p>
            <a:pPr defTabSz="457200">
              <a:lnSpc>
                <a:spcPct val="115000"/>
              </a:lnSpc>
              <a:spcAft>
                <a:spcPts val="1001"/>
              </a:spcAft>
            </a:pPr>
            <a:r>
              <a:rPr lang="en-US" sz="1300" b="0" u="none" strike="noStrike">
                <a:solidFill>
                  <a:srgbClr val="667080"/>
                </a:solidFill>
                <a:effectLst/>
                <a:uFillTx/>
                <a:latin typeface="Segoe UI"/>
              </a:rPr>
              <a:t>–  </a:t>
            </a:r>
            <a:r>
              <a:rPr lang="en-US" sz="1300" b="0" u="none" strike="noStrike">
                <a:solidFill>
                  <a:srgbClr val="222B3A"/>
                </a:solidFill>
                <a:effectLst/>
                <a:uFillTx/>
                <a:latin typeface="Segoe UI"/>
              </a:rPr>
              <a:t>Every run re-encodes embeddings from scratch; chat sessions are in-memory only</a:t>
            </a:r>
            <a:endParaRPr lang="en-IN"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8" name="Rectangle 1"/>
          <p:cNvSpPr/>
          <p:nvPr/>
        </p:nvSpPr>
        <p:spPr>
          <a:xfrm>
            <a:off x="0" y="0"/>
            <a:ext cx="12191040" cy="6857280"/>
          </a:xfrm>
          <a:prstGeom prst="rect">
            <a:avLst/>
          </a:prstGeom>
          <a:solidFill>
            <a:srgbClr val="FCFBF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89" name="TextBox 2"/>
          <p:cNvSpPr/>
          <p:nvPr/>
        </p:nvSpPr>
        <p:spPr>
          <a:xfrm>
            <a:off x="640080" y="384120"/>
            <a:ext cx="822888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00" b="1" u="none" strike="noStrike">
                <a:solidFill>
                  <a:srgbClr val="D96B45"/>
                </a:solidFill>
                <a:effectLst/>
                <a:uFillTx/>
                <a:latin typeface="Segoe UI Semibold"/>
              </a:rPr>
              <a:t>WHAT'S NEXT</a:t>
            </a:r>
            <a:endParaRPr lang="en-IN" sz="1300" b="0" u="none" strike="noStrike">
              <a:solidFill>
                <a:srgbClr val="000000"/>
              </a:solidFill>
              <a:effectLst/>
              <a:uFillTx/>
              <a:latin typeface="Arial"/>
            </a:endParaRPr>
          </a:p>
        </p:txBody>
      </p:sp>
      <p:sp>
        <p:nvSpPr>
          <p:cNvPr id="390" name="TextBox 3"/>
          <p:cNvSpPr/>
          <p:nvPr/>
        </p:nvSpPr>
        <p:spPr>
          <a:xfrm>
            <a:off x="640080" y="658440"/>
            <a:ext cx="9874800" cy="6850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3000" b="1" u="none" strike="noStrike">
                <a:solidFill>
                  <a:srgbClr val="222B3A"/>
                </a:solidFill>
                <a:effectLst/>
                <a:uFillTx/>
                <a:latin typeface="Segoe UI Semibold"/>
              </a:rPr>
              <a:t>Roadmap / future work</a:t>
            </a:r>
            <a:endParaRPr lang="en-IN" sz="3000" b="0" u="none" strike="noStrike">
              <a:solidFill>
                <a:srgbClr val="000000"/>
              </a:solidFill>
              <a:effectLst/>
              <a:uFillTx/>
              <a:latin typeface="Arial"/>
            </a:endParaRPr>
          </a:p>
        </p:txBody>
      </p:sp>
      <p:sp>
        <p:nvSpPr>
          <p:cNvPr id="391" name="Rectangle 4"/>
          <p:cNvSpPr/>
          <p:nvPr/>
        </p:nvSpPr>
        <p:spPr>
          <a:xfrm>
            <a:off x="640080" y="1298520"/>
            <a:ext cx="822240" cy="50040"/>
          </a:xfrm>
          <a:prstGeom prst="rect">
            <a:avLst/>
          </a:prstGeom>
          <a:solidFill>
            <a:srgbClr val="D96B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760" rIns="90000" bIns="5760" anchor="ctr">
            <a:noAutofit/>
          </a:bodyPr>
          <a:p>
            <a:pPr/>
            <a:endParaRPr lang="en-US" sz="1800" b="0" u="none" strike="noStrike">
              <a:solidFill>
                <a:schemeClr val="lt1"/>
              </a:solidFill>
              <a:effectLst/>
              <a:uFillTx/>
              <a:latin typeface="Calibri"/>
            </a:endParaRPr>
          </a:p>
        </p:txBody>
      </p:sp>
      <p:sp>
        <p:nvSpPr>
          <p:cNvPr id="392" name="TextBox 5"/>
          <p:cNvSpPr/>
          <p:nvPr/>
        </p:nvSpPr>
        <p:spPr>
          <a:xfrm>
            <a:off x="11155680" y="6355080"/>
            <a:ext cx="822240" cy="3650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1400" b="0" u="none" strike="noStrike">
                <a:solidFill>
                  <a:srgbClr val="667080"/>
                </a:solidFill>
                <a:effectLst/>
                <a:uFillTx/>
                <a:latin typeface="Segoe UI Semibold"/>
              </a:rPr>
              <a:t>22</a:t>
            </a:r>
            <a:endParaRPr lang="en-IN" sz="1400" b="0" u="none" strike="noStrike">
              <a:solidFill>
                <a:srgbClr val="000000"/>
              </a:solidFill>
              <a:effectLst/>
              <a:uFillTx/>
              <a:latin typeface="Arial"/>
            </a:endParaRPr>
          </a:p>
        </p:txBody>
      </p:sp>
      <p:sp>
        <p:nvSpPr>
          <p:cNvPr id="393" name="TextBox 6"/>
          <p:cNvSpPr/>
          <p:nvPr/>
        </p:nvSpPr>
        <p:spPr>
          <a:xfrm>
            <a:off x="640080" y="6473880"/>
            <a:ext cx="548568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0" u="none" strike="noStrike">
                <a:solidFill>
                  <a:srgbClr val="667080"/>
                </a:solidFill>
                <a:effectLst/>
                <a:uFillTx/>
                <a:latin typeface="Segoe UI"/>
              </a:rPr>
              <a:t>Skill-Gap Course Recommendation Engine</a:t>
            </a:r>
            <a:endParaRPr lang="en-IN" sz="1000" b="0" u="none" strike="noStrike">
              <a:solidFill>
                <a:srgbClr val="000000"/>
              </a:solidFill>
              <a:effectLst/>
              <a:uFillTx/>
              <a:latin typeface="Arial"/>
            </a:endParaRPr>
          </a:p>
        </p:txBody>
      </p:sp>
      <p:sp>
        <p:nvSpPr>
          <p:cNvPr id="394" name="Oval 7"/>
          <p:cNvSpPr/>
          <p:nvPr/>
        </p:nvSpPr>
        <p:spPr>
          <a:xfrm>
            <a:off x="640080" y="1645920"/>
            <a:ext cx="456480" cy="456480"/>
          </a:xfrm>
          <a:prstGeom prst="ellipse">
            <a:avLst/>
          </a:prstGeom>
          <a:solidFill>
            <a:srgbClr val="D96B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600" b="1" u="none" strike="noStrike">
                <a:solidFill>
                  <a:srgbClr val="FFFFFF"/>
                </a:solidFill>
                <a:effectLst/>
                <a:uFillTx/>
                <a:latin typeface="Segoe UI Semibold"/>
              </a:rPr>
              <a:t>1</a:t>
            </a:r>
            <a:endParaRPr lang="en-IN" sz="1600" b="0" u="none" strike="noStrike">
              <a:solidFill>
                <a:srgbClr val="FFFFFF"/>
              </a:solidFill>
              <a:effectLst/>
              <a:uFillTx/>
              <a:latin typeface="Arial"/>
            </a:endParaRPr>
          </a:p>
        </p:txBody>
      </p:sp>
      <p:sp>
        <p:nvSpPr>
          <p:cNvPr id="395" name="TextBox 8"/>
          <p:cNvSpPr/>
          <p:nvPr/>
        </p:nvSpPr>
        <p:spPr>
          <a:xfrm>
            <a:off x="1261800" y="1664280"/>
            <a:ext cx="4635360" cy="91368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250" b="0" u="none" strike="noStrike">
                <a:solidFill>
                  <a:srgbClr val="222B3A"/>
                </a:solidFill>
                <a:effectLst/>
                <a:uFillTx/>
                <a:latin typeface="Segoe UI"/>
              </a:rPr>
              <a:t>Tune the bridge threshold against hand-labelled skill pairs instead of eyeballed 0.60</a:t>
            </a:r>
            <a:endParaRPr lang="en-IN" sz="1250" b="0" u="none" strike="noStrike">
              <a:solidFill>
                <a:srgbClr val="000000"/>
              </a:solidFill>
              <a:effectLst/>
              <a:uFillTx/>
              <a:latin typeface="Arial"/>
            </a:endParaRPr>
          </a:p>
        </p:txBody>
      </p:sp>
      <p:sp>
        <p:nvSpPr>
          <p:cNvPr id="396" name="Oval 9"/>
          <p:cNvSpPr/>
          <p:nvPr/>
        </p:nvSpPr>
        <p:spPr>
          <a:xfrm>
            <a:off x="640080" y="2697480"/>
            <a:ext cx="456480" cy="456480"/>
          </a:xfrm>
          <a:prstGeom prst="ellipse">
            <a:avLst/>
          </a:prstGeom>
          <a:solidFill>
            <a:srgbClr val="D96B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600" b="1" u="none" strike="noStrike">
                <a:solidFill>
                  <a:srgbClr val="FFFFFF"/>
                </a:solidFill>
                <a:effectLst/>
                <a:uFillTx/>
                <a:latin typeface="Segoe UI Semibold"/>
              </a:rPr>
              <a:t>2</a:t>
            </a:r>
            <a:endParaRPr lang="en-IN" sz="1600" b="0" u="none" strike="noStrike">
              <a:solidFill>
                <a:srgbClr val="FFFFFF"/>
              </a:solidFill>
              <a:effectLst/>
              <a:uFillTx/>
              <a:latin typeface="Arial"/>
            </a:endParaRPr>
          </a:p>
        </p:txBody>
      </p:sp>
      <p:sp>
        <p:nvSpPr>
          <p:cNvPr id="397" name="TextBox 10"/>
          <p:cNvSpPr/>
          <p:nvPr/>
        </p:nvSpPr>
        <p:spPr>
          <a:xfrm>
            <a:off x="1261800" y="2715840"/>
            <a:ext cx="4635360" cy="91368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250" b="0" u="none" strike="noStrike">
                <a:solidFill>
                  <a:srgbClr val="222B3A"/>
                </a:solidFill>
                <a:effectLst/>
                <a:uFillTx/>
                <a:latin typeface="Segoe UI"/>
              </a:rPr>
              <a:t>Learn the hybrid weights with a grid search or regression against Protocol B recall</a:t>
            </a:r>
            <a:endParaRPr lang="en-IN" sz="1250" b="0" u="none" strike="noStrike">
              <a:solidFill>
                <a:srgbClr val="000000"/>
              </a:solidFill>
              <a:effectLst/>
              <a:uFillTx/>
              <a:latin typeface="Arial"/>
            </a:endParaRPr>
          </a:p>
        </p:txBody>
      </p:sp>
      <p:sp>
        <p:nvSpPr>
          <p:cNvPr id="398" name="Oval 11"/>
          <p:cNvSpPr/>
          <p:nvPr/>
        </p:nvSpPr>
        <p:spPr>
          <a:xfrm>
            <a:off x="640080" y="3749040"/>
            <a:ext cx="456480" cy="456480"/>
          </a:xfrm>
          <a:prstGeom prst="ellipse">
            <a:avLst/>
          </a:prstGeom>
          <a:solidFill>
            <a:srgbClr val="D96B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600" b="1" u="none" strike="noStrike">
                <a:solidFill>
                  <a:srgbClr val="FFFFFF"/>
                </a:solidFill>
                <a:effectLst/>
                <a:uFillTx/>
                <a:latin typeface="Segoe UI Semibold"/>
              </a:rPr>
              <a:t>3</a:t>
            </a:r>
            <a:endParaRPr lang="en-IN" sz="1600" b="0" u="none" strike="noStrike">
              <a:solidFill>
                <a:srgbClr val="FFFFFF"/>
              </a:solidFill>
              <a:effectLst/>
              <a:uFillTx/>
              <a:latin typeface="Arial"/>
            </a:endParaRPr>
          </a:p>
        </p:txBody>
      </p:sp>
      <p:sp>
        <p:nvSpPr>
          <p:cNvPr id="399" name="TextBox 12"/>
          <p:cNvSpPr/>
          <p:nvPr/>
        </p:nvSpPr>
        <p:spPr>
          <a:xfrm>
            <a:off x="1261800" y="3767400"/>
            <a:ext cx="4635360" cy="91368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250" b="0" u="none" strike="noStrike">
                <a:solidFill>
                  <a:srgbClr val="222B3A"/>
                </a:solidFill>
                <a:effectLst/>
                <a:uFillTx/>
                <a:latin typeface="Segoe UI"/>
              </a:rPr>
              <a:t>Use duration and type (Course / Specialization / Certificate), currently unused in ranking</a:t>
            </a:r>
            <a:endParaRPr lang="en-IN" sz="1250" b="0" u="none" strike="noStrike">
              <a:solidFill>
                <a:srgbClr val="000000"/>
              </a:solidFill>
              <a:effectLst/>
              <a:uFillTx/>
              <a:latin typeface="Arial"/>
            </a:endParaRPr>
          </a:p>
        </p:txBody>
      </p:sp>
      <p:sp>
        <p:nvSpPr>
          <p:cNvPr id="400" name="Oval 13"/>
          <p:cNvSpPr/>
          <p:nvPr/>
        </p:nvSpPr>
        <p:spPr>
          <a:xfrm>
            <a:off x="640080" y="4800600"/>
            <a:ext cx="456480" cy="456480"/>
          </a:xfrm>
          <a:prstGeom prst="ellipse">
            <a:avLst/>
          </a:prstGeom>
          <a:solidFill>
            <a:srgbClr val="D96B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600" b="1" u="none" strike="noStrike">
                <a:solidFill>
                  <a:srgbClr val="FFFFFF"/>
                </a:solidFill>
                <a:effectLst/>
                <a:uFillTx/>
                <a:latin typeface="Segoe UI Semibold"/>
              </a:rPr>
              <a:t>4</a:t>
            </a:r>
            <a:endParaRPr lang="en-IN" sz="1600" b="0" u="none" strike="noStrike">
              <a:solidFill>
                <a:srgbClr val="FFFFFF"/>
              </a:solidFill>
              <a:effectLst/>
              <a:uFillTx/>
              <a:latin typeface="Arial"/>
            </a:endParaRPr>
          </a:p>
        </p:txBody>
      </p:sp>
      <p:sp>
        <p:nvSpPr>
          <p:cNvPr id="401" name="TextBox 14"/>
          <p:cNvSpPr/>
          <p:nvPr/>
        </p:nvSpPr>
        <p:spPr>
          <a:xfrm>
            <a:off x="1261800" y="4818960"/>
            <a:ext cx="4635360" cy="91368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250" b="0" u="none" strike="noStrike">
                <a:solidFill>
                  <a:srgbClr val="222B3A"/>
                </a:solidFill>
                <a:effectLst/>
                <a:uFillTx/>
                <a:latin typeface="Segoe UI"/>
              </a:rPr>
              <a:t>Handle cold start explicitly for the 381 learner profiles with zero valid skills</a:t>
            </a:r>
            <a:endParaRPr lang="en-IN" sz="1250" b="0" u="none" strike="noStrike">
              <a:solidFill>
                <a:srgbClr val="000000"/>
              </a:solidFill>
              <a:effectLst/>
              <a:uFillTx/>
              <a:latin typeface="Arial"/>
            </a:endParaRPr>
          </a:p>
        </p:txBody>
      </p:sp>
      <p:sp>
        <p:nvSpPr>
          <p:cNvPr id="402" name="Oval 15"/>
          <p:cNvSpPr/>
          <p:nvPr/>
        </p:nvSpPr>
        <p:spPr>
          <a:xfrm>
            <a:off x="6263640" y="1645920"/>
            <a:ext cx="456480" cy="456480"/>
          </a:xfrm>
          <a:prstGeom prst="ellipse">
            <a:avLst/>
          </a:prstGeom>
          <a:solidFill>
            <a:srgbClr val="D96B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600" b="1" u="none" strike="noStrike">
                <a:solidFill>
                  <a:srgbClr val="FFFFFF"/>
                </a:solidFill>
                <a:effectLst/>
                <a:uFillTx/>
                <a:latin typeface="Segoe UI Semibold"/>
              </a:rPr>
              <a:t>5</a:t>
            </a:r>
            <a:endParaRPr lang="en-IN" sz="1600" b="0" u="none" strike="noStrike">
              <a:solidFill>
                <a:srgbClr val="FFFFFF"/>
              </a:solidFill>
              <a:effectLst/>
              <a:uFillTx/>
              <a:latin typeface="Arial"/>
            </a:endParaRPr>
          </a:p>
        </p:txBody>
      </p:sp>
      <p:sp>
        <p:nvSpPr>
          <p:cNvPr id="403" name="TextBox 16"/>
          <p:cNvSpPr/>
          <p:nvPr/>
        </p:nvSpPr>
        <p:spPr>
          <a:xfrm>
            <a:off x="6885360" y="1664280"/>
            <a:ext cx="4635360" cy="91368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250" b="0" u="none" strike="noStrike">
                <a:solidFill>
                  <a:srgbClr val="222B3A"/>
                </a:solidFill>
                <a:effectLst/>
                <a:uFillTx/>
                <a:latin typeface="Segoe UI"/>
              </a:rPr>
              <a:t>Expand the catalogue — likely the single highest-leverage change</a:t>
            </a:r>
            <a:endParaRPr lang="en-IN" sz="1250" b="0" u="none" strike="noStrike">
              <a:solidFill>
                <a:srgbClr val="000000"/>
              </a:solidFill>
              <a:effectLst/>
              <a:uFillTx/>
              <a:latin typeface="Arial"/>
            </a:endParaRPr>
          </a:p>
        </p:txBody>
      </p:sp>
      <p:sp>
        <p:nvSpPr>
          <p:cNvPr id="404" name="Oval 17"/>
          <p:cNvSpPr/>
          <p:nvPr/>
        </p:nvSpPr>
        <p:spPr>
          <a:xfrm>
            <a:off x="6263640" y="2697480"/>
            <a:ext cx="456480" cy="456480"/>
          </a:xfrm>
          <a:prstGeom prst="ellipse">
            <a:avLst/>
          </a:prstGeom>
          <a:solidFill>
            <a:srgbClr val="D96B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600" b="1" u="none" strike="noStrike">
                <a:solidFill>
                  <a:srgbClr val="FFFFFF"/>
                </a:solidFill>
                <a:effectLst/>
                <a:uFillTx/>
                <a:latin typeface="Segoe UI Semibold"/>
              </a:rPr>
              <a:t>6</a:t>
            </a:r>
            <a:endParaRPr lang="en-IN" sz="1600" b="0" u="none" strike="noStrike">
              <a:solidFill>
                <a:srgbClr val="FFFFFF"/>
              </a:solidFill>
              <a:effectLst/>
              <a:uFillTx/>
              <a:latin typeface="Arial"/>
            </a:endParaRPr>
          </a:p>
        </p:txBody>
      </p:sp>
      <p:sp>
        <p:nvSpPr>
          <p:cNvPr id="405" name="TextBox 18"/>
          <p:cNvSpPr/>
          <p:nvPr/>
        </p:nvSpPr>
        <p:spPr>
          <a:xfrm>
            <a:off x="6885360" y="2715840"/>
            <a:ext cx="4635360" cy="91368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250" b="0" u="none" strike="noStrike">
                <a:solidFill>
                  <a:srgbClr val="222B3A"/>
                </a:solidFill>
                <a:effectLst/>
                <a:uFillTx/>
                <a:latin typeface="Segoe UI"/>
              </a:rPr>
              <a:t>Persist embeddings (skip re-encoding) and chat sessions (survive a restart)</a:t>
            </a:r>
            <a:endParaRPr lang="en-IN" sz="1250" b="0" u="none" strike="noStrike">
              <a:solidFill>
                <a:srgbClr val="000000"/>
              </a:solidFill>
              <a:effectLst/>
              <a:uFillTx/>
              <a:latin typeface="Arial"/>
            </a:endParaRPr>
          </a:p>
        </p:txBody>
      </p:sp>
      <p:sp>
        <p:nvSpPr>
          <p:cNvPr id="406" name="Oval 19"/>
          <p:cNvSpPr/>
          <p:nvPr/>
        </p:nvSpPr>
        <p:spPr>
          <a:xfrm>
            <a:off x="6263640" y="3749040"/>
            <a:ext cx="456480" cy="456480"/>
          </a:xfrm>
          <a:prstGeom prst="ellipse">
            <a:avLst/>
          </a:prstGeom>
          <a:solidFill>
            <a:srgbClr val="D96B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600" b="1" u="none" strike="noStrike">
                <a:solidFill>
                  <a:srgbClr val="FFFFFF"/>
                </a:solidFill>
                <a:effectLst/>
                <a:uFillTx/>
                <a:latin typeface="Segoe UI Semibold"/>
              </a:rPr>
              <a:t>7</a:t>
            </a:r>
            <a:endParaRPr lang="en-IN" sz="1600" b="0" u="none" strike="noStrike">
              <a:solidFill>
                <a:srgbClr val="FFFFFF"/>
              </a:solidFill>
              <a:effectLst/>
              <a:uFillTx/>
              <a:latin typeface="Arial"/>
            </a:endParaRPr>
          </a:p>
        </p:txBody>
      </p:sp>
      <p:sp>
        <p:nvSpPr>
          <p:cNvPr id="407" name="TextBox 20"/>
          <p:cNvSpPr/>
          <p:nvPr/>
        </p:nvSpPr>
        <p:spPr>
          <a:xfrm>
            <a:off x="6885360" y="3767400"/>
            <a:ext cx="4635360" cy="91368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250" b="0" u="none" strike="noStrike">
                <a:solidFill>
                  <a:srgbClr val="222B3A"/>
                </a:solidFill>
                <a:effectLst/>
                <a:uFillTx/>
                <a:latin typeface="Segoe UI"/>
              </a:rPr>
              <a:t>Evaluate the agent's free-text skill extraction against learners' actual stored skills</a:t>
            </a:r>
            <a:endParaRPr lang="en-IN" sz="1250" b="0" u="none" strike="noStrike">
              <a:solidFill>
                <a:srgbClr val="000000"/>
              </a:solidFill>
              <a:effectLst/>
              <a:uFillTx/>
              <a:latin typeface="Arial"/>
            </a:endParaRPr>
          </a:p>
        </p:txBody>
      </p:sp>
      <p:sp>
        <p:nvSpPr>
          <p:cNvPr id="408" name="Oval 21"/>
          <p:cNvSpPr/>
          <p:nvPr/>
        </p:nvSpPr>
        <p:spPr>
          <a:xfrm>
            <a:off x="6263640" y="4800600"/>
            <a:ext cx="456480" cy="456480"/>
          </a:xfrm>
          <a:prstGeom prst="ellipse">
            <a:avLst/>
          </a:prstGeom>
          <a:solidFill>
            <a:srgbClr val="D96B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r>
              <a:rPr lang="en-US" sz="1600" b="1" u="none" strike="noStrike">
                <a:solidFill>
                  <a:srgbClr val="FFFFFF"/>
                </a:solidFill>
                <a:effectLst/>
                <a:uFillTx/>
                <a:latin typeface="Segoe UI Semibold"/>
              </a:rPr>
              <a:t>8</a:t>
            </a:r>
            <a:endParaRPr lang="en-IN" sz="1600" b="0" u="none" strike="noStrike">
              <a:solidFill>
                <a:srgbClr val="FFFFFF"/>
              </a:solidFill>
              <a:effectLst/>
              <a:uFillTx/>
              <a:latin typeface="Arial"/>
            </a:endParaRPr>
          </a:p>
        </p:txBody>
      </p:sp>
      <p:sp>
        <p:nvSpPr>
          <p:cNvPr id="409" name="TextBox 22"/>
          <p:cNvSpPr/>
          <p:nvPr/>
        </p:nvSpPr>
        <p:spPr>
          <a:xfrm>
            <a:off x="6885360" y="4818960"/>
            <a:ext cx="4635360" cy="913680"/>
          </a:xfrm>
          <a:prstGeom prst="rect">
            <a:avLst/>
          </a:prstGeom>
          <a:noFill/>
          <a:ln w="0">
            <a:noFill/>
          </a:ln>
        </p:spPr>
        <p:style>
          <a:lnRef idx="0"/>
          <a:fillRef idx="0"/>
          <a:effectRef idx="0"/>
          <a:fontRef idx="minor"/>
        </p:style>
        <p:txBody>
          <a:bodyPr lIns="0" tIns="0" rIns="0" bIns="0" anchor="t">
            <a:spAutoFit/>
          </a:bodyPr>
          <a:p>
            <a:pPr defTabSz="457200">
              <a:lnSpc>
                <a:spcPct val="120000"/>
              </a:lnSpc>
            </a:pPr>
            <a:r>
              <a:rPr lang="en-US" sz="1250" b="0" u="none" strike="noStrike">
                <a:solidFill>
                  <a:srgbClr val="222B3A"/>
                </a:solidFill>
                <a:effectLst/>
                <a:uFillTx/>
                <a:latin typeface="Segoe UI"/>
              </a:rPr>
              <a:t>Add automated regression tests for the three assertions that already caught real bugs</a:t>
            </a:r>
            <a:endParaRPr lang="en-IN"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0" name="Rectangle 1"/>
          <p:cNvSpPr/>
          <p:nvPr/>
        </p:nvSpPr>
        <p:spPr>
          <a:xfrm>
            <a:off x="0" y="0"/>
            <a:ext cx="12191040" cy="6857280"/>
          </a:xfrm>
          <a:prstGeom prst="rect">
            <a:avLst/>
          </a:prstGeom>
          <a:solidFill>
            <a:srgbClr val="FCFBF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11" name="TextBox 2"/>
          <p:cNvSpPr/>
          <p:nvPr/>
        </p:nvSpPr>
        <p:spPr>
          <a:xfrm>
            <a:off x="640080" y="384120"/>
            <a:ext cx="822888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00" b="1" u="none" strike="noStrike">
                <a:solidFill>
                  <a:srgbClr val="D96B45"/>
                </a:solidFill>
                <a:effectLst/>
                <a:uFillTx/>
                <a:latin typeface="Segoe UI Semibold"/>
              </a:rPr>
              <a:t>CLOSING</a:t>
            </a:r>
            <a:endParaRPr lang="en-IN" sz="1300" b="0" u="none" strike="noStrike">
              <a:solidFill>
                <a:srgbClr val="000000"/>
              </a:solidFill>
              <a:effectLst/>
              <a:uFillTx/>
              <a:latin typeface="Arial"/>
            </a:endParaRPr>
          </a:p>
        </p:txBody>
      </p:sp>
      <p:sp>
        <p:nvSpPr>
          <p:cNvPr id="412" name="TextBox 3"/>
          <p:cNvSpPr/>
          <p:nvPr/>
        </p:nvSpPr>
        <p:spPr>
          <a:xfrm>
            <a:off x="640080" y="658440"/>
            <a:ext cx="9874800" cy="6850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3000" b="1" u="none" strike="noStrike">
                <a:solidFill>
                  <a:srgbClr val="222B3A"/>
                </a:solidFill>
                <a:effectLst/>
                <a:uFillTx/>
                <a:latin typeface="Segoe UI Semibold"/>
              </a:rPr>
              <a:t>Summary — key numbers</a:t>
            </a:r>
            <a:endParaRPr lang="en-IN" sz="3000" b="0" u="none" strike="noStrike">
              <a:solidFill>
                <a:srgbClr val="000000"/>
              </a:solidFill>
              <a:effectLst/>
              <a:uFillTx/>
              <a:latin typeface="Arial"/>
            </a:endParaRPr>
          </a:p>
        </p:txBody>
      </p:sp>
      <p:sp>
        <p:nvSpPr>
          <p:cNvPr id="413" name="Rectangle 4"/>
          <p:cNvSpPr/>
          <p:nvPr/>
        </p:nvSpPr>
        <p:spPr>
          <a:xfrm>
            <a:off x="640080" y="1298520"/>
            <a:ext cx="822240" cy="50040"/>
          </a:xfrm>
          <a:prstGeom prst="rect">
            <a:avLst/>
          </a:prstGeom>
          <a:solidFill>
            <a:srgbClr val="D96B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5760" rIns="90000" bIns="5760" anchor="ctr">
            <a:noAutofit/>
          </a:bodyPr>
          <a:p>
            <a:pPr/>
            <a:endParaRPr lang="en-US" sz="1800" b="0" u="none" strike="noStrike">
              <a:solidFill>
                <a:schemeClr val="lt1"/>
              </a:solidFill>
              <a:effectLst/>
              <a:uFillTx/>
              <a:latin typeface="Calibri"/>
            </a:endParaRPr>
          </a:p>
        </p:txBody>
      </p:sp>
      <p:sp>
        <p:nvSpPr>
          <p:cNvPr id="414" name="TextBox 5"/>
          <p:cNvSpPr/>
          <p:nvPr/>
        </p:nvSpPr>
        <p:spPr>
          <a:xfrm>
            <a:off x="11155680" y="6355080"/>
            <a:ext cx="822240" cy="365040"/>
          </a:xfrm>
          <a:prstGeom prst="rect">
            <a:avLst/>
          </a:prstGeom>
          <a:noFill/>
          <a:ln w="0">
            <a:noFill/>
          </a:ln>
        </p:spPr>
        <p:style>
          <a:lnRef idx="0"/>
          <a:fillRef idx="0"/>
          <a:effectRef idx="0"/>
          <a:fontRef idx="minor"/>
        </p:style>
        <p:txBody>
          <a:bodyPr lIns="0" tIns="0" rIns="0" bIns="0" anchor="t">
            <a:spAutoFit/>
          </a:bodyPr>
          <a:p>
            <a:pPr algn="r" defTabSz="457200">
              <a:lnSpc>
                <a:spcPct val="100000"/>
              </a:lnSpc>
            </a:pPr>
            <a:r>
              <a:rPr lang="en-US" sz="1400" b="0" u="none" strike="noStrike">
                <a:solidFill>
                  <a:srgbClr val="667080"/>
                </a:solidFill>
                <a:effectLst/>
                <a:uFillTx/>
                <a:latin typeface="Segoe UI Semibold"/>
              </a:rPr>
              <a:t>23</a:t>
            </a:r>
            <a:endParaRPr lang="en-IN" sz="1400" b="0" u="none" strike="noStrike">
              <a:solidFill>
                <a:srgbClr val="000000"/>
              </a:solidFill>
              <a:effectLst/>
              <a:uFillTx/>
              <a:latin typeface="Arial"/>
            </a:endParaRPr>
          </a:p>
        </p:txBody>
      </p:sp>
      <p:sp>
        <p:nvSpPr>
          <p:cNvPr id="415" name="TextBox 6"/>
          <p:cNvSpPr/>
          <p:nvPr/>
        </p:nvSpPr>
        <p:spPr>
          <a:xfrm>
            <a:off x="640080" y="6473880"/>
            <a:ext cx="548568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000" b="0" u="none" strike="noStrike">
                <a:solidFill>
                  <a:srgbClr val="667080"/>
                </a:solidFill>
                <a:effectLst/>
                <a:uFillTx/>
                <a:latin typeface="Segoe UI"/>
              </a:rPr>
              <a:t>Skill-Gap Course Recommendation Engine</a:t>
            </a:r>
            <a:endParaRPr lang="en-IN" sz="1000" b="0" u="none" strike="noStrike">
              <a:solidFill>
                <a:srgbClr val="000000"/>
              </a:solidFill>
              <a:effectLst/>
              <a:uFillTx/>
              <a:latin typeface="Arial"/>
            </a:endParaRPr>
          </a:p>
        </p:txBody>
      </p:sp>
      <p:sp>
        <p:nvSpPr>
          <p:cNvPr id="416" name="Rounded Rectangle 7"/>
          <p:cNvSpPr/>
          <p:nvPr/>
        </p:nvSpPr>
        <p:spPr>
          <a:xfrm>
            <a:off x="640080" y="1691640"/>
            <a:ext cx="2614320" cy="1965240"/>
          </a:xfrm>
          <a:prstGeom prst="roundRect">
            <a:avLst>
              <a:gd name="adj" fmla="val 10000"/>
            </a:avLst>
          </a:prstGeom>
          <a:solidFill>
            <a:srgbClr val="222B3A"/>
          </a:solidFill>
          <a:ln>
            <a:solidFill>
              <a:srgbClr val="303B5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17" name="TextBox 8"/>
          <p:cNvSpPr/>
          <p:nvPr/>
        </p:nvSpPr>
        <p:spPr>
          <a:xfrm>
            <a:off x="777240" y="1801440"/>
            <a:ext cx="2340000" cy="146232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3000" b="1" u="none" strike="noStrike">
                <a:solidFill>
                  <a:srgbClr val="D96B45"/>
                </a:solidFill>
                <a:effectLst/>
                <a:uFillTx/>
                <a:latin typeface="Segoe UI Semibold"/>
              </a:rPr>
              <a:t>18,194</a:t>
            </a:r>
            <a:endParaRPr lang="en-IN" sz="3000" b="0" u="none" strike="noStrike">
              <a:solidFill>
                <a:srgbClr val="000000"/>
              </a:solidFill>
              <a:effectLst/>
              <a:uFillTx/>
              <a:latin typeface="Arial"/>
            </a:endParaRPr>
          </a:p>
        </p:txBody>
      </p:sp>
      <p:sp>
        <p:nvSpPr>
          <p:cNvPr id="418" name="TextBox 9"/>
          <p:cNvSpPr/>
          <p:nvPr/>
        </p:nvSpPr>
        <p:spPr>
          <a:xfrm>
            <a:off x="749880" y="3200400"/>
            <a:ext cx="2395080" cy="41076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1150" b="0" u="none" strike="noStrike">
                <a:solidFill>
                  <a:srgbClr val="A9B4C4"/>
                </a:solidFill>
                <a:effectLst/>
                <a:uFillTx/>
                <a:latin typeface="Segoe UI"/>
              </a:rPr>
              <a:t>learner profiles</a:t>
            </a:r>
            <a:endParaRPr lang="en-IN" sz="1150" b="0" u="none" strike="noStrike">
              <a:solidFill>
                <a:srgbClr val="000000"/>
              </a:solidFill>
              <a:effectLst/>
              <a:uFillTx/>
              <a:latin typeface="Arial"/>
            </a:endParaRPr>
          </a:p>
          <a:p>
            <a:pPr algn="ctr" defTabSz="457200">
              <a:lnSpc>
                <a:spcPct val="100000"/>
              </a:lnSpc>
            </a:pPr>
            <a:r>
              <a:rPr lang="en-US" sz="1150" b="0" u="none" strike="noStrike">
                <a:solidFill>
                  <a:srgbClr val="A9B4C4"/>
                </a:solidFill>
                <a:effectLst/>
                <a:uFillTx/>
                <a:latin typeface="Segoe UI"/>
              </a:rPr>
              <a:t>(from a stacked 54,933)</a:t>
            </a:r>
            <a:endParaRPr lang="en-IN" sz="1150" b="0" u="none" strike="noStrike">
              <a:solidFill>
                <a:srgbClr val="000000"/>
              </a:solidFill>
              <a:effectLst/>
              <a:uFillTx/>
              <a:latin typeface="Arial"/>
            </a:endParaRPr>
          </a:p>
        </p:txBody>
      </p:sp>
      <p:sp>
        <p:nvSpPr>
          <p:cNvPr id="419" name="Rounded Rectangle 10"/>
          <p:cNvSpPr/>
          <p:nvPr/>
        </p:nvSpPr>
        <p:spPr>
          <a:xfrm>
            <a:off x="3383280" y="1691640"/>
            <a:ext cx="2614320" cy="1965240"/>
          </a:xfrm>
          <a:prstGeom prst="roundRect">
            <a:avLst>
              <a:gd name="adj" fmla="val 10000"/>
            </a:avLst>
          </a:prstGeom>
          <a:solidFill>
            <a:srgbClr val="222B3A"/>
          </a:solidFill>
          <a:ln>
            <a:solidFill>
              <a:srgbClr val="303B5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20" name="TextBox 11"/>
          <p:cNvSpPr/>
          <p:nvPr/>
        </p:nvSpPr>
        <p:spPr>
          <a:xfrm>
            <a:off x="3520440" y="1801440"/>
            <a:ext cx="2340000" cy="146232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3000" b="1" u="none" strike="noStrike">
                <a:solidFill>
                  <a:srgbClr val="1E8A7A"/>
                </a:solidFill>
                <a:effectLst/>
                <a:uFillTx/>
                <a:latin typeface="Segoe UI Semibold"/>
              </a:rPr>
              <a:t>132,943</a:t>
            </a:r>
            <a:endParaRPr lang="en-IN" sz="3000" b="0" u="none" strike="noStrike">
              <a:solidFill>
                <a:srgbClr val="000000"/>
              </a:solidFill>
              <a:effectLst/>
              <a:uFillTx/>
              <a:latin typeface="Arial"/>
            </a:endParaRPr>
          </a:p>
        </p:txBody>
      </p:sp>
      <p:sp>
        <p:nvSpPr>
          <p:cNvPr id="421" name="TextBox 12"/>
          <p:cNvSpPr/>
          <p:nvPr/>
        </p:nvSpPr>
        <p:spPr>
          <a:xfrm>
            <a:off x="3493080" y="3200400"/>
            <a:ext cx="2395080" cy="41076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1150" b="0" u="none" strike="noStrike">
                <a:solidFill>
                  <a:srgbClr val="A9B4C4"/>
                </a:solidFill>
                <a:effectLst/>
                <a:uFillTx/>
                <a:latin typeface="Segoe UI"/>
              </a:rPr>
              <a:t>distinct skills</a:t>
            </a:r>
            <a:endParaRPr lang="en-IN" sz="1150" b="0" u="none" strike="noStrike">
              <a:solidFill>
                <a:srgbClr val="000000"/>
              </a:solidFill>
              <a:effectLst/>
              <a:uFillTx/>
              <a:latin typeface="Arial"/>
            </a:endParaRPr>
          </a:p>
          <a:p>
            <a:pPr algn="ctr" defTabSz="457200">
              <a:lnSpc>
                <a:spcPct val="100000"/>
              </a:lnSpc>
            </a:pPr>
            <a:r>
              <a:rPr lang="en-US" sz="1150" b="0" u="none" strike="noStrike">
                <a:solidFill>
                  <a:srgbClr val="A9B4C4"/>
                </a:solidFill>
                <a:effectLst/>
                <a:uFillTx/>
                <a:latin typeface="Segoe UI"/>
              </a:rPr>
              <a:t>(from 201,934)</a:t>
            </a:r>
            <a:endParaRPr lang="en-IN" sz="1150" b="0" u="none" strike="noStrike">
              <a:solidFill>
                <a:srgbClr val="000000"/>
              </a:solidFill>
              <a:effectLst/>
              <a:uFillTx/>
              <a:latin typeface="Arial"/>
            </a:endParaRPr>
          </a:p>
        </p:txBody>
      </p:sp>
      <p:sp>
        <p:nvSpPr>
          <p:cNvPr id="422" name="Rounded Rectangle 13"/>
          <p:cNvSpPr/>
          <p:nvPr/>
        </p:nvSpPr>
        <p:spPr>
          <a:xfrm>
            <a:off x="6126480" y="1691640"/>
            <a:ext cx="2614320" cy="1965240"/>
          </a:xfrm>
          <a:prstGeom prst="roundRect">
            <a:avLst>
              <a:gd name="adj" fmla="val 10000"/>
            </a:avLst>
          </a:prstGeom>
          <a:solidFill>
            <a:srgbClr val="222B3A"/>
          </a:solidFill>
          <a:ln>
            <a:solidFill>
              <a:srgbClr val="303B5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23" name="TextBox 14"/>
          <p:cNvSpPr/>
          <p:nvPr/>
        </p:nvSpPr>
        <p:spPr>
          <a:xfrm>
            <a:off x="6263640" y="1801440"/>
            <a:ext cx="2340000" cy="146232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3000" b="1" u="none" strike="noStrike">
                <a:solidFill>
                  <a:srgbClr val="D96B45"/>
                </a:solidFill>
                <a:effectLst/>
                <a:uFillTx/>
                <a:latin typeface="Segoe UI Semibold"/>
              </a:rPr>
              <a:t>1.47 → 7.23</a:t>
            </a:r>
            <a:endParaRPr lang="en-IN" sz="3000" b="0" u="none" strike="noStrike">
              <a:solidFill>
                <a:srgbClr val="000000"/>
              </a:solidFill>
              <a:effectLst/>
              <a:uFillTx/>
              <a:latin typeface="Arial"/>
            </a:endParaRPr>
          </a:p>
        </p:txBody>
      </p:sp>
      <p:sp>
        <p:nvSpPr>
          <p:cNvPr id="424" name="TextBox 15"/>
          <p:cNvSpPr/>
          <p:nvPr/>
        </p:nvSpPr>
        <p:spPr>
          <a:xfrm>
            <a:off x="6236280" y="3200400"/>
            <a:ext cx="2395080" cy="41076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1150" b="0" u="none" strike="noStrike">
                <a:solidFill>
                  <a:srgbClr val="A9B4C4"/>
                </a:solidFill>
                <a:effectLst/>
                <a:uFillTx/>
                <a:latin typeface="Segoe UI"/>
              </a:rPr>
              <a:t>catalogue skills matched</a:t>
            </a:r>
            <a:endParaRPr lang="en-IN" sz="1150" b="0" u="none" strike="noStrike">
              <a:solidFill>
                <a:srgbClr val="000000"/>
              </a:solidFill>
              <a:effectLst/>
              <a:uFillTx/>
              <a:latin typeface="Arial"/>
            </a:endParaRPr>
          </a:p>
          <a:p>
            <a:pPr algn="ctr" defTabSz="457200">
              <a:lnSpc>
                <a:spcPct val="100000"/>
              </a:lnSpc>
            </a:pPr>
            <a:r>
              <a:rPr lang="en-US" sz="1150" b="0" u="none" strike="noStrike">
                <a:solidFill>
                  <a:srgbClr val="A9B4C4"/>
                </a:solidFill>
                <a:effectLst/>
                <a:uFillTx/>
                <a:latin typeface="Segoe UI"/>
              </a:rPr>
              <a:t>per profile</a:t>
            </a:r>
            <a:endParaRPr lang="en-IN" sz="1150" b="0" u="none" strike="noStrike">
              <a:solidFill>
                <a:srgbClr val="000000"/>
              </a:solidFill>
              <a:effectLst/>
              <a:uFillTx/>
              <a:latin typeface="Arial"/>
            </a:endParaRPr>
          </a:p>
        </p:txBody>
      </p:sp>
      <p:sp>
        <p:nvSpPr>
          <p:cNvPr id="425" name="Rounded Rectangle 16"/>
          <p:cNvSpPr/>
          <p:nvPr/>
        </p:nvSpPr>
        <p:spPr>
          <a:xfrm>
            <a:off x="8869680" y="1691640"/>
            <a:ext cx="2614320" cy="1965240"/>
          </a:xfrm>
          <a:prstGeom prst="roundRect">
            <a:avLst>
              <a:gd name="adj" fmla="val 10000"/>
            </a:avLst>
          </a:prstGeom>
          <a:solidFill>
            <a:srgbClr val="222B3A"/>
          </a:solidFill>
          <a:ln>
            <a:solidFill>
              <a:srgbClr val="303B5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26" name="TextBox 17"/>
          <p:cNvSpPr/>
          <p:nvPr/>
        </p:nvSpPr>
        <p:spPr>
          <a:xfrm>
            <a:off x="9006840" y="1801440"/>
            <a:ext cx="2340000" cy="146232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3000" b="1" u="none" strike="noStrike">
                <a:solidFill>
                  <a:srgbClr val="1E8A7A"/>
                </a:solidFill>
                <a:effectLst/>
                <a:uFillTx/>
                <a:latin typeface="Segoe UI Semibold"/>
              </a:rPr>
              <a:t>0.750</a:t>
            </a:r>
            <a:endParaRPr lang="en-IN" sz="3000" b="0" u="none" strike="noStrike">
              <a:solidFill>
                <a:srgbClr val="000000"/>
              </a:solidFill>
              <a:effectLst/>
              <a:uFillTx/>
              <a:latin typeface="Arial"/>
            </a:endParaRPr>
          </a:p>
        </p:txBody>
      </p:sp>
      <p:sp>
        <p:nvSpPr>
          <p:cNvPr id="427" name="TextBox 18"/>
          <p:cNvSpPr/>
          <p:nvPr/>
        </p:nvSpPr>
        <p:spPr>
          <a:xfrm>
            <a:off x="8979480" y="3200400"/>
            <a:ext cx="2395080" cy="41076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1150" b="0" u="none" strike="noStrike">
                <a:solidFill>
                  <a:srgbClr val="A9B4C4"/>
                </a:solidFill>
                <a:effectLst/>
                <a:uFillTx/>
                <a:latin typeface="Segoe UI"/>
              </a:rPr>
              <a:t>Protocol B recall@10</a:t>
            </a:r>
            <a:endParaRPr lang="en-IN" sz="1150" b="0" u="none" strike="noStrike">
              <a:solidFill>
                <a:srgbClr val="000000"/>
              </a:solidFill>
              <a:effectLst/>
              <a:uFillTx/>
              <a:latin typeface="Arial"/>
            </a:endParaRPr>
          </a:p>
          <a:p>
            <a:pPr algn="ctr" defTabSz="457200">
              <a:lnSpc>
                <a:spcPct val="100000"/>
              </a:lnSpc>
            </a:pPr>
            <a:r>
              <a:rPr lang="en-US" sz="1150" b="0" u="none" strike="noStrike">
                <a:solidFill>
                  <a:srgbClr val="A9B4C4"/>
                </a:solidFill>
                <a:effectLst/>
                <a:uFillTx/>
                <a:latin typeface="Segoe UI"/>
              </a:rPr>
              <a:t>(real recommendation quality)</a:t>
            </a:r>
            <a:endParaRPr lang="en-IN" sz="1150" b="0" u="none" strike="noStrike">
              <a:solidFill>
                <a:srgbClr val="000000"/>
              </a:solidFill>
              <a:effectLst/>
              <a:uFillTx/>
              <a:latin typeface="Arial"/>
            </a:endParaRPr>
          </a:p>
        </p:txBody>
      </p:sp>
      <p:sp>
        <p:nvSpPr>
          <p:cNvPr id="428" name="Rounded Rectangle 19"/>
          <p:cNvSpPr/>
          <p:nvPr/>
        </p:nvSpPr>
        <p:spPr>
          <a:xfrm>
            <a:off x="640080" y="3822120"/>
            <a:ext cx="2614320" cy="1965240"/>
          </a:xfrm>
          <a:prstGeom prst="roundRect">
            <a:avLst>
              <a:gd name="adj" fmla="val 10000"/>
            </a:avLst>
          </a:prstGeom>
          <a:solidFill>
            <a:srgbClr val="222B3A"/>
          </a:solidFill>
          <a:ln>
            <a:solidFill>
              <a:srgbClr val="303B5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29" name="TextBox 20"/>
          <p:cNvSpPr/>
          <p:nvPr/>
        </p:nvSpPr>
        <p:spPr>
          <a:xfrm>
            <a:off x="777240" y="3931920"/>
            <a:ext cx="2340000" cy="146232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3000" b="1" u="none" strike="noStrike">
                <a:solidFill>
                  <a:srgbClr val="D96B45"/>
                </a:solidFill>
                <a:effectLst/>
                <a:uFillTx/>
                <a:latin typeface="Segoe UI Semibold"/>
              </a:rPr>
              <a:t>7.65×</a:t>
            </a:r>
            <a:endParaRPr lang="en-IN" sz="3000" b="0" u="none" strike="noStrike">
              <a:solidFill>
                <a:srgbClr val="000000"/>
              </a:solidFill>
              <a:effectLst/>
              <a:uFillTx/>
              <a:latin typeface="Arial"/>
            </a:endParaRPr>
          </a:p>
        </p:txBody>
      </p:sp>
      <p:sp>
        <p:nvSpPr>
          <p:cNvPr id="430" name="TextBox 21"/>
          <p:cNvSpPr/>
          <p:nvPr/>
        </p:nvSpPr>
        <p:spPr>
          <a:xfrm>
            <a:off x="749880" y="5330880"/>
            <a:ext cx="2395080" cy="41076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1150" b="0" u="none" strike="noStrike">
                <a:solidFill>
                  <a:srgbClr val="A9B4C4"/>
                </a:solidFill>
                <a:effectLst/>
                <a:uFillTx/>
                <a:latin typeface="Segoe UI"/>
              </a:rPr>
              <a:t>lift over popularity</a:t>
            </a:r>
            <a:endParaRPr lang="en-IN" sz="1150" b="0" u="none" strike="noStrike">
              <a:solidFill>
                <a:srgbClr val="000000"/>
              </a:solidFill>
              <a:effectLst/>
              <a:uFillTx/>
              <a:latin typeface="Arial"/>
            </a:endParaRPr>
          </a:p>
          <a:p>
            <a:pPr algn="ctr" defTabSz="457200">
              <a:lnSpc>
                <a:spcPct val="100000"/>
              </a:lnSpc>
            </a:pPr>
            <a:r>
              <a:rPr lang="en-US" sz="1150" b="0" u="none" strike="noStrike">
                <a:solidFill>
                  <a:srgbClr val="A9B4C4"/>
                </a:solidFill>
                <a:effectLst/>
                <a:uFillTx/>
                <a:latin typeface="Segoe UI"/>
              </a:rPr>
              <a:t>baseline (Protocol B)</a:t>
            </a:r>
            <a:endParaRPr lang="en-IN" sz="1150" b="0" u="none" strike="noStrike">
              <a:solidFill>
                <a:srgbClr val="000000"/>
              </a:solidFill>
              <a:effectLst/>
              <a:uFillTx/>
              <a:latin typeface="Arial"/>
            </a:endParaRPr>
          </a:p>
        </p:txBody>
      </p:sp>
      <p:sp>
        <p:nvSpPr>
          <p:cNvPr id="431" name="Rounded Rectangle 22"/>
          <p:cNvSpPr/>
          <p:nvPr/>
        </p:nvSpPr>
        <p:spPr>
          <a:xfrm>
            <a:off x="3383280" y="3822120"/>
            <a:ext cx="2614320" cy="1965240"/>
          </a:xfrm>
          <a:prstGeom prst="roundRect">
            <a:avLst>
              <a:gd name="adj" fmla="val 10000"/>
            </a:avLst>
          </a:prstGeom>
          <a:solidFill>
            <a:srgbClr val="222B3A"/>
          </a:solidFill>
          <a:ln>
            <a:solidFill>
              <a:srgbClr val="303B5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32" name="TextBox 23"/>
          <p:cNvSpPr/>
          <p:nvPr/>
        </p:nvSpPr>
        <p:spPr>
          <a:xfrm>
            <a:off x="3520440" y="3931920"/>
            <a:ext cx="2340000" cy="146232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3000" b="1" u="none" strike="noStrike">
                <a:solidFill>
                  <a:srgbClr val="1E8A7A"/>
                </a:solidFill>
                <a:effectLst/>
                <a:uFillTx/>
                <a:latin typeface="Segoe UI Semibold"/>
              </a:rPr>
              <a:t>93.5%</a:t>
            </a:r>
            <a:endParaRPr lang="en-IN" sz="3000" b="0" u="none" strike="noStrike">
              <a:solidFill>
                <a:srgbClr val="000000"/>
              </a:solidFill>
              <a:effectLst/>
              <a:uFillTx/>
              <a:latin typeface="Arial"/>
            </a:endParaRPr>
          </a:p>
        </p:txBody>
      </p:sp>
      <p:sp>
        <p:nvSpPr>
          <p:cNvPr id="433" name="TextBox 24"/>
          <p:cNvSpPr/>
          <p:nvPr/>
        </p:nvSpPr>
        <p:spPr>
          <a:xfrm>
            <a:off x="3493080" y="5330880"/>
            <a:ext cx="2395080" cy="41076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1150" b="0" u="none" strike="noStrike">
                <a:solidFill>
                  <a:srgbClr val="A9B4C4"/>
                </a:solidFill>
                <a:effectLst/>
                <a:uFillTx/>
                <a:latin typeface="Segoe UI"/>
              </a:rPr>
              <a:t>mean goal teachability</a:t>
            </a:r>
            <a:endParaRPr lang="en-IN" sz="1150" b="0" u="none" strike="noStrike">
              <a:solidFill>
                <a:srgbClr val="000000"/>
              </a:solidFill>
              <a:effectLst/>
              <a:uFillTx/>
              <a:latin typeface="Arial"/>
            </a:endParaRPr>
          </a:p>
          <a:p>
            <a:pPr algn="ctr" defTabSz="457200">
              <a:lnSpc>
                <a:spcPct val="100000"/>
              </a:lnSpc>
            </a:pPr>
            <a:r>
              <a:rPr lang="en-US" sz="1150" b="0" u="none" strike="noStrike">
                <a:solidFill>
                  <a:srgbClr val="A9B4C4"/>
                </a:solidFill>
                <a:effectLst/>
                <a:uFillTx/>
                <a:latin typeface="Segoe UI"/>
              </a:rPr>
              <a:t>(gap.ceiling)</a:t>
            </a:r>
            <a:endParaRPr lang="en-IN" sz="1150" b="0" u="none" strike="noStrike">
              <a:solidFill>
                <a:srgbClr val="000000"/>
              </a:solidFill>
              <a:effectLst/>
              <a:uFillTx/>
              <a:latin typeface="Arial"/>
            </a:endParaRPr>
          </a:p>
        </p:txBody>
      </p:sp>
      <p:sp>
        <p:nvSpPr>
          <p:cNvPr id="434" name="Rounded Rectangle 25"/>
          <p:cNvSpPr/>
          <p:nvPr/>
        </p:nvSpPr>
        <p:spPr>
          <a:xfrm>
            <a:off x="6126480" y="3822120"/>
            <a:ext cx="2614320" cy="1965240"/>
          </a:xfrm>
          <a:prstGeom prst="roundRect">
            <a:avLst>
              <a:gd name="adj" fmla="val 10000"/>
            </a:avLst>
          </a:prstGeom>
          <a:solidFill>
            <a:srgbClr val="222B3A"/>
          </a:solidFill>
          <a:ln>
            <a:solidFill>
              <a:srgbClr val="303B5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35" name="TextBox 26"/>
          <p:cNvSpPr/>
          <p:nvPr/>
        </p:nvSpPr>
        <p:spPr>
          <a:xfrm>
            <a:off x="6263640" y="3931920"/>
            <a:ext cx="2340000" cy="146232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3000" b="1" u="none" strike="noStrike">
                <a:solidFill>
                  <a:srgbClr val="D96B45"/>
                </a:solidFill>
                <a:effectLst/>
                <a:uFillTx/>
                <a:latin typeface="Segoe UI Semibold"/>
              </a:rPr>
              <a:t>404 / 323</a:t>
            </a:r>
            <a:endParaRPr lang="en-IN" sz="3000" b="0" u="none" strike="noStrike">
              <a:solidFill>
                <a:srgbClr val="000000"/>
              </a:solidFill>
              <a:effectLst/>
              <a:uFillTx/>
              <a:latin typeface="Arial"/>
            </a:endParaRPr>
          </a:p>
        </p:txBody>
      </p:sp>
      <p:sp>
        <p:nvSpPr>
          <p:cNvPr id="436" name="TextBox 27"/>
          <p:cNvSpPr/>
          <p:nvPr/>
        </p:nvSpPr>
        <p:spPr>
          <a:xfrm>
            <a:off x="6236280" y="5330880"/>
            <a:ext cx="2395080" cy="41076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1150" b="0" u="none" strike="noStrike">
                <a:solidFill>
                  <a:srgbClr val="A9B4C4"/>
                </a:solidFill>
                <a:effectLst/>
                <a:uFillTx/>
                <a:latin typeface="Segoe UI"/>
              </a:rPr>
              <a:t>courses / catalogue skills</a:t>
            </a:r>
            <a:endParaRPr lang="en-IN" sz="1150" b="0" u="none" strike="noStrike">
              <a:solidFill>
                <a:srgbClr val="000000"/>
              </a:solidFill>
              <a:effectLst/>
              <a:uFillTx/>
              <a:latin typeface="Arial"/>
            </a:endParaRPr>
          </a:p>
        </p:txBody>
      </p:sp>
      <p:sp>
        <p:nvSpPr>
          <p:cNvPr id="437" name="Rounded Rectangle 28"/>
          <p:cNvSpPr/>
          <p:nvPr/>
        </p:nvSpPr>
        <p:spPr>
          <a:xfrm>
            <a:off x="8869680" y="3822120"/>
            <a:ext cx="2614320" cy="1965240"/>
          </a:xfrm>
          <a:prstGeom prst="roundRect">
            <a:avLst>
              <a:gd name="adj" fmla="val 10000"/>
            </a:avLst>
          </a:prstGeom>
          <a:solidFill>
            <a:srgbClr val="222B3A"/>
          </a:solidFill>
          <a:ln>
            <a:solidFill>
              <a:srgbClr val="303B5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38" name="TextBox 29"/>
          <p:cNvSpPr/>
          <p:nvPr/>
        </p:nvSpPr>
        <p:spPr>
          <a:xfrm>
            <a:off x="9006840" y="3931920"/>
            <a:ext cx="2340000" cy="1462320"/>
          </a:xfrm>
          <a:prstGeom prst="rect">
            <a:avLst/>
          </a:prstGeom>
          <a:noFill/>
          <a:ln w="0">
            <a:noFill/>
          </a:ln>
        </p:spPr>
        <p:style>
          <a:lnRef idx="0"/>
          <a:fillRef idx="0"/>
          <a:effectRef idx="0"/>
          <a:fontRef idx="minor"/>
        </p:style>
        <p:txBody>
          <a:bodyPr lIns="0" tIns="0" rIns="0" bIns="0" anchor="ctr">
            <a:spAutoFit/>
          </a:bodyPr>
          <a:p>
            <a:pPr algn="ctr" defTabSz="457200">
              <a:lnSpc>
                <a:spcPct val="100000"/>
              </a:lnSpc>
            </a:pPr>
            <a:r>
              <a:rPr lang="en-US" sz="3000" b="1" u="none" strike="noStrike">
                <a:solidFill>
                  <a:srgbClr val="1E8A7A"/>
                </a:solidFill>
                <a:effectLst/>
                <a:uFillTx/>
                <a:latin typeface="Segoe UI Semibold"/>
              </a:rPr>
              <a:t>5 / 5</a:t>
            </a:r>
            <a:endParaRPr lang="en-IN" sz="3000" b="0" u="none" strike="noStrike">
              <a:solidFill>
                <a:srgbClr val="000000"/>
              </a:solidFill>
              <a:effectLst/>
              <a:uFillTx/>
              <a:latin typeface="Arial"/>
            </a:endParaRPr>
          </a:p>
        </p:txBody>
      </p:sp>
      <p:sp>
        <p:nvSpPr>
          <p:cNvPr id="439" name="TextBox 30"/>
          <p:cNvSpPr/>
          <p:nvPr/>
        </p:nvSpPr>
        <p:spPr>
          <a:xfrm>
            <a:off x="8979480" y="5330880"/>
            <a:ext cx="2395080" cy="41076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1150" b="0" u="none" strike="noStrike">
                <a:solidFill>
                  <a:srgbClr val="A9B4C4"/>
                </a:solidFill>
                <a:effectLst/>
                <a:uFillTx/>
                <a:latin typeface="Segoe UI"/>
              </a:rPr>
              <a:t>deliverables shipped</a:t>
            </a:r>
            <a:endParaRPr lang="en-IN"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0" name="Rectangle 1"/>
          <p:cNvSpPr/>
          <p:nvPr/>
        </p:nvSpPr>
        <p:spPr>
          <a:xfrm>
            <a:off x="0" y="0"/>
            <a:ext cx="12191040" cy="6857280"/>
          </a:xfrm>
          <a:prstGeom prst="rect">
            <a:avLst/>
          </a:prstGeom>
          <a:solidFill>
            <a:srgbClr val="FCFBF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41" name="Oval 3"/>
          <p:cNvSpPr/>
          <p:nvPr/>
        </p:nvSpPr>
        <p:spPr>
          <a:xfrm>
            <a:off x="10698480" y="4297680"/>
            <a:ext cx="1645200" cy="1645200"/>
          </a:xfrm>
          <a:prstGeom prst="ellipse">
            <a:avLst/>
          </a:prstGeom>
          <a:solidFill>
            <a:srgbClr val="F5E3D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42" name="Oval 2"/>
          <p:cNvSpPr/>
          <p:nvPr/>
        </p:nvSpPr>
        <p:spPr>
          <a:xfrm>
            <a:off x="9509760" y="-457200"/>
            <a:ext cx="2742480" cy="2742480"/>
          </a:xfrm>
          <a:prstGeom prst="ellipse">
            <a:avLst/>
          </a:prstGeom>
          <a:solidFill>
            <a:srgbClr val="DDEC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43" name="Rectangle 4"/>
          <p:cNvSpPr/>
          <p:nvPr/>
        </p:nvSpPr>
        <p:spPr>
          <a:xfrm>
            <a:off x="0" y="0"/>
            <a:ext cx="163800" cy="6857280"/>
          </a:xfrm>
          <a:prstGeom prst="rect">
            <a:avLst/>
          </a:prstGeom>
          <a:solidFill>
            <a:srgbClr val="D96B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82080" tIns="45000" rIns="82080" bIns="45000" anchor="ctr">
            <a:noAutofit/>
          </a:bodyPr>
          <a:p>
            <a:pPr/>
            <a:endParaRPr lang="en-US" sz="1800" b="0" u="none" strike="noStrike">
              <a:solidFill>
                <a:schemeClr val="lt1"/>
              </a:solidFill>
              <a:effectLst/>
              <a:uFillTx/>
              <a:latin typeface="Calibri"/>
            </a:endParaRPr>
          </a:p>
        </p:txBody>
      </p:sp>
      <p:sp>
        <p:nvSpPr>
          <p:cNvPr id="444" name="TextBox 5"/>
          <p:cNvSpPr/>
          <p:nvPr/>
        </p:nvSpPr>
        <p:spPr>
          <a:xfrm>
            <a:off x="822960" y="2468880"/>
            <a:ext cx="10057680" cy="10965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4800" b="1" u="none" strike="noStrike">
                <a:solidFill>
                  <a:srgbClr val="222B3A"/>
                </a:solidFill>
                <a:effectLst/>
                <a:uFillTx/>
                <a:latin typeface="Segoe UI Semibold"/>
              </a:rPr>
              <a:t>Thank You</a:t>
            </a:r>
            <a:endParaRPr lang="en-IN" sz="4800" b="0" u="none" strike="noStrike">
              <a:solidFill>
                <a:srgbClr val="000000"/>
              </a:solidFill>
              <a:effectLst/>
              <a:uFillTx/>
              <a:latin typeface="Arial"/>
            </a:endParaRPr>
          </a:p>
        </p:txBody>
      </p:sp>
      <p:sp>
        <p:nvSpPr>
          <p:cNvPr id="445" name="TextBox 6"/>
          <p:cNvSpPr/>
          <p:nvPr/>
        </p:nvSpPr>
        <p:spPr>
          <a:xfrm>
            <a:off x="822960" y="3429000"/>
            <a:ext cx="9143280" cy="5479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000" b="0" u="none" strike="noStrike">
                <a:solidFill>
                  <a:srgbClr val="D96B45"/>
                </a:solidFill>
                <a:effectLst/>
                <a:uFillTx/>
                <a:latin typeface="Segoe UI Semibold"/>
              </a:rPr>
              <a:t>Questions &amp; Discussion</a:t>
            </a:r>
            <a:endParaRPr lang="en-IN" sz="2000" b="0" u="none" strike="noStrike">
              <a:solidFill>
                <a:srgbClr val="000000"/>
              </a:solidFill>
              <a:effectLst/>
              <a:uFillTx/>
              <a:latin typeface="Arial"/>
            </a:endParaRPr>
          </a:p>
        </p:txBody>
      </p:sp>
      <p:sp>
        <p:nvSpPr>
          <p:cNvPr id="446" name="TextBox 7"/>
          <p:cNvSpPr/>
          <p:nvPr/>
        </p:nvSpPr>
        <p:spPr>
          <a:xfrm>
            <a:off x="822960" y="5989320"/>
            <a:ext cx="7314480" cy="31932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300" b="1" u="none" strike="noStrike">
                <a:solidFill>
                  <a:srgbClr val="222B3A"/>
                </a:solidFill>
                <a:effectLst/>
                <a:uFillTx/>
                <a:latin typeface="Segoe UI Semibold"/>
              </a:rPr>
              <a:t>Bhoopendra Singh Thakur</a:t>
            </a:r>
            <a:endParaRPr lang="en-IN" sz="1300" b="0" u="none" strike="noStrike">
              <a:solidFill>
                <a:srgbClr val="000000"/>
              </a:solidFill>
              <a:effectLst/>
              <a:uFillTx/>
              <a:latin typeface="Arial"/>
            </a:endParaRPr>
          </a:p>
        </p:txBody>
      </p:sp>
      <p:sp>
        <p:nvSpPr>
          <p:cNvPr id="447" name="TextBox 8"/>
          <p:cNvSpPr/>
          <p:nvPr/>
        </p:nvSpPr>
        <p:spPr>
          <a:xfrm>
            <a:off x="822960" y="6282000"/>
            <a:ext cx="7314480" cy="273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100" b="0" u="none" strike="noStrike">
                <a:solidFill>
                  <a:srgbClr val="667080"/>
                </a:solidFill>
                <a:effectLst/>
                <a:uFillTx/>
                <a:latin typeface="Segoe UI"/>
              </a:rPr>
              <a:t>Skill-Gap Course Recommendation Engine — Capstone Project</a:t>
            </a:r>
            <a:endParaRPr lang="en-IN"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itchFamily="0" charset="1"/>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10</TotalTime>
  <Application>LibreOffice/26.8.0.3$Windows_X86_64 LibreOffice_project/bce0998afefdbc355585ca324285661a2170ba77</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en-IN</dc:language>
  <cp:lastModifiedBy/>
  <dcterms:modified xsi:type="dcterms:W3CDTF">2026-09-16T23:51:36Z</dcterms:modified>
  <cp:revision>5</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